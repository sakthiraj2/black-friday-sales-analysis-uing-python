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1"/>
  </p:sldMasterIdLst>
  <p:sldIdLst>
    <p:sldId id="344" r:id="rId2"/>
    <p:sldId id="256" r:id="rId3"/>
    <p:sldId id="257" r:id="rId4"/>
    <p:sldId id="356" r:id="rId5"/>
    <p:sldId id="359" r:id="rId6"/>
    <p:sldId id="361" r:id="rId7"/>
    <p:sldId id="345" r:id="rId8"/>
    <p:sldId id="258" r:id="rId9"/>
    <p:sldId id="259" r:id="rId10"/>
    <p:sldId id="260" r:id="rId11"/>
    <p:sldId id="261" r:id="rId12"/>
    <p:sldId id="262" r:id="rId13"/>
    <p:sldId id="264" r:id="rId14"/>
    <p:sldId id="266" r:id="rId15"/>
    <p:sldId id="346" r:id="rId16"/>
    <p:sldId id="268" r:id="rId17"/>
    <p:sldId id="270" r:id="rId18"/>
    <p:sldId id="271" r:id="rId19"/>
    <p:sldId id="273" r:id="rId20"/>
    <p:sldId id="275" r:id="rId21"/>
    <p:sldId id="277" r:id="rId22"/>
    <p:sldId id="279" r:id="rId23"/>
    <p:sldId id="354" r:id="rId24"/>
    <p:sldId id="355" r:id="rId25"/>
    <p:sldId id="281" r:id="rId26"/>
    <p:sldId id="283" r:id="rId27"/>
    <p:sldId id="285" r:id="rId28"/>
    <p:sldId id="287" r:id="rId29"/>
    <p:sldId id="289" r:id="rId30"/>
    <p:sldId id="291" r:id="rId31"/>
    <p:sldId id="293" r:id="rId32"/>
    <p:sldId id="295" r:id="rId33"/>
    <p:sldId id="297" r:id="rId34"/>
    <p:sldId id="299" r:id="rId35"/>
    <p:sldId id="301" r:id="rId36"/>
    <p:sldId id="303" r:id="rId37"/>
    <p:sldId id="305" r:id="rId38"/>
    <p:sldId id="308" r:id="rId39"/>
    <p:sldId id="309" r:id="rId40"/>
    <p:sldId id="311" r:id="rId41"/>
    <p:sldId id="313" r:id="rId42"/>
    <p:sldId id="315" r:id="rId43"/>
    <p:sldId id="317" r:id="rId44"/>
    <p:sldId id="352" r:id="rId45"/>
    <p:sldId id="318" r:id="rId46"/>
    <p:sldId id="319" r:id="rId47"/>
    <p:sldId id="320" r:id="rId48"/>
    <p:sldId id="321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  <p:sldId id="332" r:id="rId59"/>
    <p:sldId id="333" r:id="rId60"/>
    <p:sldId id="334" r:id="rId61"/>
    <p:sldId id="335" r:id="rId62"/>
    <p:sldId id="336" r:id="rId63"/>
    <p:sldId id="337" r:id="rId64"/>
    <p:sldId id="338" r:id="rId65"/>
    <p:sldId id="353" r:id="rId66"/>
    <p:sldId id="339" r:id="rId67"/>
    <p:sldId id="341" r:id="rId68"/>
    <p:sldId id="342" r:id="rId69"/>
    <p:sldId id="347" r:id="rId70"/>
    <p:sldId id="348" r:id="rId71"/>
    <p:sldId id="357" r:id="rId72"/>
    <p:sldId id="349" r:id="rId73"/>
    <p:sldId id="350" r:id="rId74"/>
    <p:sldId id="351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51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5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24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6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44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2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70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7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8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28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ACB19F-CC1B-C613-F7BA-BE83B37C4C97}"/>
              </a:ext>
            </a:extLst>
          </p:cNvPr>
          <p:cNvSpPr txBox="1"/>
          <p:nvPr/>
        </p:nvSpPr>
        <p:spPr>
          <a:xfrm>
            <a:off x="3046997" y="2020922"/>
            <a:ext cx="6093994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900" dirty="0"/>
              <a:t>DATA  ANALYTICS  MAIN PROJECT USING PYTHON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B5958-8796-9CCD-E1A4-45880555A72D}"/>
              </a:ext>
            </a:extLst>
          </p:cNvPr>
          <p:cNvSpPr txBox="1"/>
          <p:nvPr/>
        </p:nvSpPr>
        <p:spPr>
          <a:xfrm>
            <a:off x="6509084" y="5438273"/>
            <a:ext cx="47043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Submitted by Sakthiraj R Nair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59983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3105" y="2959768"/>
            <a:ext cx="98257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/>
            </a:pPr>
            <a:r>
              <a:rPr sz="4000" dirty="0"/>
              <a:t>Black Friday Sales Analysis </a:t>
            </a:r>
            <a:endParaRPr lang="en-US" sz="4000" dirty="0"/>
          </a:p>
          <a:p>
            <a:pPr algn="ctr">
              <a:defRPr sz="3000" b="1"/>
            </a:pPr>
            <a:r>
              <a:rPr sz="4000" dirty="0"/>
              <a:t>Using Python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A15385-E67F-4641-7451-B6FAE2E2F9D9}"/>
              </a:ext>
            </a:extLst>
          </p:cNvPr>
          <p:cNvSpPr txBox="1"/>
          <p:nvPr/>
        </p:nvSpPr>
        <p:spPr>
          <a:xfrm>
            <a:off x="1217194" y="1266654"/>
            <a:ext cx="9757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Project Title:</a:t>
            </a:r>
            <a:endParaRPr lang="en-IN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39" y="457198"/>
            <a:ext cx="438430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endParaRPr lang="en-IN" sz="4000" dirty="0"/>
          </a:p>
          <a:p>
            <a:pPr>
              <a:defRPr sz="2600" b="1"/>
            </a:pPr>
            <a:endParaRPr lang="en-IN" sz="4000" dirty="0"/>
          </a:p>
          <a:p>
            <a:pPr>
              <a:defRPr sz="2600" b="1"/>
            </a:pPr>
            <a:br>
              <a:rPr lang="en-IN" sz="4000" dirty="0"/>
            </a:br>
            <a:r>
              <a:rPr lang="en-IN" sz="4000" dirty="0"/>
              <a:t> </a:t>
            </a:r>
            <a:r>
              <a:rPr lang="en-IN" sz="4000" b="1" dirty="0"/>
              <a:t>Project Scope: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B8777-7A12-593D-67B9-A8ADF09A9A09}"/>
              </a:ext>
            </a:extLst>
          </p:cNvPr>
          <p:cNvSpPr txBox="1"/>
          <p:nvPr/>
        </p:nvSpPr>
        <p:spPr>
          <a:xfrm>
            <a:off x="5654841" y="228601"/>
            <a:ext cx="598851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IN" sz="2400" dirty="0"/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IN" sz="2400" dirty="0"/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b="1" dirty="0">
                <a:cs typeface="Arial" panose="020B0604020202020204" pitchFamily="34" charset="0"/>
              </a:rPr>
              <a:t> 1. Data Loading and Initial Overview</a:t>
            </a: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US" sz="2400" b="1" dirty="0">
              <a:cs typeface="Arial" panose="020B0604020202020204" pitchFamily="34" charset="0"/>
            </a:endParaRP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IN" sz="2400" b="1" dirty="0">
              <a:cs typeface="Arial" panose="020B0604020202020204" pitchFamily="34" charset="0"/>
            </a:endParaRP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IN" sz="2400" b="1" dirty="0">
                <a:cs typeface="Arial" panose="020B0604020202020204" pitchFamily="34" charset="0"/>
              </a:rPr>
              <a:t> 2. Data Pre-processing</a:t>
            </a: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IN" sz="2400" b="1" dirty="0">
              <a:cs typeface="Arial" panose="020B0604020202020204" pitchFamily="34" charset="0"/>
            </a:endParaRP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IN" sz="2400" b="1" dirty="0">
              <a:cs typeface="Arial" panose="020B0604020202020204" pitchFamily="34" charset="0"/>
            </a:endParaRP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b="1" dirty="0">
                <a:cs typeface="Arial" panose="020B0604020202020204" pitchFamily="34" charset="0"/>
              </a:rPr>
              <a:t> 3. Exploratory Data Analysis (EDA)</a:t>
            </a: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US" sz="2400" b="1" dirty="0">
              <a:cs typeface="Arial" panose="020B0604020202020204" pitchFamily="34" charset="0"/>
            </a:endParaRP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IN" sz="2400" b="1" dirty="0">
              <a:cs typeface="Arial" panose="020B0604020202020204" pitchFamily="34" charset="0"/>
            </a:endParaRP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IN" sz="2400" b="1" dirty="0">
                <a:cs typeface="Arial" panose="020B0604020202020204" pitchFamily="34" charset="0"/>
              </a:rPr>
              <a:t> 4. Visualizations</a:t>
            </a: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IN" sz="2400" b="1" dirty="0">
              <a:cs typeface="Arial" panose="020B0604020202020204" pitchFamily="34" charset="0"/>
            </a:endParaRP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IN" sz="2400" b="1" dirty="0">
              <a:cs typeface="Arial" panose="020B0604020202020204" pitchFamily="34" charset="0"/>
            </a:endParaRP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b="1" dirty="0">
                <a:cs typeface="Arial" panose="020B0604020202020204" pitchFamily="34" charset="0"/>
              </a:rPr>
              <a:t>5. Insight Generation and Report</a:t>
            </a: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US" sz="2400" b="1" dirty="0">
              <a:cs typeface="Arial" panose="020B0604020202020204" pitchFamily="34" charset="0"/>
            </a:endParaRP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US" sz="2400" b="1" dirty="0">
              <a:cs typeface="Arial" panose="020B0604020202020204" pitchFamily="34" charset="0"/>
            </a:endParaRPr>
          </a:p>
          <a:p>
            <a:pPr marL="182880" indent="-182880">
              <a:buClr>
                <a:schemeClr val="accent1"/>
              </a:buClr>
              <a:buFont typeface="Wingdings 2" pitchFamily="18" charset="2"/>
              <a:buChar char=""/>
            </a:pPr>
            <a:endParaRPr lang="en-IN" sz="2400" b="1" dirty="0"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38817E-EBE3-0E34-A2DC-F91F5985634F}"/>
              </a:ext>
            </a:extLst>
          </p:cNvPr>
          <p:cNvSpPr/>
          <p:nvPr/>
        </p:nvSpPr>
        <p:spPr>
          <a:xfrm>
            <a:off x="5394960" y="802640"/>
            <a:ext cx="5988519" cy="53543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A53E71-575B-923A-2775-BFF2D2F06C53}"/>
              </a:ext>
            </a:extLst>
          </p:cNvPr>
          <p:cNvSpPr txBox="1"/>
          <p:nvPr/>
        </p:nvSpPr>
        <p:spPr>
          <a:xfrm>
            <a:off x="870855" y="1103360"/>
            <a:ext cx="9590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Project Domain : Sales and E-commerce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8216B-8177-CCFF-1F7B-074B5400F388}"/>
              </a:ext>
            </a:extLst>
          </p:cNvPr>
          <p:cNvSpPr txBox="1"/>
          <p:nvPr/>
        </p:nvSpPr>
        <p:spPr>
          <a:xfrm>
            <a:off x="870855" y="2576052"/>
            <a:ext cx="6218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Data Source : Kaggle</a:t>
            </a:r>
          </a:p>
        </p:txBody>
      </p:sp>
    </p:spTree>
    <p:extLst>
      <p:ext uri="{BB962C8B-B14F-4D97-AF65-F5344CB8AC3E}">
        <p14:creationId xmlns:p14="http://schemas.microsoft.com/office/powerpoint/2010/main" val="1678622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7A58A8-A8CD-EB20-EE27-6ADF88CEFEFF}"/>
              </a:ext>
            </a:extLst>
          </p:cNvPr>
          <p:cNvSpPr txBox="1"/>
          <p:nvPr/>
        </p:nvSpPr>
        <p:spPr>
          <a:xfrm>
            <a:off x="699062" y="1671087"/>
            <a:ext cx="1079387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is Black Friday Sales?  </a:t>
            </a:r>
          </a:p>
          <a:p>
            <a:endParaRPr lang="en-US" sz="2800" dirty="0"/>
          </a:p>
          <a:p>
            <a:r>
              <a:rPr lang="en-US" dirty="0"/>
              <a:t> Black Friday is a major shopping event that takes place every year, mainly in the United States,   on the Friday after </a:t>
            </a:r>
            <a:r>
              <a:rPr lang="en-US" dirty="0" err="1"/>
              <a:t>Thanksgiving.It</a:t>
            </a:r>
            <a:r>
              <a:rPr lang="en-US" dirty="0"/>
              <a:t> is known for large discounts, special offers, and increased   customer purchases. 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800" dirty="0"/>
              <a:t> What is a Black Friday Sales Dataset?   </a:t>
            </a:r>
          </a:p>
          <a:p>
            <a:endParaRPr lang="en-US" dirty="0"/>
          </a:p>
          <a:p>
            <a:r>
              <a:rPr lang="en-US" dirty="0"/>
              <a:t>A Black Friday sales dataset contains information about customers and the products they purchased   during a Black Friday shopping event.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02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B5823D-6A30-D017-FF4B-E4BBBAB060C5}"/>
              </a:ext>
            </a:extLst>
          </p:cNvPr>
          <p:cNvSpPr txBox="1"/>
          <p:nvPr/>
        </p:nvSpPr>
        <p:spPr>
          <a:xfrm>
            <a:off x="1469870" y="1310483"/>
            <a:ext cx="865735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Project Objective</a:t>
            </a:r>
          </a:p>
          <a:p>
            <a:endParaRPr lang="en-IN" dirty="0"/>
          </a:p>
          <a:p>
            <a:r>
              <a:rPr lang="en-IN" sz="2400" dirty="0"/>
              <a:t>The objective of this project is to analyze Black Friday sales data using Python.</a:t>
            </a:r>
          </a:p>
          <a:p>
            <a:endParaRPr lang="en-IN" sz="2400" dirty="0"/>
          </a:p>
          <a:p>
            <a:r>
              <a:rPr lang="en-IN" sz="2400" dirty="0"/>
              <a:t> The analysis focuses on customer purchasing </a:t>
            </a:r>
            <a:r>
              <a:rPr lang="en-IN" sz="2400" dirty="0" err="1"/>
              <a:t>behavior</a:t>
            </a:r>
            <a:r>
              <a:rPr lang="en-IN" sz="2400" dirty="0"/>
              <a:t>, product categories, demographic patterns, and sales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924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D83BA4-DC09-D666-46E9-04CFCA362A5E}"/>
              </a:ext>
            </a:extLst>
          </p:cNvPr>
          <p:cNvSpPr txBox="1"/>
          <p:nvPr/>
        </p:nvSpPr>
        <p:spPr>
          <a:xfrm>
            <a:off x="3087329" y="2477730"/>
            <a:ext cx="660342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4000" b="1" dirty="0">
                <a:cs typeface="Arial" panose="020B0604020202020204" pitchFamily="34" charset="0"/>
              </a:rPr>
              <a:t>I. Data Loading and Initial Overview</a:t>
            </a:r>
          </a:p>
        </p:txBody>
      </p:sp>
    </p:spTree>
    <p:extLst>
      <p:ext uri="{BB962C8B-B14F-4D97-AF65-F5344CB8AC3E}">
        <p14:creationId xmlns:p14="http://schemas.microsoft.com/office/powerpoint/2010/main" val="88960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2154" y="338328"/>
            <a:ext cx="5736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sz="2800" dirty="0"/>
              <a:t>Step 1: Importing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9406"/>
            <a:ext cx="55778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CODE</a:t>
            </a:r>
            <a:endParaRPr lang="en-US" sz="1200" dirty="0"/>
          </a:p>
          <a:p>
            <a:pPr>
              <a:defRPr sz="1200" b="1"/>
            </a:pPr>
            <a:endParaRPr sz="1200" dirty="0"/>
          </a:p>
          <a:p>
            <a:pPr>
              <a:defRPr sz="919">
                <a:latin typeface="Consolas"/>
              </a:defRPr>
            </a:pPr>
            <a:r>
              <a:rPr sz="1200" dirty="0"/>
              <a:t>import pandas as pd</a:t>
            </a:r>
            <a:br>
              <a:rPr sz="1200" dirty="0"/>
            </a:br>
            <a:r>
              <a:rPr sz="1200" dirty="0"/>
              <a:t>import </a:t>
            </a:r>
            <a:r>
              <a:rPr sz="1200" dirty="0" err="1"/>
              <a:t>numpy</a:t>
            </a:r>
            <a:r>
              <a:rPr sz="1200" dirty="0"/>
              <a:t> as np</a:t>
            </a:r>
            <a:br>
              <a:rPr sz="1200" dirty="0"/>
            </a:br>
            <a:r>
              <a:rPr sz="1200" dirty="0"/>
              <a:t>import </a:t>
            </a:r>
            <a:r>
              <a:rPr sz="1200" dirty="0" err="1"/>
              <a:t>matplotlib.pyplot</a:t>
            </a:r>
            <a:r>
              <a:rPr sz="1200" dirty="0"/>
              <a:t> as </a:t>
            </a:r>
            <a:r>
              <a:rPr sz="1200" dirty="0" err="1"/>
              <a:t>plt</a:t>
            </a:r>
            <a:br>
              <a:rPr sz="1200" dirty="0"/>
            </a:br>
            <a:r>
              <a:rPr sz="1200" dirty="0"/>
              <a:t>import seaborn as </a:t>
            </a:r>
            <a:r>
              <a:rPr sz="1200" dirty="0" err="1"/>
              <a:t>sns</a:t>
            </a:r>
            <a:br>
              <a:rPr sz="1200" dirty="0"/>
            </a:br>
            <a:br>
              <a:rPr sz="1200" dirty="0"/>
            </a:br>
            <a:r>
              <a:rPr sz="1200" dirty="0"/>
              <a:t>import warnings</a:t>
            </a:r>
            <a:br>
              <a:rPr sz="1200" dirty="0"/>
            </a:br>
            <a:r>
              <a:rPr sz="1200" dirty="0" err="1"/>
              <a:t>warnings.filterwarnings</a:t>
            </a:r>
            <a:r>
              <a:rPr sz="1200" dirty="0"/>
              <a:t>('ignore')</a:t>
            </a:r>
            <a:br>
              <a:rPr sz="1200" dirty="0"/>
            </a:br>
            <a:br>
              <a:rPr sz="1200" dirty="0"/>
            </a:br>
            <a:r>
              <a:rPr sz="1200" dirty="0"/>
              <a:t>print("Libraries imported successfully")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2988" y="1797553"/>
            <a:ext cx="5577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2000" dirty="0"/>
              <a:t>OUTPUT / RESULT</a:t>
            </a:r>
            <a:endParaRPr lang="en-IN" sz="2000" dirty="0"/>
          </a:p>
          <a:p>
            <a:pPr>
              <a:defRPr sz="1200" b="1"/>
            </a:pPr>
            <a:endParaRPr sz="2000" dirty="0"/>
          </a:p>
          <a:p>
            <a:pPr>
              <a:defRPr sz="830">
                <a:latin typeface="Consolas"/>
              </a:defRPr>
            </a:pPr>
            <a:r>
              <a:rPr sz="2000" dirty="0"/>
              <a:t>Libraries imported successfully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288" y="4574936"/>
            <a:ext cx="11201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2000" dirty="0"/>
              <a:t>The message confirms that pandas, NumPy, Matplotlib, and Seaborn were imported successfully.</a:t>
            </a:r>
            <a:endParaRPr lang="en-US" sz="2000" dirty="0"/>
          </a:p>
          <a:p>
            <a:pPr>
              <a:defRPr sz="1300" b="1"/>
            </a:pPr>
            <a:endParaRPr lang="en-IN" sz="2000" dirty="0"/>
          </a:p>
          <a:p>
            <a:pPr>
              <a:defRPr sz="1300" b="1"/>
            </a:pPr>
            <a:r>
              <a:rPr sz="2000" dirty="0"/>
              <a:t> Warnings were also configured to be hidden, so routine warning messages will not clutter the notebook.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6254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2000"/>
              <a:t>1/85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FB08D4-B570-D26B-2F39-A41815B7AF71}"/>
              </a:ext>
            </a:extLst>
          </p:cNvPr>
          <p:cNvSpPr/>
          <p:nvPr/>
        </p:nvSpPr>
        <p:spPr>
          <a:xfrm>
            <a:off x="5740400" y="2305384"/>
            <a:ext cx="5039360" cy="70788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06575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800" dirty="0"/>
              <a:t>Step 2: loading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515017"/>
            <a:ext cx="7858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20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2000" dirty="0" err="1"/>
              <a:t>df</a:t>
            </a:r>
            <a:r>
              <a:rPr sz="2000" dirty="0"/>
              <a:t> = </a:t>
            </a:r>
            <a:r>
              <a:rPr sz="2000" dirty="0" err="1"/>
              <a:t>pd.read_csv</a:t>
            </a:r>
            <a:r>
              <a:rPr sz="2000" dirty="0"/>
              <a:t>("Black-Friday-OriginalDataSet.csv")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0920" y="3003883"/>
            <a:ext cx="5577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20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2000" dirty="0"/>
              <a:t>No printed/table output is stored for this cell. A successful run without an exception is the expected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954922"/>
            <a:ext cx="115242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endParaRPr lang="en-US" sz="2000" dirty="0"/>
          </a:p>
          <a:p>
            <a:pPr>
              <a:defRPr sz="1600"/>
            </a:pPr>
            <a:r>
              <a:rPr sz="2000" dirty="0"/>
              <a:t>If the cell runs without an error, the CSV has been read successfully into the </a:t>
            </a:r>
            <a:r>
              <a:rPr sz="2000" dirty="0" err="1"/>
              <a:t>DataFrame</a:t>
            </a:r>
            <a:r>
              <a:rPr sz="2000" dirty="0"/>
              <a:t> named </a:t>
            </a:r>
            <a:r>
              <a:rPr sz="2000" dirty="0" err="1"/>
              <a:t>df</a:t>
            </a:r>
            <a:r>
              <a:rPr sz="2000" dirty="0"/>
              <a:t>.</a:t>
            </a:r>
            <a:endParaRPr lang="en-US" sz="2000" dirty="0"/>
          </a:p>
          <a:p>
            <a:pPr>
              <a:defRPr sz="1600"/>
            </a:pPr>
            <a:endParaRPr lang="en-IN" sz="2000" dirty="0"/>
          </a:p>
          <a:p>
            <a:pPr>
              <a:defRPr sz="1600"/>
            </a:pPr>
            <a:endParaRPr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64152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2000"/>
              <a:t>2/85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A334AC-E6E7-F50A-00AD-660EFF293964}"/>
              </a:ext>
            </a:extLst>
          </p:cNvPr>
          <p:cNvSpPr/>
          <p:nvPr/>
        </p:nvSpPr>
        <p:spPr>
          <a:xfrm>
            <a:off x="2092960" y="3333135"/>
            <a:ext cx="5765800" cy="117790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Step 3: Display First 5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1468120" cy="41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CODE</a:t>
            </a:r>
          </a:p>
          <a:p>
            <a:pPr>
              <a:defRPr sz="919">
                <a:latin typeface="Consolas"/>
              </a:defRPr>
            </a:pPr>
            <a:r>
              <a:t>df.head()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70960" y="742188"/>
            <a:ext cx="78943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200" dirty="0"/>
          </a:p>
          <a:p>
            <a:pPr>
              <a:defRPr sz="830">
                <a:latin typeface="Consolas"/>
              </a:defRPr>
            </a:pPr>
            <a:r>
              <a:rPr lang="en-IN" sz="1200" dirty="0"/>
              <a:t>   </a:t>
            </a:r>
            <a:r>
              <a:rPr sz="1200" dirty="0" err="1"/>
              <a:t>User_ID</a:t>
            </a:r>
            <a:r>
              <a:rPr sz="1200" dirty="0"/>
              <a:t> </a:t>
            </a:r>
            <a:r>
              <a:rPr lang="en-IN" sz="1200" dirty="0"/>
              <a:t> </a:t>
            </a:r>
            <a:r>
              <a:rPr sz="1200" dirty="0" err="1"/>
              <a:t>Product_ID</a:t>
            </a:r>
            <a:r>
              <a:rPr sz="1200" dirty="0"/>
              <a:t> </a:t>
            </a:r>
            <a:r>
              <a:rPr lang="en-IN" sz="1200" dirty="0"/>
              <a:t>  </a:t>
            </a:r>
            <a:r>
              <a:rPr sz="1200" dirty="0"/>
              <a:t>Gender  Age  </a:t>
            </a:r>
            <a:r>
              <a:rPr lang="en-IN" sz="1200" dirty="0"/>
              <a:t>		</a:t>
            </a:r>
            <a:r>
              <a:rPr sz="1200" dirty="0"/>
              <a:t>Occupation </a:t>
            </a:r>
            <a:r>
              <a:rPr lang="en-IN" sz="1200" dirty="0"/>
              <a:t>  </a:t>
            </a:r>
            <a:r>
              <a:rPr sz="1200" dirty="0" err="1"/>
              <a:t>City_Category</a:t>
            </a:r>
            <a:r>
              <a:rPr sz="1200" dirty="0"/>
              <a:t>  \</a:t>
            </a:r>
            <a:br>
              <a:rPr sz="1200" dirty="0"/>
            </a:br>
            <a:r>
              <a:rPr sz="1200" dirty="0"/>
              <a:t>0  1000001  P00069042      F  </a:t>
            </a:r>
            <a:r>
              <a:rPr lang="en-IN" sz="1200" dirty="0"/>
              <a:t>	</a:t>
            </a:r>
            <a:r>
              <a:rPr sz="1200" dirty="0"/>
              <a:t>0-17          10             A   </a:t>
            </a:r>
            <a:br>
              <a:rPr sz="1200" dirty="0"/>
            </a:br>
            <a:r>
              <a:rPr sz="1200" dirty="0"/>
              <a:t>1  1000001  P00248942      F  </a:t>
            </a:r>
            <a:r>
              <a:rPr lang="en-IN" sz="1200" dirty="0"/>
              <a:t>	</a:t>
            </a:r>
            <a:r>
              <a:rPr sz="1200" dirty="0"/>
              <a:t>0-17          10             A   </a:t>
            </a:r>
            <a:br>
              <a:rPr sz="1200" dirty="0"/>
            </a:br>
            <a:r>
              <a:rPr sz="1200" dirty="0"/>
              <a:t>2  1000001  P00087842      F  </a:t>
            </a:r>
            <a:r>
              <a:rPr lang="en-IN" sz="1200" dirty="0"/>
              <a:t>	</a:t>
            </a:r>
            <a:r>
              <a:rPr sz="1200" dirty="0"/>
              <a:t>0-17          10             A   </a:t>
            </a:r>
            <a:br>
              <a:rPr sz="1200" dirty="0"/>
            </a:br>
            <a:r>
              <a:rPr sz="1200" dirty="0"/>
              <a:t>3  1000001  P00085442      F  </a:t>
            </a:r>
            <a:r>
              <a:rPr lang="en-IN" sz="1200" dirty="0"/>
              <a:t>	</a:t>
            </a:r>
            <a:r>
              <a:rPr sz="1200" dirty="0"/>
              <a:t>0-17          10             A   </a:t>
            </a:r>
            <a:br>
              <a:rPr sz="1200" dirty="0"/>
            </a:br>
            <a:r>
              <a:rPr sz="1200" dirty="0"/>
              <a:t>4  1000002  P00285442      M   </a:t>
            </a:r>
            <a:r>
              <a:rPr lang="en-IN" sz="1200" dirty="0"/>
              <a:t>	</a:t>
            </a:r>
            <a:r>
              <a:rPr sz="1200" dirty="0"/>
              <a:t>55+          16             </a:t>
            </a:r>
            <a:r>
              <a:rPr lang="en-IN" sz="1200" dirty="0"/>
              <a:t> </a:t>
            </a:r>
            <a:r>
              <a:rPr sz="1200" dirty="0"/>
              <a:t>C   </a:t>
            </a:r>
            <a:br>
              <a:rPr sz="1200" dirty="0"/>
            </a:br>
            <a:br>
              <a:rPr sz="1200" dirty="0"/>
            </a:br>
            <a:r>
              <a:rPr sz="1200" dirty="0"/>
              <a:t>  </a:t>
            </a:r>
            <a:r>
              <a:rPr lang="en-IN" sz="1200" dirty="0"/>
              <a:t>		</a:t>
            </a:r>
            <a:r>
              <a:rPr sz="1200" dirty="0" err="1"/>
              <a:t>Stay_In_Current_City_Years</a:t>
            </a:r>
            <a:r>
              <a:rPr sz="1200" dirty="0"/>
              <a:t>  </a:t>
            </a:r>
            <a:r>
              <a:rPr sz="1200" dirty="0" err="1"/>
              <a:t>Marital_Status</a:t>
            </a:r>
            <a:r>
              <a:rPr sz="1200" dirty="0"/>
              <a:t>  Product_Category_1  \</a:t>
            </a:r>
            <a:br>
              <a:rPr sz="1200" dirty="0"/>
            </a:br>
            <a:r>
              <a:rPr sz="1200" dirty="0"/>
              <a:t>0                          2               0                   3   </a:t>
            </a:r>
            <a:br>
              <a:rPr sz="1200" dirty="0"/>
            </a:br>
            <a:r>
              <a:rPr sz="1200" dirty="0"/>
              <a:t>1                          2               0                   1   </a:t>
            </a:r>
            <a:br>
              <a:rPr sz="1200" dirty="0"/>
            </a:br>
            <a:r>
              <a:rPr sz="1200" dirty="0"/>
              <a:t>2                          2               0                  12   </a:t>
            </a:r>
            <a:br>
              <a:rPr sz="1200" dirty="0"/>
            </a:br>
            <a:r>
              <a:rPr sz="1200" dirty="0"/>
              <a:t>3                          2               0                  12   </a:t>
            </a:r>
            <a:br>
              <a:rPr sz="1200" dirty="0"/>
            </a:br>
            <a:r>
              <a:rPr sz="1200" dirty="0"/>
              <a:t>4                         4+               0                   8   </a:t>
            </a:r>
            <a:br>
              <a:rPr sz="1200" dirty="0"/>
            </a:br>
            <a:br>
              <a:rPr sz="1200" dirty="0"/>
            </a:br>
            <a:r>
              <a:rPr sz="1200" dirty="0"/>
              <a:t>   </a:t>
            </a:r>
            <a:r>
              <a:rPr lang="en-IN" sz="1200" dirty="0"/>
              <a:t>		</a:t>
            </a:r>
            <a:r>
              <a:rPr sz="1200" dirty="0"/>
              <a:t>Product_Category_2  Product_Category_3  </a:t>
            </a:r>
            <a:r>
              <a:rPr lang="en-IN" sz="1200" dirty="0"/>
              <a:t>	</a:t>
            </a:r>
            <a:r>
              <a:rPr sz="1200" dirty="0"/>
              <a:t>Purchase  </a:t>
            </a:r>
            <a:br>
              <a:rPr sz="1200" dirty="0"/>
            </a:br>
            <a:r>
              <a:rPr sz="1200" dirty="0"/>
              <a:t>0                 </a:t>
            </a:r>
            <a:r>
              <a:rPr sz="1200" dirty="0" err="1"/>
              <a:t>NaN</a:t>
            </a:r>
            <a:r>
              <a:rPr sz="1200" dirty="0"/>
              <a:t>                 </a:t>
            </a:r>
            <a:r>
              <a:rPr sz="1200" dirty="0" err="1"/>
              <a:t>NaN</a:t>
            </a:r>
            <a:r>
              <a:rPr sz="1200" dirty="0"/>
              <a:t>      </a:t>
            </a:r>
            <a:r>
              <a:rPr lang="en-IN" sz="1200" dirty="0"/>
              <a:t>		  </a:t>
            </a:r>
            <a:r>
              <a:rPr sz="1200" dirty="0"/>
              <a:t>8370  </a:t>
            </a:r>
            <a:br>
              <a:rPr sz="1200" dirty="0"/>
            </a:br>
            <a:r>
              <a:rPr sz="1200" dirty="0"/>
              <a:t>1                 6.0                14.0     </a:t>
            </a:r>
            <a:r>
              <a:rPr lang="en-IN" sz="1200" dirty="0"/>
              <a:t>		  </a:t>
            </a:r>
            <a:r>
              <a:rPr sz="1200" dirty="0"/>
              <a:t>15200  </a:t>
            </a:r>
            <a:br>
              <a:rPr sz="1200" dirty="0"/>
            </a:br>
            <a:r>
              <a:rPr sz="1200" dirty="0"/>
              <a:t>2                 </a:t>
            </a:r>
            <a:r>
              <a:rPr sz="1200" dirty="0" err="1"/>
              <a:t>NaN</a:t>
            </a:r>
            <a:r>
              <a:rPr sz="1200" dirty="0"/>
              <a:t>                 </a:t>
            </a:r>
            <a:r>
              <a:rPr sz="1200" dirty="0" err="1"/>
              <a:t>NaN</a:t>
            </a:r>
            <a:r>
              <a:rPr sz="1200" dirty="0"/>
              <a:t>      </a:t>
            </a:r>
            <a:r>
              <a:rPr lang="en-IN" sz="1200" dirty="0"/>
              <a:t>		  </a:t>
            </a:r>
            <a:r>
              <a:rPr sz="1200" dirty="0"/>
              <a:t>1422  </a:t>
            </a:r>
            <a:br>
              <a:rPr sz="1200" dirty="0"/>
            </a:br>
            <a:r>
              <a:rPr sz="1200" dirty="0"/>
              <a:t>3                14.0                 </a:t>
            </a:r>
            <a:r>
              <a:rPr sz="1200" dirty="0" err="1"/>
              <a:t>NaN</a:t>
            </a:r>
            <a:r>
              <a:rPr sz="1200" dirty="0"/>
              <a:t>      </a:t>
            </a:r>
            <a:r>
              <a:rPr lang="en-IN" sz="1200" dirty="0"/>
              <a:t>	  	  </a:t>
            </a:r>
            <a:r>
              <a:rPr sz="1200" dirty="0"/>
              <a:t>1057  </a:t>
            </a:r>
            <a:br>
              <a:rPr sz="1200" dirty="0"/>
            </a:br>
            <a:r>
              <a:rPr sz="1200" dirty="0"/>
              <a:t>4                 </a:t>
            </a:r>
            <a:r>
              <a:rPr sz="1200" dirty="0" err="1"/>
              <a:t>NaN</a:t>
            </a:r>
            <a:r>
              <a:rPr sz="1200" dirty="0"/>
              <a:t>                 </a:t>
            </a:r>
            <a:r>
              <a:rPr sz="1200" dirty="0" err="1"/>
              <a:t>NaN</a:t>
            </a:r>
            <a:r>
              <a:rPr sz="1200" dirty="0"/>
              <a:t>      </a:t>
            </a:r>
            <a:r>
              <a:rPr lang="en-IN" sz="1200" dirty="0"/>
              <a:t>		  </a:t>
            </a:r>
            <a:r>
              <a:rPr sz="1200" dirty="0"/>
              <a:t>7969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680" y="4851400"/>
            <a:ext cx="114706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INTERPRETATION</a:t>
            </a:r>
          </a:p>
          <a:p>
            <a:pPr>
              <a:defRPr sz="1600"/>
            </a:pPr>
            <a:r>
              <a:rPr dirty="0"/>
              <a:t>The first five records are displayed. This confirms the dataset structure and shows examples of customer, product, demographic, category, and Purchase fields. </a:t>
            </a:r>
            <a:r>
              <a:rPr dirty="0" err="1"/>
              <a:t>NaN</a:t>
            </a:r>
            <a:r>
              <a:rPr dirty="0"/>
              <a:t> values are visible in Product_Category_2 and Product_Category_3, indicating missing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3/85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D7B269-20D3-BCEC-7D1F-1806E4D8BF7B}"/>
              </a:ext>
            </a:extLst>
          </p:cNvPr>
          <p:cNvSpPr/>
          <p:nvPr/>
        </p:nvSpPr>
        <p:spPr>
          <a:xfrm>
            <a:off x="3677920" y="1091964"/>
            <a:ext cx="7010400" cy="392716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Step 4: Display Last 5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1905000" cy="41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CODE</a:t>
            </a:r>
          </a:p>
          <a:p>
            <a:pPr>
              <a:defRPr sz="919">
                <a:latin typeface="Consolas"/>
              </a:defRPr>
            </a:pPr>
            <a:r>
              <a:t>df.tail()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90824" y="388098"/>
            <a:ext cx="882297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endParaRPr lang="en-IN" sz="1050" dirty="0"/>
          </a:p>
          <a:p>
            <a:pPr>
              <a:defRPr sz="1200" b="1"/>
            </a:pPr>
            <a:endParaRPr lang="en-IN" sz="1050" dirty="0"/>
          </a:p>
          <a:p>
            <a:pPr>
              <a:defRPr sz="1200" b="1"/>
            </a:pPr>
            <a:endParaRPr lang="en-IN" sz="1050" dirty="0"/>
          </a:p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050" dirty="0"/>
          </a:p>
          <a:p>
            <a:pPr>
              <a:defRPr sz="830">
                <a:latin typeface="Consolas"/>
              </a:defRPr>
            </a:pPr>
            <a:r>
              <a:rPr sz="1050" dirty="0" err="1"/>
              <a:t>User_ID</a:t>
            </a:r>
            <a:r>
              <a:rPr sz="1050" dirty="0"/>
              <a:t> </a:t>
            </a:r>
            <a:r>
              <a:rPr lang="en-IN" sz="1050" dirty="0"/>
              <a:t>	</a:t>
            </a:r>
            <a:r>
              <a:rPr sz="1050" dirty="0"/>
              <a:t>Product_</a:t>
            </a:r>
            <a:r>
              <a:rPr lang="en-IN" sz="1050" dirty="0"/>
              <a:t> </a:t>
            </a:r>
            <a:r>
              <a:rPr sz="1050" dirty="0"/>
              <a:t>ID </a:t>
            </a:r>
            <a:r>
              <a:rPr lang="en-IN" sz="1050" dirty="0"/>
              <a:t>		</a:t>
            </a:r>
            <a:r>
              <a:rPr sz="1050" dirty="0"/>
              <a:t>Gender    </a:t>
            </a:r>
            <a:r>
              <a:rPr lang="en-IN" sz="1050" dirty="0"/>
              <a:t>	</a:t>
            </a:r>
            <a:r>
              <a:rPr sz="1050" dirty="0"/>
              <a:t>Age  </a:t>
            </a:r>
            <a:r>
              <a:rPr lang="en-IN" sz="1050" dirty="0"/>
              <a:t>		</a:t>
            </a:r>
            <a:r>
              <a:rPr sz="1050" dirty="0"/>
              <a:t>Occupation </a:t>
            </a:r>
            <a:r>
              <a:rPr lang="en-IN" sz="1050" dirty="0"/>
              <a:t>	</a:t>
            </a:r>
            <a:r>
              <a:rPr sz="1050" dirty="0" err="1"/>
              <a:t>City_Category</a:t>
            </a:r>
            <a:r>
              <a:rPr sz="1050" dirty="0"/>
              <a:t>  \</a:t>
            </a:r>
            <a:br>
              <a:rPr sz="1050" dirty="0"/>
            </a:br>
            <a:r>
              <a:rPr sz="1050" dirty="0"/>
              <a:t>550063  1006033  P00372445      M  </a:t>
            </a:r>
            <a:r>
              <a:rPr lang="en-IN" sz="1050" dirty="0"/>
              <a:t>		</a:t>
            </a:r>
            <a:r>
              <a:rPr sz="1050" dirty="0"/>
              <a:t>51-55          13             B   </a:t>
            </a:r>
            <a:br>
              <a:rPr sz="1050" dirty="0"/>
            </a:br>
            <a:r>
              <a:rPr sz="1050" dirty="0"/>
              <a:t>550064  1006035  P00375436      F  </a:t>
            </a:r>
            <a:r>
              <a:rPr lang="en-IN" sz="1050" dirty="0"/>
              <a:t>		</a:t>
            </a:r>
            <a:r>
              <a:rPr sz="1050" dirty="0"/>
              <a:t>26-35           1             C   </a:t>
            </a:r>
            <a:br>
              <a:rPr sz="1050" dirty="0"/>
            </a:br>
            <a:r>
              <a:rPr sz="1050" dirty="0"/>
              <a:t>550065  1006036  P00375436      F  </a:t>
            </a:r>
            <a:r>
              <a:rPr lang="en-IN" sz="1050" dirty="0"/>
              <a:t>		</a:t>
            </a:r>
            <a:r>
              <a:rPr sz="1050" dirty="0"/>
              <a:t>26-35          15             B   </a:t>
            </a:r>
            <a:br>
              <a:rPr sz="1050" dirty="0"/>
            </a:br>
            <a:r>
              <a:rPr sz="1050" dirty="0"/>
              <a:t>550066  1006038  P00375436      F    </a:t>
            </a:r>
            <a:r>
              <a:rPr lang="en-IN" sz="1050" dirty="0"/>
              <a:t>		</a:t>
            </a:r>
            <a:r>
              <a:rPr sz="1050" dirty="0"/>
              <a:t>55+          </a:t>
            </a:r>
            <a:r>
              <a:rPr lang="en-IN" sz="1050" dirty="0"/>
              <a:t>  </a:t>
            </a:r>
            <a:r>
              <a:rPr sz="1050" dirty="0"/>
              <a:t> 1             C   </a:t>
            </a:r>
            <a:br>
              <a:rPr sz="1050" dirty="0"/>
            </a:br>
            <a:r>
              <a:rPr sz="1050" dirty="0"/>
              <a:t>550067  1006039  P00371644      F  </a:t>
            </a:r>
            <a:r>
              <a:rPr lang="en-IN" sz="1050" dirty="0"/>
              <a:t>		</a:t>
            </a:r>
            <a:r>
              <a:rPr sz="1050" dirty="0"/>
              <a:t>46-50           0             B   </a:t>
            </a:r>
            <a:endParaRPr lang="en-IN" sz="1050" dirty="0"/>
          </a:p>
          <a:p>
            <a:pPr>
              <a:defRPr sz="830">
                <a:latin typeface="Consolas"/>
              </a:defRPr>
            </a:pPr>
            <a:br>
              <a:rPr sz="1050" dirty="0"/>
            </a:br>
            <a:br>
              <a:rPr sz="1050" dirty="0"/>
            </a:br>
            <a:r>
              <a:rPr sz="1050" dirty="0"/>
              <a:t>       </a:t>
            </a:r>
            <a:r>
              <a:rPr lang="en-IN" sz="1050" dirty="0"/>
              <a:t>	</a:t>
            </a:r>
            <a:r>
              <a:rPr sz="1050" dirty="0" err="1"/>
              <a:t>Stay_In_Current_City_Years</a:t>
            </a:r>
            <a:r>
              <a:rPr sz="1050" dirty="0"/>
              <a:t>  </a:t>
            </a:r>
            <a:r>
              <a:rPr sz="1050" dirty="0" err="1"/>
              <a:t>Marital_Status</a:t>
            </a:r>
            <a:r>
              <a:rPr sz="1050" dirty="0"/>
              <a:t>  </a:t>
            </a:r>
            <a:r>
              <a:rPr lang="en-IN" sz="1050" dirty="0"/>
              <a:t>	</a:t>
            </a:r>
            <a:r>
              <a:rPr sz="1050" dirty="0"/>
              <a:t>Product_Category_1  \</a:t>
            </a:r>
            <a:br>
              <a:rPr sz="1050" dirty="0"/>
            </a:br>
            <a:r>
              <a:rPr sz="1050" dirty="0"/>
              <a:t>550063                          1               1                  20   </a:t>
            </a:r>
            <a:br>
              <a:rPr sz="1050" dirty="0"/>
            </a:br>
            <a:r>
              <a:rPr sz="1050" dirty="0"/>
              <a:t>550064                          3               0                  20   </a:t>
            </a:r>
            <a:br>
              <a:rPr sz="1050" dirty="0"/>
            </a:br>
            <a:r>
              <a:rPr sz="1050" dirty="0"/>
              <a:t>550065                         4+               1                  20   </a:t>
            </a:r>
            <a:br>
              <a:rPr sz="1050" dirty="0"/>
            </a:br>
            <a:r>
              <a:rPr sz="1050" dirty="0"/>
              <a:t>550066                          2               0                  20   </a:t>
            </a:r>
            <a:br>
              <a:rPr sz="1050" dirty="0"/>
            </a:br>
            <a:r>
              <a:rPr sz="1050" dirty="0"/>
              <a:t>550067                         4+               1                  20   </a:t>
            </a:r>
            <a:br>
              <a:rPr sz="1050" dirty="0"/>
            </a:br>
            <a:br>
              <a:rPr sz="1050" dirty="0"/>
            </a:br>
            <a:r>
              <a:rPr sz="1050" dirty="0"/>
              <a:t>        </a:t>
            </a:r>
            <a:r>
              <a:rPr lang="en-IN" sz="1050" dirty="0"/>
              <a:t>	</a:t>
            </a:r>
            <a:r>
              <a:rPr sz="1050" dirty="0"/>
              <a:t>Product_Category_2  Product_Category_3  Purchase  </a:t>
            </a:r>
            <a:br>
              <a:rPr sz="1050" dirty="0"/>
            </a:br>
            <a:r>
              <a:rPr sz="1050" dirty="0"/>
              <a:t>550063                 </a:t>
            </a:r>
            <a:r>
              <a:rPr sz="1050" dirty="0" err="1"/>
              <a:t>NaN</a:t>
            </a:r>
            <a:r>
              <a:rPr sz="1050" dirty="0"/>
              <a:t>                 </a:t>
            </a:r>
            <a:r>
              <a:rPr sz="1050" dirty="0" err="1"/>
              <a:t>NaN</a:t>
            </a:r>
            <a:r>
              <a:rPr sz="1050" dirty="0"/>
              <a:t>       368  </a:t>
            </a:r>
            <a:br>
              <a:rPr sz="1050" dirty="0"/>
            </a:br>
            <a:r>
              <a:rPr sz="1050" dirty="0"/>
              <a:t>550064                 </a:t>
            </a:r>
            <a:r>
              <a:rPr sz="1050" dirty="0" err="1"/>
              <a:t>NaN</a:t>
            </a:r>
            <a:r>
              <a:rPr sz="1050" dirty="0"/>
              <a:t>                 </a:t>
            </a:r>
            <a:r>
              <a:rPr sz="1050" dirty="0" err="1"/>
              <a:t>NaN</a:t>
            </a:r>
            <a:r>
              <a:rPr sz="1050" dirty="0"/>
              <a:t>       371  </a:t>
            </a:r>
            <a:br>
              <a:rPr sz="1050" dirty="0"/>
            </a:br>
            <a:r>
              <a:rPr sz="1050" dirty="0"/>
              <a:t>550065                 </a:t>
            </a:r>
            <a:r>
              <a:rPr sz="1050" dirty="0" err="1"/>
              <a:t>NaN</a:t>
            </a:r>
            <a:r>
              <a:rPr sz="1050" dirty="0"/>
              <a:t>                 </a:t>
            </a:r>
            <a:r>
              <a:rPr sz="1050" dirty="0" err="1"/>
              <a:t>NaN</a:t>
            </a:r>
            <a:r>
              <a:rPr sz="1050" dirty="0"/>
              <a:t>       137  </a:t>
            </a:r>
            <a:br>
              <a:rPr sz="1050" dirty="0"/>
            </a:br>
            <a:r>
              <a:rPr sz="1050" dirty="0"/>
              <a:t>550066                 </a:t>
            </a:r>
            <a:r>
              <a:rPr sz="1050" dirty="0" err="1"/>
              <a:t>NaN</a:t>
            </a:r>
            <a:r>
              <a:rPr sz="1050" dirty="0"/>
              <a:t>                 </a:t>
            </a:r>
            <a:r>
              <a:rPr sz="1050" dirty="0" err="1"/>
              <a:t>NaN</a:t>
            </a:r>
            <a:r>
              <a:rPr sz="1050" dirty="0"/>
              <a:t>       365  </a:t>
            </a:r>
            <a:br>
              <a:rPr sz="1050" dirty="0"/>
            </a:br>
            <a:r>
              <a:rPr sz="1050" dirty="0"/>
              <a:t>550067                 </a:t>
            </a:r>
            <a:r>
              <a:rPr sz="1050" dirty="0" err="1"/>
              <a:t>NaN</a:t>
            </a:r>
            <a:r>
              <a:rPr sz="1050" dirty="0"/>
              <a:t>                 </a:t>
            </a:r>
            <a:r>
              <a:rPr sz="1050" dirty="0" err="1"/>
              <a:t>NaN</a:t>
            </a:r>
            <a:r>
              <a:rPr sz="1050" dirty="0"/>
              <a:t>       490</a:t>
            </a:r>
            <a:endParaRPr lang="en-IN" sz="1050" dirty="0"/>
          </a:p>
          <a:p>
            <a:pPr>
              <a:defRPr sz="830">
                <a:latin typeface="Consolas"/>
              </a:defRPr>
            </a:pPr>
            <a:endParaRPr lang="en-IN" sz="1050" dirty="0"/>
          </a:p>
          <a:p>
            <a:pPr>
              <a:defRPr sz="830">
                <a:latin typeface="Consolas"/>
              </a:defRPr>
            </a:pPr>
            <a:endParaRPr lang="en-IN" sz="1050" dirty="0"/>
          </a:p>
          <a:p>
            <a:pPr>
              <a:defRPr sz="830">
                <a:latin typeface="Consolas"/>
              </a:defRPr>
            </a:pPr>
            <a:endParaRPr lang="en-IN" sz="1050" dirty="0"/>
          </a:p>
          <a:p>
            <a:pPr>
              <a:defRPr sz="830">
                <a:latin typeface="Consolas"/>
              </a:defRPr>
            </a:pPr>
            <a:endParaRPr lang="en-IN" sz="1050" dirty="0"/>
          </a:p>
          <a:p>
            <a:pPr>
              <a:defRPr sz="830">
                <a:latin typeface="Consolas"/>
              </a:defRPr>
            </a:pPr>
            <a:endParaRPr lang="en-IN" sz="1050" dirty="0"/>
          </a:p>
          <a:p>
            <a:pPr>
              <a:defRPr sz="830">
                <a:latin typeface="Consolas"/>
              </a:defRPr>
            </a:pPr>
            <a:endParaRPr sz="1050" dirty="0"/>
          </a:p>
        </p:txBody>
      </p:sp>
      <p:sp>
        <p:nvSpPr>
          <p:cNvPr id="5" name="TextBox 4"/>
          <p:cNvSpPr txBox="1"/>
          <p:nvPr/>
        </p:nvSpPr>
        <p:spPr>
          <a:xfrm>
            <a:off x="480060" y="5057648"/>
            <a:ext cx="112014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last five records are displayed. This checks the end of the loaded dataset and confirms that the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contains records through index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550067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4/85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61E890-2608-43E0-611F-6B98495C1A1C}"/>
              </a:ext>
            </a:extLst>
          </p:cNvPr>
          <p:cNvSpPr/>
          <p:nvPr/>
        </p:nvSpPr>
        <p:spPr>
          <a:xfrm>
            <a:off x="3332480" y="1206923"/>
            <a:ext cx="7447280" cy="3659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617" y="239866"/>
            <a:ext cx="517324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5: Find Number of Rows and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332477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5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050" dirty="0"/>
              <a:t>print("Number of Rows:", </a:t>
            </a:r>
            <a:r>
              <a:rPr sz="1050" dirty="0" err="1"/>
              <a:t>df.shape</a:t>
            </a:r>
            <a:r>
              <a:rPr sz="1050" dirty="0"/>
              <a:t>[0])</a:t>
            </a:r>
            <a:br>
              <a:rPr sz="1050" dirty="0"/>
            </a:br>
            <a:r>
              <a:rPr sz="1050" dirty="0"/>
              <a:t>print("Number of Columns:", </a:t>
            </a:r>
            <a:r>
              <a:rPr sz="1050" dirty="0" err="1"/>
              <a:t>df.shape</a:t>
            </a:r>
            <a:r>
              <a:rPr sz="1050" dirty="0"/>
              <a:t>[1])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5940" y="2036177"/>
            <a:ext cx="308978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/>
              <a:t>OUTPUT / RESULT</a:t>
            </a:r>
            <a:endParaRPr lang="en-IN" sz="1600" dirty="0"/>
          </a:p>
          <a:p>
            <a:pPr>
              <a:defRPr sz="1200" b="1"/>
            </a:pPr>
            <a:endParaRPr sz="1600" dirty="0"/>
          </a:p>
          <a:p>
            <a:pPr>
              <a:defRPr sz="830">
                <a:latin typeface="Consolas"/>
              </a:defRPr>
            </a:pPr>
            <a:r>
              <a:rPr sz="1600" dirty="0"/>
              <a:t>Number of Rows: 550068</a:t>
            </a:r>
            <a:br>
              <a:rPr sz="1600" dirty="0"/>
            </a:br>
            <a:r>
              <a:rPr sz="1600" dirty="0"/>
              <a:t>Number of Columns: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617" y="3548664"/>
            <a:ext cx="517324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dataset contains 550,068 rows and 12 columns. In other words, the original dataset has 550,068 transaction records and 12 variables.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B974AF-2723-A1D5-4DD0-B78CE7451C6A}"/>
              </a:ext>
            </a:extLst>
          </p:cNvPr>
          <p:cNvCxnSpPr/>
          <p:nvPr/>
        </p:nvCxnSpPr>
        <p:spPr>
          <a:xfrm>
            <a:off x="5948516" y="117987"/>
            <a:ext cx="0" cy="6740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7F762AB-610D-3E53-163A-3091A53F017C}"/>
              </a:ext>
            </a:extLst>
          </p:cNvPr>
          <p:cNvSpPr txBox="1"/>
          <p:nvPr/>
        </p:nvSpPr>
        <p:spPr>
          <a:xfrm>
            <a:off x="6324600" y="261643"/>
            <a:ext cx="506459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6: Display All Column Names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EEEF2-16AD-1F78-9F4F-E93D1931A1FE}"/>
              </a:ext>
            </a:extLst>
          </p:cNvPr>
          <p:cNvSpPr txBox="1"/>
          <p:nvPr/>
        </p:nvSpPr>
        <p:spPr>
          <a:xfrm>
            <a:off x="6355080" y="733432"/>
            <a:ext cx="32053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5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050" dirty="0"/>
              <a:t>print("Columns in the dataset:")</a:t>
            </a:r>
            <a:br>
              <a:rPr sz="1050" dirty="0"/>
            </a:br>
            <a:r>
              <a:rPr sz="1050" dirty="0"/>
              <a:t>for column in </a:t>
            </a:r>
            <a:r>
              <a:rPr sz="1050" dirty="0" err="1"/>
              <a:t>df.columns</a:t>
            </a:r>
            <a:r>
              <a:rPr sz="1050" dirty="0"/>
              <a:t>:</a:t>
            </a:r>
            <a:br>
              <a:rPr sz="1050" dirty="0"/>
            </a:br>
            <a:r>
              <a:rPr sz="1050" dirty="0"/>
              <a:t>    print(column)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ED120B-37FA-9C00-5940-A32F906BFE06}"/>
              </a:ext>
            </a:extLst>
          </p:cNvPr>
          <p:cNvSpPr txBox="1"/>
          <p:nvPr/>
        </p:nvSpPr>
        <p:spPr>
          <a:xfrm>
            <a:off x="7513485" y="1511380"/>
            <a:ext cx="37234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200" dirty="0"/>
          </a:p>
          <a:p>
            <a:pPr>
              <a:defRPr sz="830">
                <a:latin typeface="Consolas"/>
              </a:defRPr>
            </a:pPr>
            <a:r>
              <a:rPr lang="en-IN" sz="1200" dirty="0"/>
              <a:t>   </a:t>
            </a:r>
            <a:r>
              <a:rPr sz="1200" dirty="0"/>
              <a:t>Columns in the dataset: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 err="1"/>
              <a:t>User_ID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 err="1"/>
              <a:t>Product_ID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Gender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Age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Occupation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 err="1"/>
              <a:t>City_Category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 err="1"/>
              <a:t>Stay_In_Current_City_Years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 err="1"/>
              <a:t>Marital_Status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Product_Category_1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Product_Category_2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Product_Category_3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Purchase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50C45D-ED74-1694-56B4-EF061C9F53AF}"/>
              </a:ext>
            </a:extLst>
          </p:cNvPr>
          <p:cNvSpPr txBox="1"/>
          <p:nvPr/>
        </p:nvSpPr>
        <p:spPr>
          <a:xfrm>
            <a:off x="6355079" y="4412986"/>
            <a:ext cx="5593067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output lists all 12 column names: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User_ID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Product_ID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Gender, Age, Occupation,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City_Category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Stay_In_Current_City_Years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Marital_Status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Product_Category_1, Product_Category_2, Product_Category_3, and Purchase.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F1C1B1-120C-E68A-27C1-E2856EAA3329}"/>
              </a:ext>
            </a:extLst>
          </p:cNvPr>
          <p:cNvSpPr/>
          <p:nvPr/>
        </p:nvSpPr>
        <p:spPr>
          <a:xfrm>
            <a:off x="213196" y="2438400"/>
            <a:ext cx="3202529" cy="9906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8A64EA-7681-A529-8FDD-27C2A1783E8A}"/>
              </a:ext>
            </a:extLst>
          </p:cNvPr>
          <p:cNvSpPr/>
          <p:nvPr/>
        </p:nvSpPr>
        <p:spPr>
          <a:xfrm>
            <a:off x="7289882" y="1887795"/>
            <a:ext cx="3723460" cy="252519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351159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7: Check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6"/>
            <a:ext cx="16814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5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050" dirty="0" err="1"/>
              <a:t>df.dtypes</a:t>
            </a:r>
            <a:endParaRPr sz="1050" dirty="0"/>
          </a:p>
        </p:txBody>
      </p:sp>
      <p:sp>
        <p:nvSpPr>
          <p:cNvPr id="4" name="TextBox 3"/>
          <p:cNvSpPr txBox="1"/>
          <p:nvPr/>
        </p:nvSpPr>
        <p:spPr>
          <a:xfrm>
            <a:off x="420820" y="1372190"/>
            <a:ext cx="349291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100" dirty="0"/>
              <a:t>OUTPUT / RESULT</a:t>
            </a:r>
            <a:endParaRPr lang="en-IN" sz="1100" dirty="0"/>
          </a:p>
          <a:p>
            <a:pPr>
              <a:defRPr sz="1200" b="1"/>
            </a:pPr>
            <a:endParaRPr sz="1100" dirty="0"/>
          </a:p>
          <a:p>
            <a:pPr>
              <a:defRPr sz="830">
                <a:latin typeface="Consolas"/>
              </a:defRPr>
            </a:pPr>
            <a:r>
              <a:rPr sz="1100" dirty="0" err="1"/>
              <a:t>User_ID</a:t>
            </a:r>
            <a:r>
              <a:rPr sz="1100" dirty="0"/>
              <a:t>                         int64</a:t>
            </a:r>
            <a:br>
              <a:rPr sz="1100" dirty="0"/>
            </a:br>
            <a:r>
              <a:rPr sz="1100" dirty="0" err="1"/>
              <a:t>Product_ID</a:t>
            </a:r>
            <a:r>
              <a:rPr sz="1100" dirty="0"/>
              <a:t>                     object</a:t>
            </a:r>
            <a:br>
              <a:rPr sz="1100" dirty="0"/>
            </a:br>
            <a:r>
              <a:rPr sz="1100" dirty="0"/>
              <a:t>Gender                         object</a:t>
            </a:r>
            <a:br>
              <a:rPr sz="1100" dirty="0"/>
            </a:br>
            <a:r>
              <a:rPr sz="1100" dirty="0"/>
              <a:t>Age                            object</a:t>
            </a:r>
            <a:br>
              <a:rPr sz="1100" dirty="0"/>
            </a:br>
            <a:r>
              <a:rPr sz="1100" dirty="0"/>
              <a:t>Occupation                      int64</a:t>
            </a:r>
            <a:br>
              <a:rPr sz="1100" dirty="0"/>
            </a:br>
            <a:r>
              <a:rPr sz="1100" dirty="0" err="1"/>
              <a:t>City_Category</a:t>
            </a:r>
            <a:r>
              <a:rPr sz="1100" dirty="0"/>
              <a:t>                  object</a:t>
            </a:r>
            <a:br>
              <a:rPr sz="1100" dirty="0"/>
            </a:br>
            <a:r>
              <a:rPr sz="1100" dirty="0" err="1"/>
              <a:t>Stay_In_Current_City_Years</a:t>
            </a:r>
            <a:r>
              <a:rPr sz="1100" dirty="0"/>
              <a:t>     object</a:t>
            </a:r>
            <a:br>
              <a:rPr sz="1100" dirty="0"/>
            </a:br>
            <a:r>
              <a:rPr sz="1100" dirty="0" err="1"/>
              <a:t>Marital_Status</a:t>
            </a:r>
            <a:r>
              <a:rPr sz="1100" dirty="0"/>
              <a:t>                  int64</a:t>
            </a:r>
            <a:br>
              <a:rPr sz="1100" dirty="0"/>
            </a:br>
            <a:r>
              <a:rPr sz="1100" dirty="0"/>
              <a:t>Product_Category_1              int64</a:t>
            </a:r>
            <a:br>
              <a:rPr sz="1100" dirty="0"/>
            </a:br>
            <a:r>
              <a:rPr sz="1100" dirty="0"/>
              <a:t>Product_Category_2            float64</a:t>
            </a:r>
            <a:br>
              <a:rPr sz="1100" dirty="0"/>
            </a:br>
            <a:r>
              <a:rPr sz="1100" dirty="0"/>
              <a:t>Product_Category_3            float64</a:t>
            </a:r>
            <a:br>
              <a:rPr sz="1100" dirty="0"/>
            </a:br>
            <a:r>
              <a:rPr sz="1100" dirty="0"/>
              <a:t>Purchase                        int64</a:t>
            </a:r>
            <a:br>
              <a:rPr sz="1100" dirty="0"/>
            </a:br>
            <a:r>
              <a:rPr sz="1100" dirty="0" err="1"/>
              <a:t>dtype</a:t>
            </a:r>
            <a:r>
              <a:rPr sz="1100" dirty="0"/>
              <a:t>: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49594"/>
            <a:ext cx="446237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output shows the data type of every column.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User_ID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Occupation,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Marital_Status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Product_Category_1 and Purchase are int64; Product_Category_2 and Product_Category_3 are float64; the remaining fields are stored as object/text.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72598C-8498-AD13-CB21-548F78A35F8D}"/>
              </a:ext>
            </a:extLst>
          </p:cNvPr>
          <p:cNvCxnSpPr/>
          <p:nvPr/>
        </p:nvCxnSpPr>
        <p:spPr>
          <a:xfrm>
            <a:off x="5860026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4BD955-C50B-8D1E-0AEB-E6F9FF48A61B}"/>
              </a:ext>
            </a:extLst>
          </p:cNvPr>
          <p:cNvSpPr txBox="1"/>
          <p:nvPr/>
        </p:nvSpPr>
        <p:spPr>
          <a:xfrm>
            <a:off x="6111240" y="113746"/>
            <a:ext cx="549147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8: Complete Dataset Information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219D9C-7187-9B69-9119-A55A3664DF20}"/>
              </a:ext>
            </a:extLst>
          </p:cNvPr>
          <p:cNvSpPr txBox="1"/>
          <p:nvPr/>
        </p:nvSpPr>
        <p:spPr>
          <a:xfrm>
            <a:off x="6111240" y="548294"/>
            <a:ext cx="1498588" cy="41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5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050" dirty="0"/>
              <a:t>df.info()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625904-9CD7-55D8-2FA0-0A515AC362CF}"/>
              </a:ext>
            </a:extLst>
          </p:cNvPr>
          <p:cNvSpPr txBox="1"/>
          <p:nvPr/>
        </p:nvSpPr>
        <p:spPr>
          <a:xfrm>
            <a:off x="6193340" y="1256745"/>
            <a:ext cx="55778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00" dirty="0"/>
              <a:t>OUTPUT / RESULT</a:t>
            </a:r>
            <a:endParaRPr lang="en-IN" sz="1000" dirty="0"/>
          </a:p>
          <a:p>
            <a:pPr>
              <a:defRPr sz="1200" b="1"/>
            </a:pPr>
            <a:endParaRPr sz="1000" dirty="0"/>
          </a:p>
          <a:p>
            <a:pPr>
              <a:defRPr sz="830">
                <a:latin typeface="Consolas"/>
              </a:defRPr>
            </a:pPr>
            <a:r>
              <a:rPr sz="1000" dirty="0"/>
              <a:t>&lt;class '</a:t>
            </a:r>
            <a:r>
              <a:rPr sz="1000" dirty="0" err="1"/>
              <a:t>pandas.core.frame.DataFrame</a:t>
            </a:r>
            <a:r>
              <a:rPr sz="1000" dirty="0"/>
              <a:t>'&gt;</a:t>
            </a:r>
            <a:br>
              <a:rPr sz="1000" dirty="0"/>
            </a:br>
            <a:r>
              <a:rPr sz="1000" dirty="0" err="1"/>
              <a:t>RangeIndex</a:t>
            </a:r>
            <a:r>
              <a:rPr sz="1000" dirty="0"/>
              <a:t>: 550068 entries, 0 to 550067</a:t>
            </a:r>
            <a:br>
              <a:rPr sz="1000" dirty="0"/>
            </a:br>
            <a:r>
              <a:rPr sz="1000" dirty="0"/>
              <a:t>Data columns (total 12 columns):</a:t>
            </a:r>
            <a:br>
              <a:rPr sz="1000" dirty="0"/>
            </a:br>
            <a:r>
              <a:rPr sz="1000" dirty="0"/>
              <a:t> #   Column                      Non-Null Count   </a:t>
            </a:r>
            <a:r>
              <a:rPr sz="1000" dirty="0" err="1"/>
              <a:t>Dtype</a:t>
            </a:r>
            <a:r>
              <a:rPr sz="1000" dirty="0"/>
              <a:t>  </a:t>
            </a:r>
            <a:br>
              <a:rPr sz="1000" dirty="0"/>
            </a:br>
            <a:r>
              <a:rPr sz="1000" dirty="0"/>
              <a:t>---  ------                      --------------   -----  </a:t>
            </a:r>
            <a:br>
              <a:rPr sz="1000" dirty="0"/>
            </a:br>
            <a:r>
              <a:rPr sz="1000" dirty="0"/>
              <a:t> 0   </a:t>
            </a:r>
            <a:r>
              <a:rPr sz="1000" dirty="0" err="1"/>
              <a:t>User_ID</a:t>
            </a:r>
            <a:r>
              <a:rPr sz="1000" dirty="0"/>
              <a:t>                     550068 non-null  int64  </a:t>
            </a:r>
            <a:br>
              <a:rPr sz="1000" dirty="0"/>
            </a:br>
            <a:r>
              <a:rPr sz="1000" dirty="0"/>
              <a:t> 1   </a:t>
            </a:r>
            <a:r>
              <a:rPr sz="1000" dirty="0" err="1"/>
              <a:t>Product_ID</a:t>
            </a:r>
            <a:r>
              <a:rPr sz="1000" dirty="0"/>
              <a:t>                  550068 non-null  object </a:t>
            </a:r>
            <a:br>
              <a:rPr sz="1000" dirty="0"/>
            </a:br>
            <a:r>
              <a:rPr sz="1000" dirty="0"/>
              <a:t> 2   Gender                      550068 non-null  object </a:t>
            </a:r>
            <a:br>
              <a:rPr sz="1000" dirty="0"/>
            </a:br>
            <a:r>
              <a:rPr sz="1000" dirty="0"/>
              <a:t> 3   Age                         550068 non-null  object </a:t>
            </a:r>
            <a:br>
              <a:rPr sz="1000" dirty="0"/>
            </a:br>
            <a:r>
              <a:rPr sz="1000" dirty="0"/>
              <a:t> 4   Occupation                  550068 non-null  int64  </a:t>
            </a:r>
            <a:br>
              <a:rPr sz="1000" dirty="0"/>
            </a:br>
            <a:r>
              <a:rPr sz="1000" dirty="0"/>
              <a:t> 5   </a:t>
            </a:r>
            <a:r>
              <a:rPr sz="1000" dirty="0" err="1"/>
              <a:t>City_Category</a:t>
            </a:r>
            <a:r>
              <a:rPr sz="1000" dirty="0"/>
              <a:t>               550068 non-null  object </a:t>
            </a:r>
            <a:br>
              <a:rPr sz="1000" dirty="0"/>
            </a:br>
            <a:r>
              <a:rPr sz="1000" dirty="0"/>
              <a:t> 6   </a:t>
            </a:r>
            <a:r>
              <a:rPr sz="1000" dirty="0" err="1"/>
              <a:t>Stay_In_Current_City_Years</a:t>
            </a:r>
            <a:r>
              <a:rPr sz="1000" dirty="0"/>
              <a:t>  550068 non-null  object </a:t>
            </a:r>
            <a:br>
              <a:rPr sz="1000" dirty="0"/>
            </a:br>
            <a:r>
              <a:rPr sz="1000" dirty="0"/>
              <a:t> 7   </a:t>
            </a:r>
            <a:r>
              <a:rPr sz="1000" dirty="0" err="1"/>
              <a:t>Marital_Status</a:t>
            </a:r>
            <a:r>
              <a:rPr sz="1000" dirty="0"/>
              <a:t>              550068 non-null  int64  </a:t>
            </a:r>
            <a:br>
              <a:rPr sz="1000" dirty="0"/>
            </a:br>
            <a:r>
              <a:rPr sz="1000" dirty="0"/>
              <a:t> 8   Product_Category_1          550068 non-null  int64  </a:t>
            </a:r>
            <a:br>
              <a:rPr sz="1000" dirty="0"/>
            </a:br>
            <a:r>
              <a:rPr sz="1000" dirty="0"/>
              <a:t> 9   Product_Category_2          376430 non-null  float64</a:t>
            </a:r>
            <a:br>
              <a:rPr sz="1000" dirty="0"/>
            </a:br>
            <a:r>
              <a:rPr sz="1000" dirty="0"/>
              <a:t> 10  Product_Category_3          166821 non-null  float64</a:t>
            </a:r>
            <a:br>
              <a:rPr sz="1000" dirty="0"/>
            </a:br>
            <a:r>
              <a:rPr sz="1000" dirty="0"/>
              <a:t> 11  Purchase                    550068 non-null  int64  </a:t>
            </a:r>
            <a:br>
              <a:rPr sz="1000" dirty="0"/>
            </a:br>
            <a:r>
              <a:rPr sz="1000" dirty="0" err="1"/>
              <a:t>dtypes</a:t>
            </a:r>
            <a:r>
              <a:rPr sz="1000" dirty="0"/>
              <a:t>: float64(2), int64(5), object(5)</a:t>
            </a:r>
            <a:br>
              <a:rPr sz="1000" dirty="0"/>
            </a:br>
            <a:r>
              <a:rPr sz="1000" dirty="0"/>
              <a:t>memory usage: 50.4+ MB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300F81-FDA5-F1B5-7BB5-6B67CF68C0E9}"/>
              </a:ext>
            </a:extLst>
          </p:cNvPr>
          <p:cNvSpPr txBox="1"/>
          <p:nvPr/>
        </p:nvSpPr>
        <p:spPr>
          <a:xfrm>
            <a:off x="6096000" y="4739480"/>
            <a:ext cx="5415281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has 550,068 rows and 12 columns. Product_Category_2 has 376,430 non-null values and Product_Category_3 has 166,821 non-null values, so these two columns contain missing values. The dataset uses about 50.4 MB of memory.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8BFA36-A15F-5FA1-4371-3311AA613465}"/>
              </a:ext>
            </a:extLst>
          </p:cNvPr>
          <p:cNvSpPr txBox="1"/>
          <p:nvPr/>
        </p:nvSpPr>
        <p:spPr>
          <a:xfrm>
            <a:off x="216310" y="5997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46B64C-20EE-4B1E-05AD-1F10482AD830}"/>
              </a:ext>
            </a:extLst>
          </p:cNvPr>
          <p:cNvSpPr/>
          <p:nvPr/>
        </p:nvSpPr>
        <p:spPr>
          <a:xfrm>
            <a:off x="283825" y="1700981"/>
            <a:ext cx="3492910" cy="230269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28584C-AFE8-CFBB-373A-80D7176E949C}"/>
              </a:ext>
            </a:extLst>
          </p:cNvPr>
          <p:cNvSpPr/>
          <p:nvPr/>
        </p:nvSpPr>
        <p:spPr>
          <a:xfrm>
            <a:off x="6096000" y="1474839"/>
            <a:ext cx="5491477" cy="305652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0995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9: Statistical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1661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1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100" dirty="0" err="1"/>
              <a:t>df.describe</a:t>
            </a:r>
            <a:r>
              <a:rPr sz="1100"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496717"/>
            <a:ext cx="5361937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/>
            </a:pPr>
            <a:r>
              <a:rPr sz="1400" dirty="0"/>
              <a:t>OUTPUT / RESULT</a:t>
            </a:r>
            <a:endParaRPr lang="en-IN" sz="1400" dirty="0"/>
          </a:p>
          <a:p>
            <a:pPr>
              <a:defRPr sz="1200" b="1"/>
            </a:pPr>
            <a:endParaRPr sz="900" dirty="0"/>
          </a:p>
          <a:p>
            <a:pPr>
              <a:defRPr sz="830">
                <a:latin typeface="Consolas"/>
              </a:defRPr>
            </a:pPr>
            <a:r>
              <a:rPr lang="en-IN" sz="900" dirty="0"/>
              <a:t>	  </a:t>
            </a:r>
            <a:r>
              <a:rPr sz="900" dirty="0" err="1"/>
              <a:t>User_ID</a:t>
            </a:r>
            <a:r>
              <a:rPr sz="900" dirty="0"/>
              <a:t>  </a:t>
            </a:r>
            <a:r>
              <a:rPr lang="en-IN" sz="900" dirty="0"/>
              <a:t>	  </a:t>
            </a:r>
            <a:r>
              <a:rPr sz="900" dirty="0"/>
              <a:t>Occupation  </a:t>
            </a:r>
            <a:r>
              <a:rPr lang="en-IN" sz="900" dirty="0"/>
              <a:t>	   </a:t>
            </a:r>
            <a:r>
              <a:rPr sz="900" dirty="0" err="1"/>
              <a:t>Marital_Status</a:t>
            </a:r>
            <a:r>
              <a:rPr sz="900" dirty="0"/>
              <a:t> </a:t>
            </a:r>
            <a:r>
              <a:rPr lang="en-IN" sz="900" dirty="0"/>
              <a:t>	</a:t>
            </a:r>
            <a:r>
              <a:rPr sz="900" dirty="0"/>
              <a:t>Product_Category_1  </a:t>
            </a:r>
            <a:endParaRPr lang="en-IN" sz="900" dirty="0"/>
          </a:p>
          <a:p>
            <a:pPr>
              <a:defRPr sz="830">
                <a:latin typeface="Consolas"/>
              </a:defRPr>
            </a:pPr>
            <a:br>
              <a:rPr sz="900" dirty="0"/>
            </a:br>
            <a:r>
              <a:rPr sz="900" dirty="0"/>
              <a:t>count </a:t>
            </a:r>
            <a:r>
              <a:rPr lang="en-IN" sz="900" dirty="0"/>
              <a:t>	</a:t>
            </a:r>
            <a:r>
              <a:rPr sz="900" dirty="0"/>
              <a:t> 5.500680e+05  </a:t>
            </a:r>
            <a:r>
              <a:rPr lang="en-IN" sz="900" dirty="0"/>
              <a:t> </a:t>
            </a:r>
            <a:r>
              <a:rPr sz="900" dirty="0"/>
              <a:t>550068.000000   550068.000000       550068.000000   </a:t>
            </a:r>
            <a:br>
              <a:rPr sz="900" dirty="0"/>
            </a:br>
            <a:r>
              <a:rPr sz="900" dirty="0"/>
              <a:t>mean  </a:t>
            </a:r>
            <a:r>
              <a:rPr lang="en-IN" sz="900" dirty="0"/>
              <a:t>	</a:t>
            </a:r>
            <a:r>
              <a:rPr sz="900" dirty="0"/>
              <a:t> 1.003029e+06   8.076707        0.409653            5.404270   </a:t>
            </a:r>
            <a:br>
              <a:rPr sz="900" dirty="0"/>
            </a:br>
            <a:r>
              <a:rPr sz="900" dirty="0"/>
              <a:t>std   </a:t>
            </a:r>
            <a:r>
              <a:rPr lang="en-IN" sz="900" dirty="0"/>
              <a:t>	</a:t>
            </a:r>
            <a:r>
              <a:rPr sz="900" dirty="0"/>
              <a:t> 1.727592e+03   6.522660        0.491770            3.936211   </a:t>
            </a:r>
            <a:br>
              <a:rPr sz="900" dirty="0"/>
            </a:br>
            <a:r>
              <a:rPr sz="900" dirty="0"/>
              <a:t>min    </a:t>
            </a:r>
            <a:r>
              <a:rPr lang="en-IN" sz="900" dirty="0"/>
              <a:t>	 </a:t>
            </a:r>
            <a:r>
              <a:rPr sz="900" dirty="0"/>
              <a:t>1.000001e+06   0.000000        0.000000            1.000000   </a:t>
            </a:r>
            <a:br>
              <a:rPr sz="900" dirty="0"/>
            </a:br>
            <a:r>
              <a:rPr sz="900" dirty="0"/>
              <a:t>25%   </a:t>
            </a:r>
            <a:r>
              <a:rPr lang="en-IN" sz="900" dirty="0"/>
              <a:t>	</a:t>
            </a:r>
            <a:r>
              <a:rPr sz="900" dirty="0"/>
              <a:t> 1.001516e+06   2.000000        0.000000            1.000000   </a:t>
            </a:r>
            <a:br>
              <a:rPr sz="900" dirty="0"/>
            </a:br>
            <a:r>
              <a:rPr sz="900" dirty="0"/>
              <a:t>50%   </a:t>
            </a:r>
            <a:r>
              <a:rPr lang="en-IN" sz="900" dirty="0"/>
              <a:t>	</a:t>
            </a:r>
            <a:r>
              <a:rPr sz="900" dirty="0"/>
              <a:t> 1.003077e+06   7.000000        0.000000            5.000000   </a:t>
            </a:r>
            <a:br>
              <a:rPr sz="900" dirty="0"/>
            </a:br>
            <a:r>
              <a:rPr sz="900" dirty="0"/>
              <a:t>75%   </a:t>
            </a:r>
            <a:r>
              <a:rPr lang="en-IN" sz="900" dirty="0"/>
              <a:t>	</a:t>
            </a:r>
            <a:r>
              <a:rPr sz="900" dirty="0"/>
              <a:t> 1.004478e+06   14.000000       1.000000            8.000000   </a:t>
            </a:r>
            <a:br>
              <a:rPr sz="900" dirty="0"/>
            </a:br>
            <a:r>
              <a:rPr sz="900" dirty="0"/>
              <a:t>max   </a:t>
            </a:r>
            <a:r>
              <a:rPr lang="en-IN" sz="900" dirty="0"/>
              <a:t>	</a:t>
            </a:r>
            <a:r>
              <a:rPr sz="900" dirty="0"/>
              <a:t> 1.006040e+06   20.000000       1.000000           20.000000   </a:t>
            </a:r>
            <a:br>
              <a:rPr sz="900" dirty="0"/>
            </a:br>
            <a:br>
              <a:rPr sz="900" dirty="0"/>
            </a:br>
            <a:r>
              <a:rPr sz="900" dirty="0"/>
              <a:t>      </a:t>
            </a:r>
            <a:r>
              <a:rPr lang="en-IN" sz="900" dirty="0"/>
              <a:t>    </a:t>
            </a:r>
            <a:r>
              <a:rPr sz="900" dirty="0"/>
              <a:t> Product_Category_2  </a:t>
            </a:r>
            <a:r>
              <a:rPr lang="en-IN" sz="900" dirty="0"/>
              <a:t> </a:t>
            </a:r>
            <a:r>
              <a:rPr sz="900" dirty="0"/>
              <a:t>Product_Category_3    </a:t>
            </a:r>
            <a:r>
              <a:rPr lang="en-IN" sz="900" dirty="0"/>
              <a:t> </a:t>
            </a:r>
            <a:r>
              <a:rPr sz="900" dirty="0"/>
              <a:t>Purchase  </a:t>
            </a:r>
            <a:endParaRPr lang="en-IN" sz="900" dirty="0"/>
          </a:p>
          <a:p>
            <a:pPr>
              <a:defRPr sz="830">
                <a:latin typeface="Consolas"/>
              </a:defRPr>
            </a:pPr>
            <a:br>
              <a:rPr sz="900" dirty="0"/>
            </a:br>
            <a:r>
              <a:rPr sz="900" dirty="0"/>
              <a:t>count       376430.000000       166821.000000  </a:t>
            </a:r>
            <a:r>
              <a:rPr lang="en-IN" sz="900" dirty="0"/>
              <a:t>	</a:t>
            </a:r>
            <a:r>
              <a:rPr sz="900" dirty="0"/>
              <a:t>550068.000000  </a:t>
            </a:r>
            <a:br>
              <a:rPr sz="900" dirty="0"/>
            </a:br>
            <a:r>
              <a:rPr sz="900" dirty="0"/>
              <a:t>mean             9.842329           12.668243    </a:t>
            </a:r>
            <a:r>
              <a:rPr lang="en-IN" sz="900" dirty="0"/>
              <a:t>	</a:t>
            </a:r>
            <a:r>
              <a:rPr sz="900" dirty="0"/>
              <a:t>9263.968713  </a:t>
            </a:r>
            <a:br>
              <a:rPr sz="900" dirty="0"/>
            </a:br>
            <a:r>
              <a:rPr sz="900" dirty="0"/>
              <a:t>std              5.086590            4.125338    </a:t>
            </a:r>
            <a:r>
              <a:rPr lang="en-IN" sz="900" dirty="0"/>
              <a:t>	</a:t>
            </a:r>
            <a:r>
              <a:rPr sz="900" dirty="0"/>
              <a:t>5023.065394  </a:t>
            </a:r>
            <a:br>
              <a:rPr sz="900" dirty="0"/>
            </a:br>
            <a:r>
              <a:rPr sz="900" dirty="0"/>
              <a:t>min              2.000000            3.000000      </a:t>
            </a:r>
            <a:r>
              <a:rPr lang="en-IN" sz="900" dirty="0"/>
              <a:t>	</a:t>
            </a:r>
            <a:r>
              <a:rPr sz="900" dirty="0"/>
              <a:t>12.000000  </a:t>
            </a:r>
            <a:br>
              <a:rPr sz="900" dirty="0"/>
            </a:br>
            <a:r>
              <a:rPr sz="900" dirty="0"/>
              <a:t>25%              5.000000            9.000000    </a:t>
            </a:r>
            <a:r>
              <a:rPr lang="en-IN" sz="900" dirty="0"/>
              <a:t>	</a:t>
            </a:r>
            <a:r>
              <a:rPr sz="900" dirty="0"/>
              <a:t>5823.000000  </a:t>
            </a:r>
            <a:br>
              <a:rPr sz="900" dirty="0"/>
            </a:br>
            <a:r>
              <a:rPr sz="900" dirty="0"/>
              <a:t>50%              9.000000           14.000000    </a:t>
            </a:r>
            <a:r>
              <a:rPr lang="en-IN" sz="900" dirty="0"/>
              <a:t>	</a:t>
            </a:r>
            <a:r>
              <a:rPr sz="900" dirty="0"/>
              <a:t>8047.000000  </a:t>
            </a:r>
            <a:br>
              <a:rPr sz="900" dirty="0"/>
            </a:br>
            <a:r>
              <a:rPr sz="900" dirty="0"/>
              <a:t>75%             15.000000           16.000000   </a:t>
            </a:r>
            <a:r>
              <a:rPr lang="en-IN" sz="900" dirty="0"/>
              <a:t>	</a:t>
            </a:r>
            <a:r>
              <a:rPr sz="900" dirty="0"/>
              <a:t>12054.000000  </a:t>
            </a:r>
            <a:br>
              <a:rPr sz="900" dirty="0"/>
            </a:br>
            <a:r>
              <a:rPr sz="900" dirty="0"/>
              <a:t>max             18.000000           18.000000   </a:t>
            </a:r>
            <a:r>
              <a:rPr lang="en-IN" sz="900" dirty="0"/>
              <a:t>	</a:t>
            </a:r>
            <a:r>
              <a:rPr sz="900" dirty="0"/>
              <a:t>23961.000000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921" y="5193911"/>
            <a:ext cx="51917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The numerical summary shows, among other values, an average Purchase of about 9,263.97, a median Purchase of 8,047, a minimum of 12, and a maximum of 23,961. Purchase therefore varies substantially across transactions.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A98E87-6823-7FF0-F9CC-DD9898C5C0BF}"/>
              </a:ext>
            </a:extLst>
          </p:cNvPr>
          <p:cNvCxnSpPr>
            <a:cxnSpLocks/>
          </p:cNvCxnSpPr>
          <p:nvPr/>
        </p:nvCxnSpPr>
        <p:spPr>
          <a:xfrm>
            <a:off x="5402579" y="201168"/>
            <a:ext cx="45721" cy="6695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71A8C3D-8B4E-CC07-4BFF-39E4AB2E6DE7}"/>
              </a:ext>
            </a:extLst>
          </p:cNvPr>
          <p:cNvSpPr txBox="1"/>
          <p:nvPr/>
        </p:nvSpPr>
        <p:spPr>
          <a:xfrm>
            <a:off x="6263638" y="217424"/>
            <a:ext cx="418084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10: Categorical Summary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919047-75A0-4A08-5FEF-FD6BB4A189B5}"/>
              </a:ext>
            </a:extLst>
          </p:cNvPr>
          <p:cNvSpPr txBox="1"/>
          <p:nvPr/>
        </p:nvSpPr>
        <p:spPr>
          <a:xfrm>
            <a:off x="6324600" y="755904"/>
            <a:ext cx="1661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lang="en-IN" sz="1000" dirty="0"/>
              <a:t> </a:t>
            </a:r>
            <a:endParaRPr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C510B7-702C-3900-1375-3DB7E17C1C33}"/>
              </a:ext>
            </a:extLst>
          </p:cNvPr>
          <p:cNvSpPr txBox="1"/>
          <p:nvPr/>
        </p:nvSpPr>
        <p:spPr>
          <a:xfrm>
            <a:off x="5618480" y="1737360"/>
            <a:ext cx="657352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/>
            </a:pPr>
            <a:r>
              <a:rPr sz="1400" dirty="0"/>
              <a:t>OUTPUT / RESULT</a:t>
            </a:r>
            <a:endParaRPr lang="en-IN" sz="1400" dirty="0"/>
          </a:p>
          <a:p>
            <a:pPr>
              <a:defRPr sz="1200" b="1"/>
            </a:pPr>
            <a:endParaRPr sz="1100" dirty="0"/>
          </a:p>
          <a:p>
            <a:pPr>
              <a:defRPr sz="830">
                <a:latin typeface="Consolas"/>
              </a:defRPr>
            </a:pPr>
            <a:r>
              <a:rPr lang="en-IN" sz="1100" dirty="0"/>
              <a:t>	</a:t>
            </a:r>
            <a:r>
              <a:rPr sz="1100" dirty="0" err="1"/>
              <a:t>Product_ID</a:t>
            </a:r>
            <a:r>
              <a:rPr sz="1100" dirty="0"/>
              <a:t>  Gender  </a:t>
            </a:r>
            <a:r>
              <a:rPr lang="en-IN" sz="1100" dirty="0"/>
              <a:t> </a:t>
            </a:r>
            <a:r>
              <a:rPr sz="1100" dirty="0"/>
              <a:t>Age </a:t>
            </a:r>
            <a:r>
              <a:rPr lang="en-IN" sz="1100" dirty="0"/>
              <a:t>      </a:t>
            </a:r>
            <a:r>
              <a:rPr sz="1100" dirty="0" err="1"/>
              <a:t>City_Category</a:t>
            </a:r>
            <a:r>
              <a:rPr sz="1100" dirty="0"/>
              <a:t> </a:t>
            </a:r>
            <a:r>
              <a:rPr lang="en-IN" sz="1100" dirty="0"/>
              <a:t>   </a:t>
            </a:r>
            <a:r>
              <a:rPr sz="1100" dirty="0" err="1"/>
              <a:t>Stay_In_Current_City_Years</a:t>
            </a:r>
            <a:br>
              <a:rPr sz="1100" dirty="0"/>
            </a:br>
            <a:endParaRPr lang="en-IN" sz="1100" dirty="0"/>
          </a:p>
          <a:p>
            <a:pPr>
              <a:defRPr sz="830">
                <a:latin typeface="Consolas"/>
              </a:defRPr>
            </a:pPr>
            <a:r>
              <a:rPr sz="1100" dirty="0"/>
              <a:t>count  550068  </a:t>
            </a:r>
            <a:r>
              <a:rPr lang="en-IN" sz="1100" dirty="0"/>
              <a:t>    </a:t>
            </a:r>
            <a:r>
              <a:rPr sz="1100" dirty="0"/>
              <a:t>550068  550068    550068</a:t>
            </a:r>
            <a:r>
              <a:rPr lang="en-IN" sz="1100" dirty="0"/>
              <a:t>		 550068</a:t>
            </a:r>
          </a:p>
          <a:p>
            <a:pPr>
              <a:defRPr sz="830">
                <a:latin typeface="Consolas"/>
              </a:defRPr>
            </a:pPr>
            <a:r>
              <a:rPr lang="en-IN" sz="1100" dirty="0"/>
              <a:t>u</a:t>
            </a:r>
            <a:r>
              <a:rPr sz="1100" dirty="0" err="1"/>
              <a:t>nique</a:t>
            </a:r>
            <a:r>
              <a:rPr sz="1100" dirty="0"/>
              <a:t> 3631       </a:t>
            </a:r>
            <a:r>
              <a:rPr lang="en-IN" sz="1100" dirty="0"/>
              <a:t> </a:t>
            </a:r>
            <a:r>
              <a:rPr sz="1100" dirty="0"/>
              <a:t>2       7       </a:t>
            </a:r>
            <a:r>
              <a:rPr lang="en-IN" sz="1100" dirty="0"/>
              <a:t>  </a:t>
            </a:r>
            <a:r>
              <a:rPr sz="1100" dirty="0"/>
              <a:t>3                 5</a:t>
            </a:r>
            <a:br>
              <a:rPr sz="1100" dirty="0"/>
            </a:br>
            <a:r>
              <a:rPr sz="1100" dirty="0"/>
              <a:t>top    P00265242   M   </a:t>
            </a:r>
            <a:r>
              <a:rPr lang="en-IN" sz="1100" dirty="0"/>
              <a:t>    </a:t>
            </a:r>
            <a:r>
              <a:rPr sz="1100" dirty="0"/>
              <a:t>26-35     B                 1</a:t>
            </a:r>
            <a:br>
              <a:rPr sz="1100" dirty="0"/>
            </a:br>
            <a:r>
              <a:rPr sz="1100" dirty="0" err="1"/>
              <a:t>freq</a:t>
            </a:r>
            <a:r>
              <a:rPr sz="1100" dirty="0"/>
              <a:t>   1880  </a:t>
            </a:r>
            <a:r>
              <a:rPr lang="en-IN" sz="1100" dirty="0"/>
              <a:t>      </a:t>
            </a:r>
            <a:r>
              <a:rPr sz="1100" dirty="0"/>
              <a:t>414259  219587    231173            193821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4AFA3A-7301-65FE-DC53-49EB74155FA7}"/>
              </a:ext>
            </a:extLst>
          </p:cNvPr>
          <p:cNvSpPr txBox="1"/>
          <p:nvPr/>
        </p:nvSpPr>
        <p:spPr>
          <a:xfrm>
            <a:off x="5466080" y="4926368"/>
            <a:ext cx="64820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The categorical summary describes text columns such as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Product_ID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, Gender, Age,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City_Category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Stay_In_Current_City_Years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. It helps identify the number of unique categories and the most frequent category in each field.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3B6362-07EA-AC6B-B447-34673EAC74F6}"/>
              </a:ext>
            </a:extLst>
          </p:cNvPr>
          <p:cNvSpPr txBox="1"/>
          <p:nvPr/>
        </p:nvSpPr>
        <p:spPr>
          <a:xfrm>
            <a:off x="10119360" y="66263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10/85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5A2217-D762-0BC1-CF99-DB776189D978}"/>
              </a:ext>
            </a:extLst>
          </p:cNvPr>
          <p:cNvSpPr txBox="1"/>
          <p:nvPr/>
        </p:nvSpPr>
        <p:spPr>
          <a:xfrm>
            <a:off x="5466080" y="800386"/>
            <a:ext cx="2606040" cy="41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5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050" dirty="0" err="1"/>
              <a:t>df.describe</a:t>
            </a:r>
            <a:r>
              <a:rPr sz="1050" dirty="0"/>
              <a:t>(include='object')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B3606A-7758-CD17-A44D-C45B28D13AEC}"/>
              </a:ext>
            </a:extLst>
          </p:cNvPr>
          <p:cNvSpPr/>
          <p:nvPr/>
        </p:nvSpPr>
        <p:spPr>
          <a:xfrm>
            <a:off x="96517" y="1912215"/>
            <a:ext cx="5191759" cy="310296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F1D8DF-7DB0-3BAE-11D8-BC14CBFAD659}"/>
              </a:ext>
            </a:extLst>
          </p:cNvPr>
          <p:cNvSpPr/>
          <p:nvPr/>
        </p:nvSpPr>
        <p:spPr>
          <a:xfrm>
            <a:off x="5618480" y="2058650"/>
            <a:ext cx="6329680" cy="14465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6506F5-184C-C370-D7EE-48893EB19676}"/>
              </a:ext>
            </a:extLst>
          </p:cNvPr>
          <p:cNvSpPr txBox="1"/>
          <p:nvPr/>
        </p:nvSpPr>
        <p:spPr>
          <a:xfrm>
            <a:off x="2651760" y="2767280"/>
            <a:ext cx="6664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II.  Data Pre-processing</a:t>
            </a:r>
          </a:p>
          <a:p>
            <a:pPr algn="ctr"/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390207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323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11: Check Missing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318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200" dirty="0" err="1"/>
              <a:t>df.isnull</a:t>
            </a:r>
            <a:r>
              <a:rPr sz="1200" dirty="0"/>
              <a:t>().sum()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492" y="1819024"/>
            <a:ext cx="45161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200" dirty="0"/>
          </a:p>
          <a:p>
            <a:pPr>
              <a:defRPr sz="830">
                <a:latin typeface="Consolas"/>
              </a:defRPr>
            </a:pPr>
            <a:r>
              <a:rPr sz="1200" dirty="0" err="1"/>
              <a:t>User_ID</a:t>
            </a:r>
            <a:r>
              <a:rPr sz="1200" dirty="0"/>
              <a:t>                            0</a:t>
            </a:r>
            <a:br>
              <a:rPr sz="1200" dirty="0"/>
            </a:br>
            <a:r>
              <a:rPr sz="1200" dirty="0" err="1"/>
              <a:t>Product_ID</a:t>
            </a:r>
            <a:r>
              <a:rPr sz="1200" dirty="0"/>
              <a:t>                         0</a:t>
            </a:r>
            <a:br>
              <a:rPr sz="1200" dirty="0"/>
            </a:br>
            <a:r>
              <a:rPr sz="1200" dirty="0"/>
              <a:t>Gender                             0</a:t>
            </a:r>
            <a:br>
              <a:rPr sz="1200" dirty="0"/>
            </a:br>
            <a:r>
              <a:rPr sz="1200" dirty="0"/>
              <a:t>Age                                0</a:t>
            </a:r>
            <a:br>
              <a:rPr sz="1200" dirty="0"/>
            </a:br>
            <a:r>
              <a:rPr sz="1200" dirty="0"/>
              <a:t>Occupation                         0</a:t>
            </a:r>
            <a:br>
              <a:rPr sz="1200" dirty="0"/>
            </a:br>
            <a:r>
              <a:rPr sz="1200" dirty="0" err="1"/>
              <a:t>City_Category</a:t>
            </a:r>
            <a:r>
              <a:rPr sz="1200" dirty="0"/>
              <a:t>                      0</a:t>
            </a:r>
            <a:br>
              <a:rPr sz="1200" dirty="0"/>
            </a:br>
            <a:r>
              <a:rPr sz="1200" dirty="0" err="1"/>
              <a:t>Stay_In_Current_City_Years</a:t>
            </a:r>
            <a:r>
              <a:rPr sz="1200" dirty="0"/>
              <a:t>         0</a:t>
            </a:r>
            <a:br>
              <a:rPr sz="1200" dirty="0"/>
            </a:br>
            <a:r>
              <a:rPr sz="1200" dirty="0" err="1"/>
              <a:t>Marital_Status</a:t>
            </a:r>
            <a:r>
              <a:rPr sz="1200" dirty="0"/>
              <a:t>                     0</a:t>
            </a:r>
            <a:br>
              <a:rPr sz="1200" dirty="0"/>
            </a:br>
            <a:r>
              <a:rPr sz="1200" dirty="0"/>
              <a:t>Product_Category_1                 0</a:t>
            </a:r>
            <a:br>
              <a:rPr sz="1200" dirty="0"/>
            </a:br>
            <a:r>
              <a:rPr sz="1200" dirty="0"/>
              <a:t>Product_Category_2            173638</a:t>
            </a:r>
            <a:br>
              <a:rPr sz="1200" dirty="0"/>
            </a:br>
            <a:r>
              <a:rPr sz="1200" dirty="0"/>
              <a:t>Product_Category_3            383247</a:t>
            </a:r>
            <a:br>
              <a:rPr sz="1200" dirty="0"/>
            </a:br>
            <a:r>
              <a:rPr sz="1200" dirty="0"/>
              <a:t>Purchase                           0</a:t>
            </a:r>
            <a:br>
              <a:rPr sz="1200" dirty="0"/>
            </a:br>
            <a:r>
              <a:rPr sz="1200" dirty="0" err="1"/>
              <a:t>dtype</a:t>
            </a:r>
            <a:r>
              <a:rPr sz="1200" dirty="0"/>
              <a:t>: int64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91603"/>
            <a:ext cx="493268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600" dirty="0"/>
              <a:t>The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missing-value count identifies missing entries. Product_Category_2 has 173,638 missing values and Product_Category_3 has 383,247 missing values; the other columns have no missing values.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670498-5C1B-FB87-3DEF-1427E754B34A}"/>
              </a:ext>
            </a:extLst>
          </p:cNvPr>
          <p:cNvCxnSpPr/>
          <p:nvPr/>
        </p:nvCxnSpPr>
        <p:spPr>
          <a:xfrm>
            <a:off x="5486400" y="121920"/>
            <a:ext cx="0" cy="6736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EFD7BC-E81F-9055-7A54-9475AE696C98}"/>
              </a:ext>
            </a:extLst>
          </p:cNvPr>
          <p:cNvSpPr txBox="1"/>
          <p:nvPr/>
        </p:nvSpPr>
        <p:spPr>
          <a:xfrm>
            <a:off x="6096000" y="111760"/>
            <a:ext cx="5120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12: Missing Values Percentage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1724C6-7744-2E44-9671-C7A313F9D080}"/>
              </a:ext>
            </a:extLst>
          </p:cNvPr>
          <p:cNvSpPr txBox="1"/>
          <p:nvPr/>
        </p:nvSpPr>
        <p:spPr>
          <a:xfrm>
            <a:off x="6045200" y="679313"/>
            <a:ext cx="45415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5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050" dirty="0" err="1"/>
              <a:t>missing_percentage</a:t>
            </a:r>
            <a:r>
              <a:rPr sz="1050" dirty="0"/>
              <a:t> = (</a:t>
            </a:r>
            <a:r>
              <a:rPr sz="1050" dirty="0" err="1"/>
              <a:t>df.isnull</a:t>
            </a:r>
            <a:r>
              <a:rPr sz="1050" dirty="0"/>
              <a:t>().sum() / </a:t>
            </a:r>
            <a:r>
              <a:rPr sz="1050" dirty="0" err="1"/>
              <a:t>len</a:t>
            </a:r>
            <a:r>
              <a:rPr sz="1050" dirty="0"/>
              <a:t>(</a:t>
            </a:r>
            <a:r>
              <a:rPr sz="1050" dirty="0" err="1"/>
              <a:t>df</a:t>
            </a:r>
            <a:r>
              <a:rPr sz="1050" dirty="0"/>
              <a:t>)) * 100</a:t>
            </a:r>
            <a:br>
              <a:rPr sz="1050" dirty="0"/>
            </a:br>
            <a:br>
              <a:rPr sz="1050" dirty="0"/>
            </a:br>
            <a:r>
              <a:rPr sz="1050" dirty="0" err="1"/>
              <a:t>missing_percentage.sort_values</a:t>
            </a:r>
            <a:r>
              <a:rPr sz="1050" dirty="0"/>
              <a:t>(ascending=False)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4BEF18-240B-AB00-DD84-42724D19F596}"/>
              </a:ext>
            </a:extLst>
          </p:cNvPr>
          <p:cNvSpPr txBox="1"/>
          <p:nvPr/>
        </p:nvSpPr>
        <p:spPr>
          <a:xfrm>
            <a:off x="6986368" y="1719489"/>
            <a:ext cx="433831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400" dirty="0"/>
              <a:t>Product_Category_3            69.672659</a:t>
            </a:r>
            <a:br>
              <a:rPr sz="1400" dirty="0"/>
            </a:br>
            <a:r>
              <a:rPr sz="1400" dirty="0"/>
              <a:t>Product_Category_2            31.566643</a:t>
            </a:r>
            <a:br>
              <a:rPr sz="1400" dirty="0"/>
            </a:br>
            <a:r>
              <a:rPr sz="1400" dirty="0" err="1"/>
              <a:t>User_ID</a:t>
            </a:r>
            <a:r>
              <a:rPr sz="1400" dirty="0"/>
              <a:t>                        0.000000</a:t>
            </a:r>
            <a:br>
              <a:rPr sz="1400" dirty="0"/>
            </a:br>
            <a:r>
              <a:rPr sz="1400" dirty="0" err="1"/>
              <a:t>Product_ID</a:t>
            </a:r>
            <a:r>
              <a:rPr sz="1400" dirty="0"/>
              <a:t>                     0.000000</a:t>
            </a:r>
            <a:br>
              <a:rPr sz="1400" dirty="0"/>
            </a:br>
            <a:r>
              <a:rPr sz="1400" dirty="0"/>
              <a:t>Gender                         0.000000</a:t>
            </a:r>
            <a:br>
              <a:rPr sz="1400" dirty="0"/>
            </a:br>
            <a:r>
              <a:rPr sz="1400" dirty="0"/>
              <a:t>Age                            0.000000</a:t>
            </a:r>
            <a:br>
              <a:rPr sz="1400" dirty="0"/>
            </a:br>
            <a:r>
              <a:rPr sz="1400" dirty="0"/>
              <a:t>Occupation                     0.000000</a:t>
            </a:r>
            <a:br>
              <a:rPr sz="1400" dirty="0"/>
            </a:br>
            <a:r>
              <a:rPr sz="1400" dirty="0" err="1"/>
              <a:t>City_Category</a:t>
            </a:r>
            <a:r>
              <a:rPr sz="1400" dirty="0"/>
              <a:t>                  0.000000</a:t>
            </a:r>
            <a:br>
              <a:rPr sz="1400" dirty="0"/>
            </a:br>
            <a:r>
              <a:rPr sz="1400" dirty="0" err="1"/>
              <a:t>Stay_In_Current_City_Years</a:t>
            </a:r>
            <a:r>
              <a:rPr sz="1400" dirty="0"/>
              <a:t>     0.000000</a:t>
            </a:r>
            <a:br>
              <a:rPr sz="1400" dirty="0"/>
            </a:br>
            <a:r>
              <a:rPr sz="1400" dirty="0" err="1"/>
              <a:t>Marital_Status</a:t>
            </a:r>
            <a:r>
              <a:rPr sz="1400" dirty="0"/>
              <a:t>                 0.000000</a:t>
            </a:r>
            <a:br>
              <a:rPr sz="1400" dirty="0"/>
            </a:br>
            <a:r>
              <a:rPr sz="1400" dirty="0"/>
              <a:t>Product_Category_1             0.000000</a:t>
            </a:r>
            <a:br>
              <a:rPr sz="1400" dirty="0"/>
            </a:br>
            <a:r>
              <a:rPr sz="1400" dirty="0"/>
              <a:t>Purchase                       0.000000</a:t>
            </a:r>
            <a:br>
              <a:rPr sz="1400" dirty="0"/>
            </a:br>
            <a:r>
              <a:rPr sz="1400" dirty="0" err="1"/>
              <a:t>dtype</a:t>
            </a:r>
            <a:r>
              <a:rPr sz="1400" dirty="0"/>
              <a:t>: float64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CF8DD9-F010-4A06-AFDC-EB6D5675558B}"/>
              </a:ext>
            </a:extLst>
          </p:cNvPr>
          <p:cNvSpPr txBox="1"/>
          <p:nvPr/>
        </p:nvSpPr>
        <p:spPr>
          <a:xfrm>
            <a:off x="5729479" y="5030047"/>
            <a:ext cx="5853682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endParaRPr lang="en-IN" dirty="0"/>
          </a:p>
          <a:p>
            <a:pPr>
              <a:defRPr sz="1600"/>
            </a:pPr>
            <a:r>
              <a:rPr dirty="0"/>
              <a:t>The missing-value percentages rank the columns by the proportion of missing data. Product_Category_3 has the largest missing proportion, followed by Product_Category_2; the other columns have 0% missing values.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7A8ABE-C5BA-7BE7-3311-9B5A2481C5C9}"/>
              </a:ext>
            </a:extLst>
          </p:cNvPr>
          <p:cNvSpPr/>
          <p:nvPr/>
        </p:nvSpPr>
        <p:spPr>
          <a:xfrm>
            <a:off x="867317" y="2202426"/>
            <a:ext cx="3754115" cy="2625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40A3C4-559A-9C0F-C207-84745DF544C1}"/>
              </a:ext>
            </a:extLst>
          </p:cNvPr>
          <p:cNvSpPr/>
          <p:nvPr/>
        </p:nvSpPr>
        <p:spPr>
          <a:xfrm>
            <a:off x="6842003" y="1993550"/>
            <a:ext cx="4239505" cy="286232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7"/>
            <a:ext cx="52913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13: Visualize Missing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2602992" cy="1125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CODE</a:t>
            </a:r>
          </a:p>
          <a:p>
            <a:pPr>
              <a:defRPr sz="919">
                <a:latin typeface="Consolas"/>
              </a:defRPr>
            </a:pPr>
            <a:r>
              <a:t>plt.figure(figsize=(10,5))</a:t>
            </a:r>
            <a:br/>
            <a:br/>
            <a:r>
              <a:t>sns.heatmap(df.isnull(), cbar=False)</a:t>
            </a:r>
            <a:br/>
            <a:br/>
            <a:r>
              <a:t>plt.title("Missing Values Heatmap")</a:t>
            </a:r>
            <a:br/>
            <a:r>
              <a:t>plt.show()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2360" y="377993"/>
            <a:ext cx="2602992" cy="404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  <a:p>
            <a:pPr>
              <a:defRPr sz="830">
                <a:latin typeface="Consola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48920" y="2982646"/>
            <a:ext cx="5227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heatmap visualizes where missing values occur across the dataset. It is used to see the concentration of missing data, especially in Product_Category_2 and Product_Category_3.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853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13/85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E5A4F1-37C3-AFCE-6A77-1FE2C4F6A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440" y="948773"/>
            <a:ext cx="5885098" cy="40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408916"/>
            <a:ext cx="43027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14: Check Duplicate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35888"/>
            <a:ext cx="4109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200" dirty="0" err="1"/>
              <a:t>duplicate_count</a:t>
            </a:r>
            <a:r>
              <a:rPr sz="1200" dirty="0"/>
              <a:t> = </a:t>
            </a:r>
            <a:r>
              <a:rPr sz="1200" dirty="0" err="1"/>
              <a:t>df.duplicated</a:t>
            </a:r>
            <a:r>
              <a:rPr sz="1200" dirty="0"/>
              <a:t>().sum()</a:t>
            </a:r>
            <a:br>
              <a:rPr sz="1200" dirty="0"/>
            </a:br>
            <a:br>
              <a:rPr sz="1200" dirty="0"/>
            </a:br>
            <a:r>
              <a:rPr sz="1200" dirty="0"/>
              <a:t>print("Number of duplicate records:", </a:t>
            </a:r>
            <a:r>
              <a:rPr sz="1200" dirty="0" err="1"/>
              <a:t>duplicate_count</a:t>
            </a:r>
            <a:r>
              <a:rPr sz="1200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625" y="2481261"/>
            <a:ext cx="305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200" dirty="0"/>
              <a:t>Number of duplicate records: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93008"/>
            <a:ext cx="3804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 output reports the number of completely duplicated rows.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 result of 0 means no exact duplicate records were found.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14/85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B242EC-1517-FCE7-2E7D-865CD36F0B27}"/>
              </a:ext>
            </a:extLst>
          </p:cNvPr>
          <p:cNvCxnSpPr/>
          <p:nvPr/>
        </p:nvCxnSpPr>
        <p:spPr>
          <a:xfrm>
            <a:off x="545592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F39466-CE23-1F5B-2281-81D03B2352DC}"/>
              </a:ext>
            </a:extLst>
          </p:cNvPr>
          <p:cNvSpPr txBox="1"/>
          <p:nvPr/>
        </p:nvSpPr>
        <p:spPr>
          <a:xfrm>
            <a:off x="5821680" y="353568"/>
            <a:ext cx="55117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15: Handle Missing 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AD4C56-87B8-F342-2CE5-E8DE5B586835}"/>
              </a:ext>
            </a:extLst>
          </p:cNvPr>
          <p:cNvSpPr txBox="1"/>
          <p:nvPr/>
        </p:nvSpPr>
        <p:spPr>
          <a:xfrm>
            <a:off x="5821680" y="1432577"/>
            <a:ext cx="5659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200" dirty="0" err="1"/>
              <a:t>df</a:t>
            </a:r>
            <a:r>
              <a:rPr sz="1200" dirty="0"/>
              <a:t>['Product_Category_2'] = </a:t>
            </a:r>
            <a:r>
              <a:rPr sz="1200" dirty="0" err="1"/>
              <a:t>df</a:t>
            </a:r>
            <a:r>
              <a:rPr sz="1200" dirty="0"/>
              <a:t>['Product_Category_2'].</a:t>
            </a:r>
            <a:r>
              <a:rPr sz="1200" dirty="0" err="1"/>
              <a:t>fillna</a:t>
            </a:r>
            <a:r>
              <a:rPr sz="1200" dirty="0"/>
              <a:t>(0)</a:t>
            </a:r>
            <a:br>
              <a:rPr sz="1200" dirty="0"/>
            </a:br>
            <a:br>
              <a:rPr sz="1200" dirty="0"/>
            </a:br>
            <a:r>
              <a:rPr sz="1200" dirty="0" err="1"/>
              <a:t>df</a:t>
            </a:r>
            <a:r>
              <a:rPr sz="1200" dirty="0"/>
              <a:t>['Product_Category_3'] = </a:t>
            </a:r>
            <a:r>
              <a:rPr sz="1200" dirty="0" err="1"/>
              <a:t>df</a:t>
            </a:r>
            <a:r>
              <a:rPr sz="1200" dirty="0"/>
              <a:t>['Product_Category_3'].</a:t>
            </a:r>
            <a:r>
              <a:rPr sz="1200" dirty="0" err="1"/>
              <a:t>fillna</a:t>
            </a:r>
            <a:r>
              <a:rPr sz="1200" dirty="0"/>
              <a:t>(0)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83384E-6B27-AC96-2087-1B78C3E9250D}"/>
              </a:ext>
            </a:extLst>
          </p:cNvPr>
          <p:cNvSpPr txBox="1"/>
          <p:nvPr/>
        </p:nvSpPr>
        <p:spPr>
          <a:xfrm>
            <a:off x="5810568" y="3429000"/>
            <a:ext cx="54451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Missing values in Product_Category_2 and Product_Category_3 are replaced with 0. This is the notebook's chosen cleaning approach; 0 acts as the replacement value for previously missing category entries.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669B91-E3D2-F938-D0E2-0AA23B75B074}"/>
              </a:ext>
            </a:extLst>
          </p:cNvPr>
          <p:cNvSpPr txBox="1"/>
          <p:nvPr/>
        </p:nvSpPr>
        <p:spPr>
          <a:xfrm>
            <a:off x="10490200" y="6626352"/>
            <a:ext cx="88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15/85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1B353F-65E4-CFC0-3BE0-2242227AF032}"/>
              </a:ext>
            </a:extLst>
          </p:cNvPr>
          <p:cNvSpPr/>
          <p:nvPr/>
        </p:nvSpPr>
        <p:spPr>
          <a:xfrm>
            <a:off x="883920" y="2286000"/>
            <a:ext cx="3423920" cy="101566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8016"/>
            <a:ext cx="44754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16: Verify null values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1813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CODE</a:t>
            </a:r>
            <a:endParaRPr lang="en-IN" sz="1200" dirty="0"/>
          </a:p>
          <a:p>
            <a:pPr>
              <a:defRPr sz="1200" b="1"/>
            </a:pPr>
            <a:endParaRPr sz="1200" dirty="0"/>
          </a:p>
          <a:p>
            <a:pPr>
              <a:defRPr sz="919">
                <a:latin typeface="Consolas"/>
              </a:defRPr>
            </a:pPr>
            <a:r>
              <a:rPr sz="1200" dirty="0" err="1"/>
              <a:t>df.isnull</a:t>
            </a:r>
            <a:r>
              <a:rPr sz="1200" dirty="0"/>
              <a:t>().sum()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2006456"/>
            <a:ext cx="326644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200" dirty="0" err="1"/>
              <a:t>User_ID</a:t>
            </a:r>
            <a:r>
              <a:rPr sz="1200" dirty="0"/>
              <a:t>                       0</a:t>
            </a:r>
            <a:br>
              <a:rPr sz="1200" dirty="0"/>
            </a:br>
            <a:r>
              <a:rPr sz="1200" dirty="0" err="1"/>
              <a:t>Product_ID</a:t>
            </a:r>
            <a:r>
              <a:rPr sz="1200" dirty="0"/>
              <a:t>                    0</a:t>
            </a:r>
            <a:br>
              <a:rPr sz="1200" dirty="0"/>
            </a:br>
            <a:r>
              <a:rPr sz="1200" dirty="0"/>
              <a:t>Gender                        0</a:t>
            </a:r>
            <a:br>
              <a:rPr sz="1200" dirty="0"/>
            </a:br>
            <a:r>
              <a:rPr sz="1200" dirty="0"/>
              <a:t>Age                           0</a:t>
            </a:r>
            <a:br>
              <a:rPr sz="1200" dirty="0"/>
            </a:br>
            <a:r>
              <a:rPr sz="1200" dirty="0"/>
              <a:t>Occupation                    0</a:t>
            </a:r>
            <a:br>
              <a:rPr sz="1200" dirty="0"/>
            </a:br>
            <a:r>
              <a:rPr sz="1200" dirty="0" err="1"/>
              <a:t>City_Category</a:t>
            </a:r>
            <a:r>
              <a:rPr sz="1200" dirty="0"/>
              <a:t>                 0</a:t>
            </a:r>
            <a:br>
              <a:rPr sz="1200" dirty="0"/>
            </a:br>
            <a:r>
              <a:rPr sz="1200" dirty="0" err="1"/>
              <a:t>Stay_In_Current_City_Years</a:t>
            </a:r>
            <a:r>
              <a:rPr sz="1200" dirty="0"/>
              <a:t>    0</a:t>
            </a:r>
            <a:br>
              <a:rPr sz="1200" dirty="0"/>
            </a:br>
            <a:r>
              <a:rPr sz="1200" dirty="0" err="1"/>
              <a:t>Marital_Status</a:t>
            </a:r>
            <a:r>
              <a:rPr sz="1200" dirty="0"/>
              <a:t>                0</a:t>
            </a:r>
            <a:br>
              <a:rPr sz="1200" dirty="0"/>
            </a:br>
            <a:r>
              <a:rPr sz="1200" dirty="0"/>
              <a:t>Product_Category_1            0</a:t>
            </a:r>
            <a:br>
              <a:rPr sz="1200" dirty="0"/>
            </a:br>
            <a:r>
              <a:rPr sz="1200" dirty="0"/>
              <a:t>Product_Category_2            0</a:t>
            </a:r>
            <a:br>
              <a:rPr sz="1200" dirty="0"/>
            </a:br>
            <a:r>
              <a:rPr sz="1200" dirty="0"/>
              <a:t>Product_Category_3            0</a:t>
            </a:r>
            <a:br>
              <a:rPr sz="1200" dirty="0"/>
            </a:br>
            <a:r>
              <a:rPr sz="1200" dirty="0"/>
              <a:t>Purchase                      0</a:t>
            </a:r>
            <a:br>
              <a:rPr sz="1200" dirty="0"/>
            </a:br>
            <a:r>
              <a:rPr sz="1200" dirty="0" err="1"/>
              <a:t>dtype</a:t>
            </a:r>
            <a:r>
              <a:rPr sz="1200" dirty="0"/>
              <a:t>: int64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640" y="5091078"/>
            <a:ext cx="4876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After the replacement, the missing-value check shows no missing values in the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The cleaning step therefore removed the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values from the two product-category columns.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4549DD-0CF4-9752-AA60-9AFDB7270228}"/>
              </a:ext>
            </a:extLst>
          </p:cNvPr>
          <p:cNvCxnSpPr/>
          <p:nvPr/>
        </p:nvCxnSpPr>
        <p:spPr>
          <a:xfrm>
            <a:off x="555752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6B6C82-9734-90A9-667D-4DEA6EC48373}"/>
              </a:ext>
            </a:extLst>
          </p:cNvPr>
          <p:cNvSpPr txBox="1"/>
          <p:nvPr/>
        </p:nvSpPr>
        <p:spPr>
          <a:xfrm>
            <a:off x="5943601" y="155448"/>
            <a:ext cx="40792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17: Check Data Types Again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C39990-58DB-2D3B-EA91-C919CE9AA9AA}"/>
              </a:ext>
            </a:extLst>
          </p:cNvPr>
          <p:cNvSpPr txBox="1"/>
          <p:nvPr/>
        </p:nvSpPr>
        <p:spPr>
          <a:xfrm>
            <a:off x="5976498" y="1071962"/>
            <a:ext cx="20067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100" dirty="0"/>
              <a:t>CODE</a:t>
            </a:r>
            <a:endParaRPr lang="en-IN" sz="1100" dirty="0"/>
          </a:p>
          <a:p>
            <a:pPr>
              <a:defRPr sz="1200" b="1"/>
            </a:pPr>
            <a:endParaRPr sz="1100" dirty="0"/>
          </a:p>
          <a:p>
            <a:pPr>
              <a:defRPr sz="919">
                <a:latin typeface="Consolas"/>
              </a:defRPr>
            </a:pPr>
            <a:r>
              <a:rPr sz="1100" dirty="0" err="1"/>
              <a:t>df.dtypes</a:t>
            </a:r>
            <a:endParaRPr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F80B7-35D3-08A1-3D24-904B143B7FB2}"/>
              </a:ext>
            </a:extLst>
          </p:cNvPr>
          <p:cNvSpPr txBox="1"/>
          <p:nvPr/>
        </p:nvSpPr>
        <p:spPr>
          <a:xfrm>
            <a:off x="7641778" y="1378593"/>
            <a:ext cx="3627116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050" dirty="0"/>
          </a:p>
          <a:p>
            <a:pPr>
              <a:defRPr sz="830">
                <a:latin typeface="Consolas"/>
              </a:defRPr>
            </a:pPr>
            <a:r>
              <a:rPr sz="1200" dirty="0" err="1"/>
              <a:t>User_ID</a:t>
            </a:r>
            <a:r>
              <a:rPr sz="1200" dirty="0"/>
              <a:t>                         int64</a:t>
            </a:r>
            <a:br>
              <a:rPr sz="1200" dirty="0"/>
            </a:br>
            <a:r>
              <a:rPr sz="1200" dirty="0" err="1"/>
              <a:t>Product_ID</a:t>
            </a:r>
            <a:r>
              <a:rPr sz="1200" dirty="0"/>
              <a:t>                     object</a:t>
            </a:r>
            <a:br>
              <a:rPr sz="1200" dirty="0"/>
            </a:br>
            <a:r>
              <a:rPr sz="1200" dirty="0"/>
              <a:t>Gender                         object</a:t>
            </a:r>
            <a:br>
              <a:rPr sz="1200" dirty="0"/>
            </a:br>
            <a:r>
              <a:rPr sz="1200" dirty="0"/>
              <a:t>Age                            object</a:t>
            </a:r>
            <a:br>
              <a:rPr sz="1200" dirty="0"/>
            </a:br>
            <a:r>
              <a:rPr sz="1200" dirty="0"/>
              <a:t>Occupation                      int64</a:t>
            </a:r>
            <a:br>
              <a:rPr sz="1200" dirty="0"/>
            </a:br>
            <a:r>
              <a:rPr sz="1200" dirty="0" err="1"/>
              <a:t>City_Category</a:t>
            </a:r>
            <a:r>
              <a:rPr sz="1200" dirty="0"/>
              <a:t>                  object</a:t>
            </a:r>
            <a:br>
              <a:rPr sz="1200" dirty="0"/>
            </a:br>
            <a:r>
              <a:rPr sz="1200" dirty="0" err="1"/>
              <a:t>Stay_In_Current_City_Years</a:t>
            </a:r>
            <a:r>
              <a:rPr sz="1200" dirty="0"/>
              <a:t>     object</a:t>
            </a:r>
            <a:br>
              <a:rPr sz="1200" dirty="0"/>
            </a:br>
            <a:r>
              <a:rPr sz="1200" dirty="0" err="1"/>
              <a:t>Marital_Status</a:t>
            </a:r>
            <a:r>
              <a:rPr sz="1200" dirty="0"/>
              <a:t>                  int64</a:t>
            </a:r>
            <a:br>
              <a:rPr sz="1200" dirty="0"/>
            </a:br>
            <a:r>
              <a:rPr sz="1200" dirty="0"/>
              <a:t>Product_Category_1              int64</a:t>
            </a:r>
            <a:br>
              <a:rPr sz="1200" dirty="0"/>
            </a:br>
            <a:r>
              <a:rPr sz="1200" dirty="0"/>
              <a:t>Product_Category_2            float64</a:t>
            </a:r>
            <a:br>
              <a:rPr sz="1200" dirty="0"/>
            </a:br>
            <a:r>
              <a:rPr sz="1200" dirty="0"/>
              <a:t>Product_Category_3            float64</a:t>
            </a:r>
            <a:br>
              <a:rPr sz="1200" dirty="0"/>
            </a:br>
            <a:r>
              <a:rPr sz="1200" dirty="0"/>
              <a:t>Purchase                        int64</a:t>
            </a:r>
            <a:br>
              <a:rPr sz="1200" dirty="0"/>
            </a:br>
            <a:r>
              <a:rPr sz="1200" dirty="0" err="1"/>
              <a:t>dtype</a:t>
            </a:r>
            <a:r>
              <a:rPr sz="1200" dirty="0"/>
              <a:t>: object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CBF87A-8E7E-05A9-2D27-9D8E642F94C4}"/>
              </a:ext>
            </a:extLst>
          </p:cNvPr>
          <p:cNvSpPr txBox="1"/>
          <p:nvPr/>
        </p:nvSpPr>
        <p:spPr>
          <a:xfrm>
            <a:off x="5704841" y="4572861"/>
            <a:ext cx="4029893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INTERPRETATION</a:t>
            </a:r>
          </a:p>
          <a:p>
            <a:pPr>
              <a:defRPr sz="1600"/>
            </a:pPr>
            <a:r>
              <a:rPr dirty="0"/>
              <a:t>The data types remain consistent after the missing-value replacement. Product_Category_2 and Product_Category_3 remain numeric float columns because they now contain zeros as well as category values.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080399-980B-FFBF-997C-0CCBB5844605}"/>
              </a:ext>
            </a:extLst>
          </p:cNvPr>
          <p:cNvSpPr txBox="1"/>
          <p:nvPr/>
        </p:nvSpPr>
        <p:spPr>
          <a:xfrm>
            <a:off x="10558698" y="6790445"/>
            <a:ext cx="6579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17/85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A2BF03-17EF-E06C-DFB0-A8010377A453}"/>
              </a:ext>
            </a:extLst>
          </p:cNvPr>
          <p:cNvSpPr/>
          <p:nvPr/>
        </p:nvSpPr>
        <p:spPr>
          <a:xfrm>
            <a:off x="660400" y="2310580"/>
            <a:ext cx="3373120" cy="254589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F4AAFE-8B4A-3329-BED5-911BCD3ACC0E}"/>
              </a:ext>
            </a:extLst>
          </p:cNvPr>
          <p:cNvSpPr/>
          <p:nvPr/>
        </p:nvSpPr>
        <p:spPr>
          <a:xfrm>
            <a:off x="7477760" y="1672126"/>
            <a:ext cx="3947158" cy="273731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90031"/>
            <a:ext cx="40386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18: Check Unique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411988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5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050" dirty="0"/>
              <a:t>for column in </a:t>
            </a:r>
            <a:r>
              <a:rPr sz="1050" dirty="0" err="1"/>
              <a:t>df.columns</a:t>
            </a:r>
            <a:r>
              <a:rPr sz="1050" dirty="0"/>
              <a:t>:</a:t>
            </a:r>
            <a:br>
              <a:rPr sz="1050" dirty="0"/>
            </a:br>
            <a:r>
              <a:rPr sz="1050" dirty="0"/>
              <a:t>    print(column, ":", </a:t>
            </a:r>
            <a:r>
              <a:rPr sz="1050" dirty="0" err="1"/>
              <a:t>df</a:t>
            </a:r>
            <a:r>
              <a:rPr sz="1050" dirty="0"/>
              <a:t>[column].</a:t>
            </a:r>
            <a:r>
              <a:rPr sz="1050" dirty="0" err="1"/>
              <a:t>nunique</a:t>
            </a:r>
            <a:r>
              <a:rPr sz="1050" dirty="0"/>
              <a:t>())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654048"/>
            <a:ext cx="340868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  <a:endParaRPr lang="en-IN" sz="1400" dirty="0"/>
          </a:p>
          <a:p>
            <a:pPr>
              <a:defRPr sz="1200" b="1"/>
            </a:pPr>
            <a:endParaRPr sz="1400" dirty="0"/>
          </a:p>
          <a:p>
            <a:pPr>
              <a:defRPr sz="830">
                <a:latin typeface="Consolas"/>
              </a:defRPr>
            </a:pPr>
            <a:r>
              <a:rPr sz="1200" dirty="0" err="1"/>
              <a:t>User_ID</a:t>
            </a:r>
            <a:r>
              <a:rPr sz="1200" dirty="0"/>
              <a:t> : 5891</a:t>
            </a:r>
            <a:br>
              <a:rPr sz="1200" dirty="0"/>
            </a:br>
            <a:r>
              <a:rPr sz="1200" dirty="0" err="1"/>
              <a:t>Product_ID</a:t>
            </a:r>
            <a:r>
              <a:rPr sz="1200" dirty="0"/>
              <a:t> : 3631</a:t>
            </a:r>
            <a:br>
              <a:rPr sz="1200" dirty="0"/>
            </a:br>
            <a:r>
              <a:rPr sz="1200" dirty="0"/>
              <a:t>Gender : 2</a:t>
            </a:r>
            <a:br>
              <a:rPr sz="1200" dirty="0"/>
            </a:br>
            <a:r>
              <a:rPr sz="1200" dirty="0"/>
              <a:t>Age : 7</a:t>
            </a:r>
            <a:br>
              <a:rPr sz="1200" dirty="0"/>
            </a:br>
            <a:r>
              <a:rPr sz="1200" dirty="0"/>
              <a:t>Occupation : 21</a:t>
            </a:r>
            <a:br>
              <a:rPr sz="1200" dirty="0"/>
            </a:br>
            <a:r>
              <a:rPr sz="1200" dirty="0" err="1"/>
              <a:t>City_Category</a:t>
            </a:r>
            <a:r>
              <a:rPr sz="1200" dirty="0"/>
              <a:t> : 3</a:t>
            </a:r>
            <a:br>
              <a:rPr sz="1200" dirty="0"/>
            </a:br>
            <a:r>
              <a:rPr sz="1200" dirty="0" err="1"/>
              <a:t>Stay_In_Current_City_Years</a:t>
            </a:r>
            <a:r>
              <a:rPr sz="1200" dirty="0"/>
              <a:t> : 5</a:t>
            </a:r>
            <a:br>
              <a:rPr sz="1200" dirty="0"/>
            </a:br>
            <a:r>
              <a:rPr sz="1200" dirty="0" err="1"/>
              <a:t>Marital_Status</a:t>
            </a:r>
            <a:r>
              <a:rPr sz="1200" dirty="0"/>
              <a:t> : 2</a:t>
            </a:r>
            <a:br>
              <a:rPr sz="1200" dirty="0"/>
            </a:br>
            <a:r>
              <a:rPr sz="1200" dirty="0"/>
              <a:t>Product_Category_1 : 20</a:t>
            </a:r>
            <a:br>
              <a:rPr sz="1200" dirty="0"/>
            </a:br>
            <a:r>
              <a:rPr sz="1200" dirty="0"/>
              <a:t>Product_Category_2 : 18</a:t>
            </a:r>
            <a:br>
              <a:rPr sz="1200" dirty="0"/>
            </a:br>
            <a:r>
              <a:rPr sz="1200" dirty="0"/>
              <a:t>Product_Category_3 : 16</a:t>
            </a:r>
            <a:br>
              <a:rPr sz="1200" dirty="0"/>
            </a:br>
            <a:r>
              <a:rPr sz="1200" dirty="0"/>
              <a:t>Purchase : 18105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8440" y="4687062"/>
            <a:ext cx="431292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code counts distinct values in every column. This helps understand the number of customers, products, demographic categories, occupations, city categories, product categories and other unique values available.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BCDA75-000D-A25E-5C8B-3B4DFAF7DB79}"/>
              </a:ext>
            </a:extLst>
          </p:cNvPr>
          <p:cNvCxnSpPr>
            <a:cxnSpLocks/>
          </p:cNvCxnSpPr>
          <p:nvPr/>
        </p:nvCxnSpPr>
        <p:spPr>
          <a:xfrm>
            <a:off x="5415280" y="0"/>
            <a:ext cx="11176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F57AC36-AA3E-9789-440B-B8E6CDBD34DF}"/>
              </a:ext>
            </a:extLst>
          </p:cNvPr>
          <p:cNvSpPr txBox="1"/>
          <p:nvPr/>
        </p:nvSpPr>
        <p:spPr>
          <a:xfrm>
            <a:off x="5971540" y="194344"/>
            <a:ext cx="4465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19: Unique Customers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96E34D-4288-3362-027F-D1A278F8D805}"/>
              </a:ext>
            </a:extLst>
          </p:cNvPr>
          <p:cNvSpPr txBox="1"/>
          <p:nvPr/>
        </p:nvSpPr>
        <p:spPr>
          <a:xfrm>
            <a:off x="5979160" y="1173957"/>
            <a:ext cx="42316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200" dirty="0" err="1"/>
              <a:t>unique_customers</a:t>
            </a:r>
            <a:r>
              <a:rPr sz="1200" dirty="0"/>
              <a:t> = </a:t>
            </a:r>
            <a:r>
              <a:rPr sz="1200" dirty="0" err="1"/>
              <a:t>df</a:t>
            </a:r>
            <a:r>
              <a:rPr sz="1200" dirty="0"/>
              <a:t>['</a:t>
            </a:r>
            <a:r>
              <a:rPr sz="1200" dirty="0" err="1"/>
              <a:t>User_ID</a:t>
            </a:r>
            <a:r>
              <a:rPr sz="1200" dirty="0"/>
              <a:t>'].</a:t>
            </a:r>
            <a:r>
              <a:rPr sz="1200" dirty="0" err="1"/>
              <a:t>nunique</a:t>
            </a:r>
            <a:r>
              <a:rPr sz="1200" dirty="0"/>
              <a:t>()</a:t>
            </a:r>
            <a:br>
              <a:rPr sz="1200" dirty="0"/>
            </a:br>
            <a:br>
              <a:rPr sz="1200" dirty="0"/>
            </a:br>
            <a:r>
              <a:rPr sz="1200" dirty="0"/>
              <a:t>print("Number of Unique Customers:", </a:t>
            </a:r>
            <a:r>
              <a:rPr sz="1200" dirty="0" err="1"/>
              <a:t>unique_customers</a:t>
            </a:r>
            <a:r>
              <a:rPr sz="12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782F91-5985-9B03-5A37-24BCAF6545A3}"/>
              </a:ext>
            </a:extLst>
          </p:cNvPr>
          <p:cNvSpPr txBox="1"/>
          <p:nvPr/>
        </p:nvSpPr>
        <p:spPr>
          <a:xfrm>
            <a:off x="7802880" y="2818820"/>
            <a:ext cx="40386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/>
              <a:t>OUTPUT / RESULT</a:t>
            </a:r>
            <a:endParaRPr lang="en-IN" sz="1600" dirty="0"/>
          </a:p>
          <a:p>
            <a:pPr>
              <a:defRPr sz="1200" b="1"/>
            </a:pPr>
            <a:endParaRPr sz="1600" dirty="0"/>
          </a:p>
          <a:p>
            <a:pPr>
              <a:defRPr sz="830">
                <a:latin typeface="Consolas"/>
              </a:defRPr>
            </a:pPr>
            <a:r>
              <a:rPr sz="1400" dirty="0"/>
              <a:t>Number of Unique Customers: 5891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7574C3-CF69-14F4-643E-425E121F5530}"/>
              </a:ext>
            </a:extLst>
          </p:cNvPr>
          <p:cNvSpPr txBox="1"/>
          <p:nvPr/>
        </p:nvSpPr>
        <p:spPr>
          <a:xfrm>
            <a:off x="5979160" y="4551093"/>
            <a:ext cx="50292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There are 5,891 unique customers identified by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User_ID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This means the 550,068 transaction rows come from 5,891 distinct customer IDs.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7266AD-8C9F-13F1-0849-1775E1421FE6}"/>
              </a:ext>
            </a:extLst>
          </p:cNvPr>
          <p:cNvSpPr/>
          <p:nvPr/>
        </p:nvSpPr>
        <p:spPr>
          <a:xfrm>
            <a:off x="1417320" y="2054942"/>
            <a:ext cx="3032760" cy="249615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F7C8A8-BD20-0A3A-A4FF-462600E44587}"/>
              </a:ext>
            </a:extLst>
          </p:cNvPr>
          <p:cNvSpPr/>
          <p:nvPr/>
        </p:nvSpPr>
        <p:spPr>
          <a:xfrm>
            <a:off x="7457440" y="3121674"/>
            <a:ext cx="3891280" cy="78992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1" y="201168"/>
            <a:ext cx="4587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20: Unique Products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7"/>
            <a:ext cx="242085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200" dirty="0" err="1"/>
              <a:t>unique_products</a:t>
            </a:r>
            <a:r>
              <a:rPr sz="1200" dirty="0"/>
              <a:t> = </a:t>
            </a:r>
            <a:r>
              <a:rPr sz="1200" dirty="0" err="1"/>
              <a:t>df</a:t>
            </a:r>
            <a:r>
              <a:rPr sz="1200" dirty="0"/>
              <a:t>['</a:t>
            </a:r>
            <a:r>
              <a:rPr sz="1200" dirty="0" err="1"/>
              <a:t>Product_ID</a:t>
            </a:r>
            <a:r>
              <a:rPr sz="1200" dirty="0"/>
              <a:t>'].</a:t>
            </a:r>
            <a:r>
              <a:rPr sz="1200" dirty="0" err="1"/>
              <a:t>nunique</a:t>
            </a:r>
            <a:r>
              <a:rPr sz="1200" dirty="0"/>
              <a:t>()</a:t>
            </a:r>
            <a:br>
              <a:rPr sz="1200" dirty="0"/>
            </a:br>
            <a:br>
              <a:rPr sz="1200" dirty="0"/>
            </a:br>
            <a:r>
              <a:rPr sz="1200" dirty="0"/>
              <a:t>print("Number of Unique Products:", </a:t>
            </a:r>
            <a:r>
              <a:rPr sz="1200" dirty="0" err="1"/>
              <a:t>unique_products</a:t>
            </a:r>
            <a:r>
              <a:rPr sz="1200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" y="3059668"/>
            <a:ext cx="35587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  <a:endParaRPr lang="en-IN" sz="1400" dirty="0"/>
          </a:p>
          <a:p>
            <a:pPr>
              <a:defRPr sz="1200" b="1"/>
            </a:pPr>
            <a:endParaRPr sz="1400" dirty="0"/>
          </a:p>
          <a:p>
            <a:pPr>
              <a:defRPr sz="830">
                <a:latin typeface="Consolas"/>
              </a:defRPr>
            </a:pPr>
            <a:r>
              <a:rPr sz="1400" dirty="0"/>
              <a:t>Number of Unique Products: 3631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449" y="4597926"/>
            <a:ext cx="48615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There are 3,631 unique products identified by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Product_ID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 The dataset therefore contains many transactions across 3,631 distinct products.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43755A-9061-DB3B-0838-600248C747FD}"/>
              </a:ext>
            </a:extLst>
          </p:cNvPr>
          <p:cNvCxnSpPr>
            <a:cxnSpLocks/>
          </p:cNvCxnSpPr>
          <p:nvPr/>
        </p:nvCxnSpPr>
        <p:spPr>
          <a:xfrm>
            <a:off x="550672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111C44-A21C-29A6-7414-1B70EA05C4CC}"/>
              </a:ext>
            </a:extLst>
          </p:cNvPr>
          <p:cNvSpPr txBox="1"/>
          <p:nvPr/>
        </p:nvSpPr>
        <p:spPr>
          <a:xfrm>
            <a:off x="5794271" y="280248"/>
            <a:ext cx="59862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21: Create </a:t>
            </a:r>
            <a:r>
              <a:rPr dirty="0" err="1"/>
              <a:t>purchase_level</a:t>
            </a:r>
            <a:r>
              <a:rPr dirty="0"/>
              <a:t> (Derived column)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98FEB8-186F-91BE-39A2-520C5F2E13BA}"/>
              </a:ext>
            </a:extLst>
          </p:cNvPr>
          <p:cNvSpPr txBox="1"/>
          <p:nvPr/>
        </p:nvSpPr>
        <p:spPr>
          <a:xfrm>
            <a:off x="5794272" y="1211760"/>
            <a:ext cx="2511527" cy="211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/>
              <a:t>def </a:t>
            </a:r>
            <a:r>
              <a:rPr dirty="0" err="1"/>
              <a:t>purchase_level</a:t>
            </a:r>
            <a:r>
              <a:rPr dirty="0"/>
              <a:t>(value):</a:t>
            </a:r>
            <a:br>
              <a:rPr dirty="0"/>
            </a:br>
            <a:r>
              <a:rPr dirty="0"/>
              <a:t>    if value &lt; 5000:</a:t>
            </a:r>
            <a:br>
              <a:rPr dirty="0"/>
            </a:br>
            <a:r>
              <a:rPr dirty="0"/>
              <a:t>        return 'Low'</a:t>
            </a:r>
            <a:br>
              <a:rPr dirty="0"/>
            </a:br>
            <a:r>
              <a:rPr dirty="0"/>
              <a:t>    </a:t>
            </a:r>
            <a:r>
              <a:rPr dirty="0" err="1"/>
              <a:t>elif</a:t>
            </a:r>
            <a:r>
              <a:rPr dirty="0"/>
              <a:t> value &lt; 10000:</a:t>
            </a:r>
            <a:br>
              <a:rPr dirty="0"/>
            </a:br>
            <a:r>
              <a:rPr dirty="0"/>
              <a:t>        return 'Medium'</a:t>
            </a:r>
            <a:br>
              <a:rPr dirty="0"/>
            </a:br>
            <a:r>
              <a:rPr dirty="0"/>
              <a:t>    else:</a:t>
            </a:r>
            <a:br>
              <a:rPr dirty="0"/>
            </a:br>
            <a:r>
              <a:rPr dirty="0"/>
              <a:t>        return 'High'</a:t>
            </a:r>
            <a:br>
              <a:rPr dirty="0"/>
            </a:br>
            <a:br>
              <a:rPr dirty="0"/>
            </a:b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Purchase_Level</a:t>
            </a:r>
            <a:r>
              <a:rPr dirty="0"/>
              <a:t>'] = </a:t>
            </a:r>
            <a:r>
              <a:rPr dirty="0" err="1"/>
              <a:t>df</a:t>
            </a:r>
            <a:r>
              <a:rPr dirty="0"/>
              <a:t>['Purchase'].apply(</a:t>
            </a:r>
            <a:r>
              <a:rPr dirty="0" err="1"/>
              <a:t>purchase_level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df</a:t>
            </a:r>
            <a:r>
              <a:rPr dirty="0"/>
              <a:t>[['Purchase', '</a:t>
            </a:r>
            <a:r>
              <a:rPr dirty="0" err="1"/>
              <a:t>Purchase_Level</a:t>
            </a:r>
            <a:r>
              <a:rPr dirty="0"/>
              <a:t>']].head()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6481C1-DC25-B5E3-C9A7-4ACC39C90946}"/>
              </a:ext>
            </a:extLst>
          </p:cNvPr>
          <p:cNvSpPr txBox="1"/>
          <p:nvPr/>
        </p:nvSpPr>
        <p:spPr>
          <a:xfrm>
            <a:off x="8593350" y="1634364"/>
            <a:ext cx="336803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/>
              <a:t>OUTPUT / RESULT</a:t>
            </a:r>
            <a:endParaRPr lang="en-IN" sz="1600" dirty="0"/>
          </a:p>
          <a:p>
            <a:pPr>
              <a:defRPr sz="1200" b="1"/>
            </a:pPr>
            <a:endParaRPr sz="1400" dirty="0"/>
          </a:p>
          <a:p>
            <a:pPr>
              <a:defRPr sz="830">
                <a:latin typeface="Consolas"/>
              </a:defRPr>
            </a:pPr>
            <a:r>
              <a:rPr lang="en-IN" sz="1400" dirty="0"/>
              <a:t>	</a:t>
            </a:r>
            <a:r>
              <a:rPr sz="1400" dirty="0"/>
              <a:t>Purchase</a:t>
            </a:r>
            <a:r>
              <a:rPr lang="en-IN" sz="1400" dirty="0"/>
              <a:t>     </a:t>
            </a:r>
            <a:r>
              <a:rPr sz="1400" dirty="0" err="1"/>
              <a:t>Purchase_Level</a:t>
            </a:r>
            <a:br>
              <a:rPr sz="1400" dirty="0"/>
            </a:br>
            <a:r>
              <a:rPr sz="1400" dirty="0"/>
              <a:t>0      8370         </a:t>
            </a:r>
            <a:r>
              <a:rPr lang="en-IN" sz="1400" dirty="0"/>
              <a:t>  </a:t>
            </a:r>
            <a:r>
              <a:rPr sz="1400" dirty="0"/>
              <a:t>Medium</a:t>
            </a:r>
            <a:br>
              <a:rPr sz="1400" dirty="0"/>
            </a:br>
            <a:r>
              <a:rPr sz="1400" dirty="0"/>
              <a:t>1     15200           High</a:t>
            </a:r>
            <a:br>
              <a:rPr sz="1400" dirty="0"/>
            </a:br>
            <a:r>
              <a:rPr sz="1400" dirty="0"/>
              <a:t>2      1422           Low</a:t>
            </a:r>
            <a:br>
              <a:rPr sz="1400" dirty="0"/>
            </a:br>
            <a:r>
              <a:rPr sz="1400" dirty="0"/>
              <a:t>3      1057           Low</a:t>
            </a:r>
            <a:br>
              <a:rPr sz="1400" dirty="0"/>
            </a:br>
            <a:r>
              <a:rPr sz="1400" dirty="0"/>
              <a:t>4      7969         </a:t>
            </a:r>
            <a:r>
              <a:rPr lang="en-IN" sz="1400" dirty="0"/>
              <a:t>  </a:t>
            </a:r>
            <a:r>
              <a:rPr sz="1400" dirty="0"/>
              <a:t>Medium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3A7261-6FCE-4E28-6B8D-0715E2A5DAEE}"/>
              </a:ext>
            </a:extLst>
          </p:cNvPr>
          <p:cNvSpPr txBox="1"/>
          <p:nvPr/>
        </p:nvSpPr>
        <p:spPr>
          <a:xfrm>
            <a:off x="5890652" y="4091624"/>
            <a:ext cx="504364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 new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Purchase_Level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column is created using the rules: below 5,000 = Low; 5,000 to below 10,000 = Medium; 10,000 or more = High. The first five rows show the resulting labels alongside Purchase values.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6C1EDB-9B22-F34C-3BB6-3C6E842883C2}"/>
              </a:ext>
            </a:extLst>
          </p:cNvPr>
          <p:cNvSpPr/>
          <p:nvPr/>
        </p:nvSpPr>
        <p:spPr>
          <a:xfrm>
            <a:off x="8412472" y="2054942"/>
            <a:ext cx="3548914" cy="161281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C6BA65-D554-D2F4-1303-05230A6BA73E}"/>
              </a:ext>
            </a:extLst>
          </p:cNvPr>
          <p:cNvSpPr/>
          <p:nvPr/>
        </p:nvSpPr>
        <p:spPr>
          <a:xfrm>
            <a:off x="640080" y="3429000"/>
            <a:ext cx="3769352" cy="57404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0839" y="534583"/>
            <a:ext cx="114265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22: Overall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0839" y="1533695"/>
            <a:ext cx="379476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5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050" dirty="0" err="1"/>
              <a:t>total_sales</a:t>
            </a:r>
            <a:r>
              <a:rPr sz="1050" dirty="0"/>
              <a:t> = </a:t>
            </a:r>
            <a:r>
              <a:rPr sz="1050" dirty="0" err="1"/>
              <a:t>df</a:t>
            </a:r>
            <a:r>
              <a:rPr sz="1050" dirty="0"/>
              <a:t>['Purchase'].sum()</a:t>
            </a:r>
            <a:br>
              <a:rPr sz="1050" dirty="0"/>
            </a:br>
            <a:r>
              <a:rPr sz="1050" dirty="0" err="1"/>
              <a:t>average_purchase</a:t>
            </a:r>
            <a:r>
              <a:rPr sz="1050" dirty="0"/>
              <a:t> = </a:t>
            </a:r>
            <a:r>
              <a:rPr sz="1050" dirty="0" err="1"/>
              <a:t>df</a:t>
            </a:r>
            <a:r>
              <a:rPr sz="1050" dirty="0"/>
              <a:t>['Purchase'].mean()</a:t>
            </a:r>
            <a:br>
              <a:rPr sz="1050" dirty="0"/>
            </a:br>
            <a:r>
              <a:rPr sz="1050" dirty="0" err="1"/>
              <a:t>minimum_purchase</a:t>
            </a:r>
            <a:r>
              <a:rPr sz="1050" dirty="0"/>
              <a:t> = </a:t>
            </a:r>
            <a:r>
              <a:rPr sz="1050" dirty="0" err="1"/>
              <a:t>df</a:t>
            </a:r>
            <a:r>
              <a:rPr sz="1050" dirty="0"/>
              <a:t>['Purchase'].min()</a:t>
            </a:r>
            <a:br>
              <a:rPr sz="1050" dirty="0"/>
            </a:br>
            <a:r>
              <a:rPr sz="1050" dirty="0" err="1"/>
              <a:t>maximum_purchase</a:t>
            </a:r>
            <a:r>
              <a:rPr sz="1050" dirty="0"/>
              <a:t> = </a:t>
            </a:r>
            <a:r>
              <a:rPr sz="1050" dirty="0" err="1"/>
              <a:t>df</a:t>
            </a:r>
            <a:r>
              <a:rPr sz="1050" dirty="0"/>
              <a:t>['Purchase'].max()</a:t>
            </a:r>
            <a:br>
              <a:rPr sz="1050" dirty="0"/>
            </a:br>
            <a:br>
              <a:rPr sz="1050" dirty="0"/>
            </a:br>
            <a:r>
              <a:rPr sz="1050" dirty="0"/>
              <a:t>print("Total Sales:", </a:t>
            </a:r>
            <a:r>
              <a:rPr sz="1050" dirty="0" err="1"/>
              <a:t>total_sales</a:t>
            </a:r>
            <a:r>
              <a:rPr sz="1050" dirty="0"/>
              <a:t>)</a:t>
            </a:r>
            <a:br>
              <a:rPr sz="1050" dirty="0"/>
            </a:br>
            <a:r>
              <a:rPr sz="1050" dirty="0"/>
              <a:t>print("Average Purchase:", </a:t>
            </a:r>
            <a:r>
              <a:rPr sz="1050" dirty="0" err="1"/>
              <a:t>average_purchase</a:t>
            </a:r>
            <a:r>
              <a:rPr sz="1050" dirty="0"/>
              <a:t>)</a:t>
            </a:r>
            <a:br>
              <a:rPr sz="1050" dirty="0"/>
            </a:br>
            <a:r>
              <a:rPr sz="1050" dirty="0"/>
              <a:t>print("Minimum Purchase:", </a:t>
            </a:r>
            <a:r>
              <a:rPr sz="1050" dirty="0" err="1"/>
              <a:t>minimum_purchase</a:t>
            </a:r>
            <a:r>
              <a:rPr sz="1050" dirty="0"/>
              <a:t>)</a:t>
            </a:r>
            <a:br>
              <a:rPr sz="1050" dirty="0"/>
            </a:br>
            <a:r>
              <a:rPr sz="1050" dirty="0"/>
              <a:t>print("Maximum Purchase:", </a:t>
            </a:r>
            <a:r>
              <a:rPr sz="1050" dirty="0" err="1"/>
              <a:t>maximum_purchase</a:t>
            </a:r>
            <a:r>
              <a:rPr sz="1050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4558" y="1972616"/>
            <a:ext cx="38354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  <a:endParaRPr lang="en-IN" sz="1400" dirty="0"/>
          </a:p>
          <a:p>
            <a:pPr>
              <a:defRPr sz="1200" b="1"/>
            </a:pPr>
            <a:endParaRPr sz="1400" dirty="0"/>
          </a:p>
          <a:p>
            <a:pPr>
              <a:defRPr sz="830">
                <a:latin typeface="Consolas"/>
              </a:defRPr>
            </a:pPr>
            <a:r>
              <a:rPr sz="1400" dirty="0"/>
              <a:t>Total Sales: 5095812742</a:t>
            </a:r>
            <a:br>
              <a:rPr sz="1400" dirty="0"/>
            </a:br>
            <a:r>
              <a:rPr sz="1400" dirty="0"/>
              <a:t>Average Purchase: 9263.968712959126</a:t>
            </a:r>
            <a:br>
              <a:rPr sz="1400" dirty="0"/>
            </a:br>
            <a:r>
              <a:rPr sz="1400" dirty="0"/>
              <a:t>Minimum Purchase: 12</a:t>
            </a:r>
            <a:br>
              <a:rPr sz="1400" dirty="0"/>
            </a:br>
            <a:r>
              <a:rPr sz="1400" dirty="0"/>
              <a:t>Maximum Purchase: 23961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080" y="4830701"/>
            <a:ext cx="11008687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Total sales are 5,095,812,742. The average transaction is about 9,263.97, with a minimum of 12 and a maximum of 23,961. These four measures provide the overall sales baseline.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800D4E-437A-1B47-B786-4C44C703F56D}"/>
              </a:ext>
            </a:extLst>
          </p:cNvPr>
          <p:cNvSpPr/>
          <p:nvPr/>
        </p:nvSpPr>
        <p:spPr>
          <a:xfrm>
            <a:off x="6337226" y="2337972"/>
            <a:ext cx="4480552" cy="138499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731C2-4BB4-56D2-DEFC-193DD2D9BDD3}"/>
              </a:ext>
            </a:extLst>
          </p:cNvPr>
          <p:cNvSpPr txBox="1"/>
          <p:nvPr/>
        </p:nvSpPr>
        <p:spPr>
          <a:xfrm>
            <a:off x="920757" y="1356852"/>
            <a:ext cx="1002351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III.</a:t>
            </a:r>
          </a:p>
          <a:p>
            <a:pPr algn="ctr"/>
            <a:endParaRPr lang="en-IN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4800" b="1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 (EDA) </a:t>
            </a:r>
            <a:endParaRPr lang="en-IN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266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5F1D78-635E-0810-6AEB-FAF2BADD46ED}"/>
              </a:ext>
            </a:extLst>
          </p:cNvPr>
          <p:cNvSpPr txBox="1"/>
          <p:nvPr/>
        </p:nvSpPr>
        <p:spPr>
          <a:xfrm>
            <a:off x="373626" y="247334"/>
            <a:ext cx="113764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23: Check Age 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7E917-AEBE-CB3F-D948-F669B3EB219A}"/>
              </a:ext>
            </a:extLst>
          </p:cNvPr>
          <p:cNvSpPr txBox="1"/>
          <p:nvPr/>
        </p:nvSpPr>
        <p:spPr>
          <a:xfrm>
            <a:off x="896209" y="1329121"/>
            <a:ext cx="254651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100" dirty="0"/>
              <a:t>CODE</a:t>
            </a:r>
            <a:endParaRPr lang="en-IN" sz="1100" dirty="0"/>
          </a:p>
          <a:p>
            <a:pPr>
              <a:defRPr sz="1200" b="1"/>
            </a:pPr>
            <a:endParaRPr sz="1100" dirty="0"/>
          </a:p>
          <a:p>
            <a:pPr>
              <a:defRPr sz="919">
                <a:latin typeface="Consolas"/>
              </a:defRPr>
            </a:pPr>
            <a:r>
              <a:rPr sz="1100" dirty="0" err="1"/>
              <a:t>df</a:t>
            </a:r>
            <a:r>
              <a:rPr sz="1100" dirty="0"/>
              <a:t>['Age'].</a:t>
            </a:r>
            <a:r>
              <a:rPr sz="1100" dirty="0" err="1"/>
              <a:t>value_counts</a:t>
            </a:r>
            <a:r>
              <a:rPr sz="1100" dirty="0"/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D4895-4DD0-3025-A351-A714E08A057D}"/>
              </a:ext>
            </a:extLst>
          </p:cNvPr>
          <p:cNvSpPr txBox="1"/>
          <p:nvPr/>
        </p:nvSpPr>
        <p:spPr>
          <a:xfrm>
            <a:off x="6913686" y="1191929"/>
            <a:ext cx="278058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  <a:endParaRPr lang="en-IN" sz="1400" dirty="0"/>
          </a:p>
          <a:p>
            <a:pPr>
              <a:defRPr sz="1200" b="1"/>
            </a:pPr>
            <a:endParaRPr sz="1400" dirty="0"/>
          </a:p>
          <a:p>
            <a:pPr>
              <a:defRPr sz="830">
                <a:latin typeface="Consolas"/>
              </a:defRPr>
            </a:pPr>
            <a:r>
              <a:rPr sz="1400" dirty="0"/>
              <a:t>Age</a:t>
            </a:r>
            <a:br>
              <a:rPr sz="1400" dirty="0"/>
            </a:br>
            <a:r>
              <a:rPr sz="1400" dirty="0"/>
              <a:t>26-35    219587</a:t>
            </a:r>
            <a:br>
              <a:rPr sz="1400" dirty="0"/>
            </a:br>
            <a:r>
              <a:rPr sz="1400" dirty="0"/>
              <a:t>36-45    110013</a:t>
            </a:r>
            <a:br>
              <a:rPr sz="1400" dirty="0"/>
            </a:br>
            <a:r>
              <a:rPr sz="1400" dirty="0"/>
              <a:t>18-25     99660</a:t>
            </a:r>
            <a:br>
              <a:rPr sz="1400" dirty="0"/>
            </a:br>
            <a:r>
              <a:rPr sz="1400" dirty="0"/>
              <a:t>46-50     45701</a:t>
            </a:r>
            <a:br>
              <a:rPr sz="1400" dirty="0"/>
            </a:br>
            <a:r>
              <a:rPr sz="1400" dirty="0"/>
              <a:t>51-55     38501</a:t>
            </a:r>
            <a:br>
              <a:rPr sz="1400" dirty="0"/>
            </a:br>
            <a:r>
              <a:rPr sz="1400" dirty="0"/>
              <a:t>55+       21504</a:t>
            </a:r>
            <a:br>
              <a:rPr sz="1400" dirty="0"/>
            </a:br>
            <a:r>
              <a:rPr sz="1400" dirty="0"/>
              <a:t>0-17      15102</a:t>
            </a:r>
            <a:br>
              <a:rPr sz="1400" dirty="0"/>
            </a:br>
            <a:r>
              <a:rPr sz="1400" dirty="0"/>
              <a:t>Name: count, </a:t>
            </a:r>
            <a:r>
              <a:rPr sz="1400" dirty="0" err="1"/>
              <a:t>dtype</a:t>
            </a:r>
            <a:r>
              <a:rPr sz="1400" dirty="0"/>
              <a:t>: int64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DD43A-62E8-65E0-8EC3-C472D575BFBA}"/>
              </a:ext>
            </a:extLst>
          </p:cNvPr>
          <p:cNvSpPr txBox="1"/>
          <p:nvPr/>
        </p:nvSpPr>
        <p:spPr>
          <a:xfrm>
            <a:off x="982099" y="4182357"/>
            <a:ext cx="9626907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26-35 age group has the most transaction records (219,587), while 0-17 has the fewest (15,102). This describes transaction frequency by age group, not unique-customer count.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45649B-2B50-D481-1B84-8F0B0038D20C}"/>
              </a:ext>
            </a:extLst>
          </p:cNvPr>
          <p:cNvSpPr/>
          <p:nvPr/>
        </p:nvSpPr>
        <p:spPr>
          <a:xfrm>
            <a:off x="6305907" y="1629203"/>
            <a:ext cx="3388360" cy="228129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978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16004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24: Gender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23"/>
            <a:ext cx="20464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400" dirty="0" err="1"/>
              <a:t>gender_count</a:t>
            </a:r>
            <a:r>
              <a:rPr sz="1400" dirty="0"/>
              <a:t> = </a:t>
            </a:r>
            <a:r>
              <a:rPr sz="1400" dirty="0" err="1"/>
              <a:t>df</a:t>
            </a:r>
            <a:r>
              <a:rPr sz="1400" dirty="0"/>
              <a:t>['Gender'].</a:t>
            </a:r>
            <a:r>
              <a:rPr sz="1400" dirty="0" err="1"/>
              <a:t>value_counts</a:t>
            </a:r>
            <a:r>
              <a:rPr sz="1400" dirty="0"/>
              <a:t>()</a:t>
            </a:r>
            <a:br>
              <a:rPr sz="1400" dirty="0"/>
            </a:br>
            <a:br>
              <a:rPr sz="1400" dirty="0"/>
            </a:br>
            <a:r>
              <a:rPr sz="1400" dirty="0" err="1"/>
              <a:t>gender_count</a:t>
            </a:r>
            <a:endParaRPr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833120" y="3035046"/>
            <a:ext cx="26480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  <a:endParaRPr lang="en-IN" sz="1400" dirty="0"/>
          </a:p>
          <a:p>
            <a:pPr>
              <a:defRPr sz="1200" b="1"/>
            </a:pPr>
            <a:endParaRPr sz="1400" dirty="0"/>
          </a:p>
          <a:p>
            <a:pPr>
              <a:defRPr sz="830">
                <a:latin typeface="Consolas"/>
              </a:defRPr>
            </a:pPr>
            <a:r>
              <a:rPr sz="1400" dirty="0"/>
              <a:t>Gender</a:t>
            </a:r>
            <a:br>
              <a:rPr sz="1400" dirty="0"/>
            </a:br>
            <a:r>
              <a:rPr sz="1400" dirty="0"/>
              <a:t>M    </a:t>
            </a:r>
            <a:r>
              <a:rPr lang="en-IN" sz="1400" dirty="0"/>
              <a:t>	</a:t>
            </a:r>
            <a:r>
              <a:rPr sz="1400" dirty="0"/>
              <a:t>414259</a:t>
            </a:r>
            <a:br>
              <a:rPr sz="1400" dirty="0"/>
            </a:br>
            <a:r>
              <a:rPr sz="1400" dirty="0"/>
              <a:t>F    </a:t>
            </a:r>
            <a:r>
              <a:rPr lang="en-IN" sz="1400" dirty="0"/>
              <a:t>	</a:t>
            </a:r>
            <a:r>
              <a:rPr sz="1400" dirty="0"/>
              <a:t>135809</a:t>
            </a:r>
            <a:br>
              <a:rPr sz="1400" dirty="0"/>
            </a:br>
            <a:r>
              <a:rPr sz="1400" dirty="0"/>
              <a:t>Name: count, </a:t>
            </a:r>
            <a:r>
              <a:rPr sz="1400" dirty="0" err="1"/>
              <a:t>dtype</a:t>
            </a:r>
            <a:r>
              <a:rPr sz="1400" dirty="0"/>
              <a:t>: int64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480" y="4770281"/>
            <a:ext cx="399796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There are 414,259 male transaction records and 135,809 female transaction records. The dataset therefore contains more male than female transaction 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670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24/85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C5BFDB-07DE-70CC-E471-1C71024749F4}"/>
              </a:ext>
            </a:extLst>
          </p:cNvPr>
          <p:cNvCxnSpPr>
            <a:cxnSpLocks/>
          </p:cNvCxnSpPr>
          <p:nvPr/>
        </p:nvCxnSpPr>
        <p:spPr>
          <a:xfrm>
            <a:off x="535432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E69E18F-6374-1F59-2678-B762E8574593}"/>
              </a:ext>
            </a:extLst>
          </p:cNvPr>
          <p:cNvSpPr txBox="1"/>
          <p:nvPr/>
        </p:nvSpPr>
        <p:spPr>
          <a:xfrm>
            <a:off x="5689600" y="195888"/>
            <a:ext cx="54508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25: Age Group - Purchase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59A5C7-1240-A0E3-8BC7-D59743156E2B}"/>
              </a:ext>
            </a:extLst>
          </p:cNvPr>
          <p:cNvSpPr txBox="1"/>
          <p:nvPr/>
        </p:nvSpPr>
        <p:spPr>
          <a:xfrm>
            <a:off x="5569226" y="989424"/>
            <a:ext cx="26814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200" dirty="0" err="1"/>
              <a:t>age_purchase</a:t>
            </a:r>
            <a:r>
              <a:rPr sz="1200" dirty="0"/>
              <a:t> = </a:t>
            </a:r>
            <a:r>
              <a:rPr sz="1200" dirty="0" err="1"/>
              <a:t>df.groupby</a:t>
            </a:r>
            <a:r>
              <a:rPr sz="1200" dirty="0"/>
              <a:t>('Age')['Purchase'].sum().</a:t>
            </a:r>
            <a:r>
              <a:rPr sz="1200" dirty="0" err="1"/>
              <a:t>sort_values</a:t>
            </a:r>
            <a:r>
              <a:rPr sz="1200" dirty="0"/>
              <a:t>(ascending=False)</a:t>
            </a:r>
            <a:br>
              <a:rPr sz="1200" dirty="0"/>
            </a:br>
            <a:br>
              <a:rPr sz="1200" dirty="0"/>
            </a:br>
            <a:r>
              <a:rPr sz="1200" dirty="0" err="1"/>
              <a:t>age_purchase</a:t>
            </a:r>
            <a:endParaRPr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F1B48B-3726-A711-CE73-D2DBC69076EE}"/>
              </a:ext>
            </a:extLst>
          </p:cNvPr>
          <p:cNvSpPr txBox="1"/>
          <p:nvPr/>
        </p:nvSpPr>
        <p:spPr>
          <a:xfrm>
            <a:off x="7956473" y="2282319"/>
            <a:ext cx="268146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400" dirty="0"/>
              <a:t>Age</a:t>
            </a:r>
            <a:br>
              <a:rPr sz="1400" dirty="0"/>
            </a:br>
            <a:r>
              <a:rPr sz="1400" dirty="0"/>
              <a:t>26-35    2031770578</a:t>
            </a:r>
            <a:br>
              <a:rPr sz="1400" dirty="0"/>
            </a:br>
            <a:r>
              <a:rPr sz="1400" dirty="0"/>
              <a:t>36-45    1026569884</a:t>
            </a:r>
            <a:br>
              <a:rPr sz="1400" dirty="0"/>
            </a:br>
            <a:r>
              <a:rPr sz="1400" dirty="0"/>
              <a:t>18-25     913848675</a:t>
            </a:r>
            <a:br>
              <a:rPr sz="1400" dirty="0"/>
            </a:br>
            <a:r>
              <a:rPr sz="1400" dirty="0"/>
              <a:t>46-50     420843403</a:t>
            </a:r>
            <a:br>
              <a:rPr sz="1400" dirty="0"/>
            </a:br>
            <a:r>
              <a:rPr sz="1400" dirty="0"/>
              <a:t>51-55     367099644</a:t>
            </a:r>
            <a:br>
              <a:rPr sz="1400" dirty="0"/>
            </a:br>
            <a:r>
              <a:rPr sz="1400" dirty="0"/>
              <a:t>55+       200767375</a:t>
            </a:r>
            <a:br>
              <a:rPr sz="1400" dirty="0"/>
            </a:br>
            <a:r>
              <a:rPr sz="1400" dirty="0"/>
              <a:t>0-17      134913183</a:t>
            </a:r>
            <a:br>
              <a:rPr sz="1400" dirty="0"/>
            </a:br>
            <a:r>
              <a:rPr sz="1400" dirty="0"/>
              <a:t>Name: Purchase, </a:t>
            </a:r>
            <a:r>
              <a:rPr sz="1400" dirty="0" err="1"/>
              <a:t>dtype</a:t>
            </a:r>
            <a:r>
              <a:rPr sz="1400" dirty="0"/>
              <a:t>: int64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6934DE-4EF4-897D-D099-2A8E26C2134B}"/>
              </a:ext>
            </a:extLst>
          </p:cNvPr>
          <p:cNvSpPr txBox="1"/>
          <p:nvPr/>
        </p:nvSpPr>
        <p:spPr>
          <a:xfrm>
            <a:off x="5569225" y="4867741"/>
            <a:ext cx="64652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 26-35 age group contributes the largest total Purchase amount, 2,031,770,578. The 0-17 group contributes the smallest total, 134,913,183.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3FA8CA-EC96-4630-3C4C-55B22D8B4757}"/>
              </a:ext>
            </a:extLst>
          </p:cNvPr>
          <p:cNvSpPr txBox="1"/>
          <p:nvPr/>
        </p:nvSpPr>
        <p:spPr>
          <a:xfrm>
            <a:off x="10306992" y="6351184"/>
            <a:ext cx="8791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25/85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131502-3349-B80F-042D-0CE451DD55BC}"/>
              </a:ext>
            </a:extLst>
          </p:cNvPr>
          <p:cNvSpPr/>
          <p:nvPr/>
        </p:nvSpPr>
        <p:spPr>
          <a:xfrm>
            <a:off x="609600" y="3429000"/>
            <a:ext cx="3149598" cy="122428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F5F000-3603-FDC4-0878-85F6914C5EF9}"/>
              </a:ext>
            </a:extLst>
          </p:cNvPr>
          <p:cNvSpPr/>
          <p:nvPr/>
        </p:nvSpPr>
        <p:spPr>
          <a:xfrm>
            <a:off x="7731760" y="2534423"/>
            <a:ext cx="3627116" cy="233331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79" y="201168"/>
            <a:ext cx="459740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26: Average Purchase by 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79" y="841247"/>
            <a:ext cx="38760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200" dirty="0" err="1"/>
              <a:t>age_avg_purchase</a:t>
            </a:r>
            <a:r>
              <a:rPr sz="1200" dirty="0"/>
              <a:t> = </a:t>
            </a:r>
            <a:r>
              <a:rPr sz="1200" dirty="0" err="1"/>
              <a:t>df.groupby</a:t>
            </a:r>
            <a:r>
              <a:rPr sz="1200" dirty="0"/>
              <a:t>('Age')['Purchase'].mean()</a:t>
            </a:r>
            <a:br>
              <a:rPr sz="1200" dirty="0"/>
            </a:br>
            <a:br>
              <a:rPr sz="1200" dirty="0"/>
            </a:br>
            <a:r>
              <a:rPr sz="1200" dirty="0" err="1"/>
              <a:t>age_avg_purchase</a:t>
            </a:r>
            <a:endParaRPr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183639" y="2070204"/>
            <a:ext cx="3632201" cy="256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600" dirty="0"/>
              <a:t>Age</a:t>
            </a:r>
            <a:br>
              <a:rPr sz="1600" dirty="0"/>
            </a:br>
            <a:r>
              <a:rPr sz="1600" dirty="0"/>
              <a:t>0-17     8933.464640</a:t>
            </a:r>
            <a:br>
              <a:rPr sz="1600" dirty="0"/>
            </a:br>
            <a:r>
              <a:rPr sz="1600" dirty="0"/>
              <a:t>18-25    9169.663606</a:t>
            </a:r>
            <a:br>
              <a:rPr sz="1600" dirty="0"/>
            </a:br>
            <a:r>
              <a:rPr sz="1600" dirty="0"/>
              <a:t>26-35    9252.690633</a:t>
            </a:r>
            <a:br>
              <a:rPr sz="1600" dirty="0"/>
            </a:br>
            <a:r>
              <a:rPr sz="1600" dirty="0"/>
              <a:t>36-45    9331.350695</a:t>
            </a:r>
            <a:br>
              <a:rPr sz="1600" dirty="0"/>
            </a:br>
            <a:r>
              <a:rPr sz="1600" dirty="0"/>
              <a:t>46-50    9208.625697</a:t>
            </a:r>
            <a:br>
              <a:rPr sz="1600" dirty="0"/>
            </a:br>
            <a:r>
              <a:rPr sz="1600" dirty="0"/>
              <a:t>51-55    9534.808031</a:t>
            </a:r>
            <a:br>
              <a:rPr sz="1600" dirty="0"/>
            </a:br>
            <a:r>
              <a:rPr sz="1600" dirty="0"/>
              <a:t>55+      9336.280459</a:t>
            </a:r>
            <a:br>
              <a:rPr sz="1600" dirty="0"/>
            </a:br>
            <a:r>
              <a:rPr sz="1600" dirty="0"/>
              <a:t>Name: Purchase, </a:t>
            </a:r>
            <a:r>
              <a:rPr sz="1600" dirty="0" err="1"/>
              <a:t>dtype</a:t>
            </a:r>
            <a:r>
              <a:rPr sz="1600" dirty="0"/>
              <a:t>: float64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92" y="5118609"/>
            <a:ext cx="49480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Average purchase differs by age group. The highest average is for 51-55 at about 9,534.81, while 0-17 has the lowest at about 8,933.46.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73B831-3916-F341-6269-EA153E88668E}"/>
              </a:ext>
            </a:extLst>
          </p:cNvPr>
          <p:cNvCxnSpPr/>
          <p:nvPr/>
        </p:nvCxnSpPr>
        <p:spPr>
          <a:xfrm>
            <a:off x="5486400" y="0"/>
            <a:ext cx="7112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93E8C70-A6B4-2D80-F89E-5F0686ACE359}"/>
              </a:ext>
            </a:extLst>
          </p:cNvPr>
          <p:cNvSpPr txBox="1"/>
          <p:nvPr/>
        </p:nvSpPr>
        <p:spPr>
          <a:xfrm>
            <a:off x="5679440" y="210760"/>
            <a:ext cx="60706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27: Total Purchase by Gender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E291FC-95BF-9CBC-F210-F5807858A647}"/>
              </a:ext>
            </a:extLst>
          </p:cNvPr>
          <p:cNvSpPr txBox="1"/>
          <p:nvPr/>
        </p:nvSpPr>
        <p:spPr>
          <a:xfrm>
            <a:off x="5728397" y="827993"/>
            <a:ext cx="29863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>
                <a:latin typeface="Consolas"/>
              </a:rPr>
              <a:t>CODE</a:t>
            </a:r>
          </a:p>
          <a:p>
            <a:pPr>
              <a:defRPr sz="919">
                <a:latin typeface="Consolas"/>
              </a:defRPr>
            </a:pPr>
            <a:r>
              <a:rPr sz="1200" dirty="0" err="1">
                <a:latin typeface="Consolas"/>
              </a:rPr>
              <a:t>gender_purchase</a:t>
            </a:r>
            <a:r>
              <a:rPr sz="1200" dirty="0">
                <a:latin typeface="Consolas"/>
              </a:rPr>
              <a:t> = </a:t>
            </a:r>
            <a:r>
              <a:rPr sz="1200" dirty="0" err="1">
                <a:latin typeface="Consolas"/>
              </a:rPr>
              <a:t>df.groupby</a:t>
            </a:r>
            <a:r>
              <a:rPr sz="1200" dirty="0">
                <a:latin typeface="Consolas"/>
              </a:rPr>
              <a:t>('Gender')['Purchase'].sum()</a:t>
            </a:r>
            <a:br>
              <a:rPr sz="1200" dirty="0">
                <a:latin typeface="Consolas"/>
              </a:rPr>
            </a:br>
            <a:br>
              <a:rPr sz="1200" dirty="0">
                <a:latin typeface="Consolas"/>
              </a:rPr>
            </a:br>
            <a:r>
              <a:rPr sz="1200" dirty="0" err="1">
                <a:latin typeface="Consolas"/>
              </a:rPr>
              <a:t>gender_purchase</a:t>
            </a:r>
            <a:endParaRPr sz="1200" dirty="0">
              <a:latin typeface="Consola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6920ED-44E6-0FC3-86AB-B25AAF81EDF6}"/>
              </a:ext>
            </a:extLst>
          </p:cNvPr>
          <p:cNvSpPr txBox="1"/>
          <p:nvPr/>
        </p:nvSpPr>
        <p:spPr>
          <a:xfrm>
            <a:off x="7585136" y="2641092"/>
            <a:ext cx="33165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/>
              <a:t>OUTPUT / RESULT</a:t>
            </a:r>
            <a:endParaRPr lang="en-IN" sz="1600" dirty="0"/>
          </a:p>
          <a:p>
            <a:pPr>
              <a:defRPr sz="1200" b="1"/>
            </a:pPr>
            <a:endParaRPr sz="1600" dirty="0"/>
          </a:p>
          <a:p>
            <a:pPr>
              <a:defRPr sz="830">
                <a:latin typeface="Consolas"/>
              </a:defRPr>
            </a:pPr>
            <a:r>
              <a:rPr lang="en-IN" sz="1600" dirty="0"/>
              <a:t>  </a:t>
            </a:r>
            <a:r>
              <a:rPr sz="1600" dirty="0"/>
              <a:t>Gender</a:t>
            </a:r>
            <a:br>
              <a:rPr sz="1600" dirty="0"/>
            </a:br>
            <a:r>
              <a:rPr lang="en-IN" sz="1600" dirty="0"/>
              <a:t>	</a:t>
            </a:r>
            <a:r>
              <a:rPr sz="1600" dirty="0"/>
              <a:t>F    1186232642</a:t>
            </a:r>
            <a:br>
              <a:rPr sz="1600" dirty="0"/>
            </a:br>
            <a:r>
              <a:rPr lang="en-IN" sz="1600" dirty="0"/>
              <a:t>	</a:t>
            </a:r>
            <a:r>
              <a:rPr sz="1600" dirty="0"/>
              <a:t>M    3909580100</a:t>
            </a:r>
            <a:br>
              <a:rPr sz="1600" dirty="0"/>
            </a:br>
            <a:r>
              <a:rPr sz="1600" dirty="0"/>
              <a:t>Name: Purchase, </a:t>
            </a:r>
            <a:r>
              <a:rPr sz="1600" dirty="0" err="1"/>
              <a:t>dtype</a:t>
            </a:r>
            <a:r>
              <a:rPr sz="1600" dirty="0"/>
              <a:t>: int64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DC9201-F23F-971F-4BDF-F557C49F7549}"/>
              </a:ext>
            </a:extLst>
          </p:cNvPr>
          <p:cNvSpPr txBox="1"/>
          <p:nvPr/>
        </p:nvSpPr>
        <p:spPr>
          <a:xfrm>
            <a:off x="5801360" y="5073904"/>
            <a:ext cx="599716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Male transaction records account for 3,909,580,100 in total Purchase, compared with 1,186,232,642 for female records. This is total transaction value, not per-customer spending.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E31496-6B6D-9E61-8A8F-7C0C252541E6}"/>
              </a:ext>
            </a:extLst>
          </p:cNvPr>
          <p:cNvSpPr/>
          <p:nvPr/>
        </p:nvSpPr>
        <p:spPr>
          <a:xfrm>
            <a:off x="7294880" y="3064248"/>
            <a:ext cx="3911600" cy="156966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E56F8A-BD3C-4E31-F4C8-60F173141C2E}"/>
              </a:ext>
            </a:extLst>
          </p:cNvPr>
          <p:cNvSpPr/>
          <p:nvPr/>
        </p:nvSpPr>
        <p:spPr>
          <a:xfrm>
            <a:off x="934720" y="2341610"/>
            <a:ext cx="3972560" cy="242342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7462" y="284114"/>
            <a:ext cx="46786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28: Average Purchase by Gender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8364" y="1302914"/>
            <a:ext cx="3835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200" dirty="0" err="1"/>
              <a:t>df.groupby</a:t>
            </a:r>
            <a:r>
              <a:rPr sz="1200" dirty="0"/>
              <a:t>('Gender')['Purchase'].mean()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9884" y="2555685"/>
            <a:ext cx="39885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600" dirty="0"/>
              <a:t>Gender</a:t>
            </a:r>
            <a:br>
              <a:rPr sz="1600" dirty="0"/>
            </a:br>
            <a:r>
              <a:rPr sz="1600" dirty="0"/>
              <a:t>F    8734.565765</a:t>
            </a:r>
            <a:br>
              <a:rPr sz="1600" dirty="0"/>
            </a:br>
            <a:r>
              <a:rPr sz="1600" dirty="0"/>
              <a:t>M    9437.526040</a:t>
            </a:r>
            <a:br>
              <a:rPr sz="1600" dirty="0"/>
            </a:br>
            <a:r>
              <a:rPr sz="1600" dirty="0"/>
              <a:t>Name: Purchase, </a:t>
            </a:r>
            <a:r>
              <a:rPr sz="1600" dirty="0" err="1"/>
              <a:t>dtype</a:t>
            </a:r>
            <a:r>
              <a:rPr sz="1600" dirty="0"/>
              <a:t>: float64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" y="5002163"/>
            <a:ext cx="47955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Average Purchase is about 9,437.53 for male transactions and 8,734.57 for female transactions. This compares the average transaction amount by gender.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53C31D-B0B3-FB3D-717F-BE2DD8334904}"/>
              </a:ext>
            </a:extLst>
          </p:cNvPr>
          <p:cNvCxnSpPr/>
          <p:nvPr/>
        </p:nvCxnSpPr>
        <p:spPr>
          <a:xfrm>
            <a:off x="557784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C3668C7-EA4B-8DA8-EA25-D6A7AB180C77}"/>
              </a:ext>
            </a:extLst>
          </p:cNvPr>
          <p:cNvSpPr txBox="1"/>
          <p:nvPr/>
        </p:nvSpPr>
        <p:spPr>
          <a:xfrm>
            <a:off x="5803725" y="342867"/>
            <a:ext cx="533895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29: City Category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45CF1C-59B3-A008-6195-A19D6CE0A431}"/>
              </a:ext>
            </a:extLst>
          </p:cNvPr>
          <p:cNvSpPr txBox="1"/>
          <p:nvPr/>
        </p:nvSpPr>
        <p:spPr>
          <a:xfrm>
            <a:off x="5877682" y="1333692"/>
            <a:ext cx="3261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1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100" dirty="0" err="1"/>
              <a:t>df</a:t>
            </a:r>
            <a:r>
              <a:rPr sz="1100" dirty="0"/>
              <a:t>['</a:t>
            </a:r>
            <a:r>
              <a:rPr sz="1100" dirty="0" err="1"/>
              <a:t>City_Category</a:t>
            </a:r>
            <a:r>
              <a:rPr sz="1100" dirty="0"/>
              <a:t>'].</a:t>
            </a:r>
            <a:r>
              <a:rPr sz="1100" dirty="0" err="1"/>
              <a:t>value_counts</a:t>
            </a:r>
            <a:r>
              <a:rPr sz="1100" dirty="0"/>
              <a:t>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9F24FD-07EF-3CDC-A8CE-22CD155EE452}"/>
              </a:ext>
            </a:extLst>
          </p:cNvPr>
          <p:cNvSpPr txBox="1"/>
          <p:nvPr/>
        </p:nvSpPr>
        <p:spPr>
          <a:xfrm>
            <a:off x="6858183" y="2185730"/>
            <a:ext cx="386831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  <a:endParaRPr lang="en-IN" sz="1400" dirty="0"/>
          </a:p>
          <a:p>
            <a:pPr>
              <a:defRPr sz="1200" b="1"/>
            </a:pPr>
            <a:endParaRPr sz="1400" dirty="0"/>
          </a:p>
          <a:p>
            <a:pPr>
              <a:defRPr sz="830">
                <a:latin typeface="Consolas"/>
              </a:defRPr>
            </a:pPr>
            <a:r>
              <a:rPr sz="1400" dirty="0" err="1"/>
              <a:t>City_Category</a:t>
            </a:r>
            <a:br>
              <a:rPr sz="1400" dirty="0"/>
            </a:br>
            <a:r>
              <a:rPr lang="en-IN" sz="1400" dirty="0"/>
              <a:t>	</a:t>
            </a:r>
            <a:r>
              <a:rPr sz="1400" dirty="0"/>
              <a:t>B    </a:t>
            </a:r>
            <a:r>
              <a:rPr lang="en-IN" sz="1400" dirty="0"/>
              <a:t>	 </a:t>
            </a:r>
            <a:r>
              <a:rPr sz="1400" dirty="0"/>
              <a:t>231173</a:t>
            </a:r>
            <a:br>
              <a:rPr sz="1400" dirty="0"/>
            </a:br>
            <a:r>
              <a:rPr lang="en-IN" sz="1400" dirty="0"/>
              <a:t>	</a:t>
            </a:r>
            <a:r>
              <a:rPr sz="1400" dirty="0"/>
              <a:t>C    </a:t>
            </a:r>
            <a:r>
              <a:rPr lang="en-IN" sz="1400" dirty="0"/>
              <a:t>	 </a:t>
            </a:r>
            <a:r>
              <a:rPr sz="1400" dirty="0"/>
              <a:t>171175</a:t>
            </a:r>
            <a:br>
              <a:rPr sz="1400" dirty="0"/>
            </a:br>
            <a:r>
              <a:rPr lang="en-IN" sz="1400" dirty="0"/>
              <a:t>	</a:t>
            </a:r>
            <a:r>
              <a:rPr sz="1400" dirty="0"/>
              <a:t>A    </a:t>
            </a:r>
            <a:r>
              <a:rPr lang="en-IN" sz="1400" dirty="0"/>
              <a:t>	 </a:t>
            </a:r>
            <a:r>
              <a:rPr sz="1400" dirty="0"/>
              <a:t>147720</a:t>
            </a:r>
            <a:br>
              <a:rPr sz="1400" dirty="0"/>
            </a:br>
            <a:r>
              <a:rPr sz="1400" dirty="0"/>
              <a:t>Name: count, </a:t>
            </a:r>
            <a:r>
              <a:rPr sz="1400" dirty="0" err="1"/>
              <a:t>dtype</a:t>
            </a:r>
            <a:r>
              <a:rPr sz="1400" dirty="0"/>
              <a:t>: int64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EC6B61-4B6C-A86D-4FD3-A2087177A06A}"/>
              </a:ext>
            </a:extLst>
          </p:cNvPr>
          <p:cNvSpPr txBox="1"/>
          <p:nvPr/>
        </p:nvSpPr>
        <p:spPr>
          <a:xfrm>
            <a:off x="5745602" y="4953965"/>
            <a:ext cx="62533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City category B has the most transaction records (231,173), followed by C (171,175) and A (147,720).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D1BFBC-43F0-CA51-A3D2-6D2ED50DF1D7}"/>
              </a:ext>
            </a:extLst>
          </p:cNvPr>
          <p:cNvSpPr/>
          <p:nvPr/>
        </p:nvSpPr>
        <p:spPr>
          <a:xfrm>
            <a:off x="772160" y="2887618"/>
            <a:ext cx="4079240" cy="121702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8FF18-057B-8644-8B86-72EDD4F50283}"/>
              </a:ext>
            </a:extLst>
          </p:cNvPr>
          <p:cNvSpPr/>
          <p:nvPr/>
        </p:nvSpPr>
        <p:spPr>
          <a:xfrm>
            <a:off x="6614161" y="2555684"/>
            <a:ext cx="3434080" cy="183519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5085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30: City-wise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7"/>
            <a:ext cx="3601718" cy="842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city_sales</a:t>
            </a:r>
            <a:r>
              <a:rPr dirty="0"/>
              <a:t> = </a:t>
            </a:r>
            <a:r>
              <a:rPr dirty="0" err="1"/>
              <a:t>df.groupby</a:t>
            </a:r>
            <a:r>
              <a:rPr dirty="0"/>
              <a:t>('</a:t>
            </a:r>
            <a:r>
              <a:rPr dirty="0" err="1"/>
              <a:t>City_Category</a:t>
            </a:r>
            <a:r>
              <a:rPr dirty="0"/>
              <a:t>')['Purchase'].sum()</a:t>
            </a:r>
            <a:br>
              <a:rPr dirty="0"/>
            </a:br>
            <a:br>
              <a:rPr dirty="0"/>
            </a:br>
            <a:r>
              <a:rPr dirty="0" err="1"/>
              <a:t>city_sales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21080" y="2169004"/>
            <a:ext cx="35204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/>
              <a:t>OUTPUT / RESULT</a:t>
            </a:r>
            <a:endParaRPr lang="en-IN" sz="1600" dirty="0"/>
          </a:p>
          <a:p>
            <a:pPr>
              <a:defRPr sz="1200" b="1"/>
            </a:pPr>
            <a:endParaRPr sz="1600" dirty="0"/>
          </a:p>
          <a:p>
            <a:pPr>
              <a:defRPr sz="830">
                <a:latin typeface="Consolas"/>
              </a:defRPr>
            </a:pPr>
            <a:r>
              <a:rPr sz="1600" dirty="0" err="1"/>
              <a:t>City_Category</a:t>
            </a:r>
            <a:br>
              <a:rPr sz="1600" dirty="0"/>
            </a:br>
            <a:r>
              <a:rPr lang="en-IN" sz="1600" dirty="0"/>
              <a:t>	</a:t>
            </a:r>
            <a:r>
              <a:rPr sz="1600" dirty="0"/>
              <a:t>A   </a:t>
            </a:r>
            <a:r>
              <a:rPr lang="en-IN" sz="1600" dirty="0"/>
              <a:t>		</a:t>
            </a:r>
            <a:r>
              <a:rPr sz="1600" dirty="0"/>
              <a:t> 1316471661</a:t>
            </a:r>
            <a:br>
              <a:rPr sz="1600" dirty="0"/>
            </a:br>
            <a:r>
              <a:rPr lang="en-IN" sz="1600" dirty="0"/>
              <a:t>	</a:t>
            </a:r>
            <a:r>
              <a:rPr sz="1600" dirty="0"/>
              <a:t>B    </a:t>
            </a:r>
            <a:r>
              <a:rPr lang="en-IN" sz="1600" dirty="0"/>
              <a:t>	 </a:t>
            </a:r>
            <a:r>
              <a:rPr sz="1600" dirty="0"/>
              <a:t>2115533605</a:t>
            </a:r>
            <a:br>
              <a:rPr sz="1600" dirty="0"/>
            </a:br>
            <a:r>
              <a:rPr lang="en-IN" sz="1600" dirty="0"/>
              <a:t>	</a:t>
            </a:r>
            <a:r>
              <a:rPr sz="1600" dirty="0"/>
              <a:t>C    </a:t>
            </a:r>
            <a:r>
              <a:rPr lang="en-IN" sz="1600" dirty="0"/>
              <a:t>	 </a:t>
            </a:r>
            <a:r>
              <a:rPr sz="1600" dirty="0"/>
              <a:t>1663807476</a:t>
            </a:r>
            <a:br>
              <a:rPr sz="1600" dirty="0"/>
            </a:br>
            <a:r>
              <a:rPr sz="1600" dirty="0"/>
              <a:t>Name: Purchase, </a:t>
            </a:r>
            <a:r>
              <a:rPr sz="1600" dirty="0" err="1"/>
              <a:t>dtype</a:t>
            </a:r>
            <a:r>
              <a:rPr sz="1600" dirty="0"/>
              <a:t>: int64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560" y="4516984"/>
            <a:ext cx="502412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City category B has the largest total Purchase, 2,115,533,605. Category A has 1,316,471,661 and category C has 1,663,807,476.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8202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30/85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167B2B-7866-9F2E-A472-7BB020A7E80F}"/>
              </a:ext>
            </a:extLst>
          </p:cNvPr>
          <p:cNvCxnSpPr>
            <a:cxnSpLocks/>
          </p:cNvCxnSpPr>
          <p:nvPr/>
        </p:nvCxnSpPr>
        <p:spPr>
          <a:xfrm>
            <a:off x="53848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8E280B-D92E-3DC9-3710-37606A08DD14}"/>
              </a:ext>
            </a:extLst>
          </p:cNvPr>
          <p:cNvSpPr txBox="1"/>
          <p:nvPr/>
        </p:nvSpPr>
        <p:spPr>
          <a:xfrm>
            <a:off x="5801360" y="182177"/>
            <a:ext cx="466907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31: Average Purchase by City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8D016C-7916-0B18-220D-ED09157D3F54}"/>
              </a:ext>
            </a:extLst>
          </p:cNvPr>
          <p:cNvSpPr txBox="1"/>
          <p:nvPr/>
        </p:nvSpPr>
        <p:spPr>
          <a:xfrm>
            <a:off x="5801360" y="1039069"/>
            <a:ext cx="3434077" cy="41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df.groupby</a:t>
            </a:r>
            <a:r>
              <a:rPr dirty="0"/>
              <a:t>('</a:t>
            </a:r>
            <a:r>
              <a:rPr dirty="0" err="1"/>
              <a:t>City_Category</a:t>
            </a:r>
            <a:r>
              <a:rPr dirty="0"/>
              <a:t>')['Purchase'].mean()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5AE8F-58EB-E870-0C05-BC62F6902618}"/>
              </a:ext>
            </a:extLst>
          </p:cNvPr>
          <p:cNvSpPr txBox="1"/>
          <p:nvPr/>
        </p:nvSpPr>
        <p:spPr>
          <a:xfrm>
            <a:off x="7016038" y="1898911"/>
            <a:ext cx="35503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600" dirty="0" err="1"/>
              <a:t>City_Category</a:t>
            </a:r>
            <a:br>
              <a:rPr sz="1600" dirty="0"/>
            </a:br>
            <a:r>
              <a:rPr sz="1600" dirty="0"/>
              <a:t>A    8911.939216</a:t>
            </a:r>
            <a:br>
              <a:rPr sz="1600" dirty="0"/>
            </a:br>
            <a:r>
              <a:rPr sz="1600" dirty="0"/>
              <a:t>B    9151.300563</a:t>
            </a:r>
            <a:br>
              <a:rPr sz="1600" dirty="0"/>
            </a:br>
            <a:r>
              <a:rPr sz="1600" dirty="0"/>
              <a:t>C    9719.920993</a:t>
            </a:r>
            <a:br>
              <a:rPr sz="1600" dirty="0"/>
            </a:br>
            <a:r>
              <a:rPr sz="1600" dirty="0"/>
              <a:t>Name: Purchase, </a:t>
            </a:r>
            <a:r>
              <a:rPr sz="1600" dirty="0" err="1"/>
              <a:t>dtype</a:t>
            </a:r>
            <a:r>
              <a:rPr sz="1600" dirty="0"/>
              <a:t>: float64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798C09-06BE-B0A5-D2CA-A0BBCD22553F}"/>
              </a:ext>
            </a:extLst>
          </p:cNvPr>
          <p:cNvSpPr txBox="1"/>
          <p:nvPr/>
        </p:nvSpPr>
        <p:spPr>
          <a:xfrm>
            <a:off x="5873955" y="4364271"/>
            <a:ext cx="5718593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Average Purchase is highest in city category C at about 9,719.92 and lowest in A at about 8,911.94. This is an average transaction comparison, not a total-sales comparison.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FA9BD7-62DC-13D7-14B7-1ED2645EA274}"/>
              </a:ext>
            </a:extLst>
          </p:cNvPr>
          <p:cNvSpPr txBox="1"/>
          <p:nvPr/>
        </p:nvSpPr>
        <p:spPr>
          <a:xfrm>
            <a:off x="10456115" y="6363273"/>
            <a:ext cx="4364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31/85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084A45-123E-1ACE-8384-9E8FBB4904B6}"/>
              </a:ext>
            </a:extLst>
          </p:cNvPr>
          <p:cNvSpPr/>
          <p:nvPr/>
        </p:nvSpPr>
        <p:spPr>
          <a:xfrm>
            <a:off x="690880" y="2548389"/>
            <a:ext cx="4043677" cy="181588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B5F670-5961-46B2-F57B-0F27952A5ADB}"/>
              </a:ext>
            </a:extLst>
          </p:cNvPr>
          <p:cNvSpPr/>
          <p:nvPr/>
        </p:nvSpPr>
        <p:spPr>
          <a:xfrm>
            <a:off x="6573520" y="2169004"/>
            <a:ext cx="4597400" cy="190515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831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32: Marital Status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4729480" cy="70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CODE</a:t>
            </a:r>
          </a:p>
          <a:p>
            <a:pPr>
              <a:defRPr sz="919">
                <a:latin typeface="Consolas"/>
              </a:defRPr>
            </a:pPr>
            <a:r>
              <a:t>marital_sales = df.groupby('Marital_Status')['Purchase'].sum()</a:t>
            </a:r>
            <a:br/>
            <a:br/>
            <a:r>
              <a:t>marital_sales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9680" y="2239324"/>
            <a:ext cx="4450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/>
              <a:t>OUTPUT / RESULT</a:t>
            </a:r>
            <a:endParaRPr lang="en-IN" sz="1600" dirty="0"/>
          </a:p>
          <a:p>
            <a:pPr>
              <a:defRPr sz="1200" b="1"/>
            </a:pPr>
            <a:endParaRPr sz="1600" dirty="0"/>
          </a:p>
          <a:p>
            <a:pPr>
              <a:defRPr sz="830">
                <a:latin typeface="Consolas"/>
              </a:defRPr>
            </a:pPr>
            <a:r>
              <a:rPr sz="1600" dirty="0" err="1"/>
              <a:t>Marital_Status</a:t>
            </a:r>
            <a:br>
              <a:rPr sz="1600" dirty="0"/>
            </a:br>
            <a:r>
              <a:rPr lang="en-IN" sz="1600" dirty="0"/>
              <a:t>	</a:t>
            </a:r>
            <a:r>
              <a:rPr sz="1600" dirty="0"/>
              <a:t>0    </a:t>
            </a:r>
            <a:r>
              <a:rPr lang="en-IN" sz="1600" dirty="0"/>
              <a:t>		</a:t>
            </a:r>
            <a:r>
              <a:rPr sz="1600" dirty="0"/>
              <a:t>3008927447</a:t>
            </a:r>
            <a:br>
              <a:rPr sz="1600" dirty="0"/>
            </a:br>
            <a:r>
              <a:rPr lang="en-IN" sz="1600" dirty="0"/>
              <a:t>	</a:t>
            </a:r>
            <a:r>
              <a:rPr sz="1600" dirty="0"/>
              <a:t>1   </a:t>
            </a:r>
            <a:r>
              <a:rPr lang="en-IN" sz="1600" dirty="0"/>
              <a:t>		   </a:t>
            </a:r>
            <a:r>
              <a:rPr sz="1600" dirty="0"/>
              <a:t> 2086885295</a:t>
            </a:r>
            <a:br>
              <a:rPr sz="1600" dirty="0"/>
            </a:br>
            <a:r>
              <a:rPr sz="1600" dirty="0"/>
              <a:t>Name: Purchase, </a:t>
            </a:r>
            <a:r>
              <a:rPr sz="1600" dirty="0" err="1"/>
              <a:t>dtype</a:t>
            </a:r>
            <a:r>
              <a:rPr sz="1600" dirty="0"/>
              <a:t>: int64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633976"/>
            <a:ext cx="501396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Marital status 0 has total Purchase of 3,008,927,447, while status 1 has 2,086,885,295. The code uses the dataset's numeric status values without assigning labels to them.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DC625F-89CF-B759-0494-4CFFF7FD20E4}"/>
              </a:ext>
            </a:extLst>
          </p:cNvPr>
          <p:cNvCxnSpPr>
            <a:cxnSpLocks/>
          </p:cNvCxnSpPr>
          <p:nvPr/>
        </p:nvCxnSpPr>
        <p:spPr>
          <a:xfrm>
            <a:off x="53340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A96C653-4A5C-F738-0810-6C066102088D}"/>
              </a:ext>
            </a:extLst>
          </p:cNvPr>
          <p:cNvSpPr txBox="1"/>
          <p:nvPr/>
        </p:nvSpPr>
        <p:spPr>
          <a:xfrm>
            <a:off x="5894356" y="201168"/>
            <a:ext cx="5460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33: Product Category 1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748C57-2E31-664A-8C91-E905B9326E1C}"/>
              </a:ext>
            </a:extLst>
          </p:cNvPr>
          <p:cNvSpPr txBox="1"/>
          <p:nvPr/>
        </p:nvSpPr>
        <p:spPr>
          <a:xfrm>
            <a:off x="5892800" y="800831"/>
            <a:ext cx="2686459" cy="155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/>
              <a:t>category1_sales = </a:t>
            </a:r>
            <a:r>
              <a:rPr dirty="0" err="1"/>
              <a:t>df.groupby</a:t>
            </a:r>
            <a:r>
              <a:rPr dirty="0"/>
              <a:t>('Product_Category_1')['Purchase'].sum()</a:t>
            </a:r>
            <a:br>
              <a:rPr dirty="0"/>
            </a:br>
            <a:br>
              <a:rPr dirty="0"/>
            </a:br>
            <a:r>
              <a:rPr dirty="0"/>
              <a:t>category1_sales = category1_sales.sort_values(ascending=False)</a:t>
            </a:r>
            <a:br>
              <a:rPr dirty="0"/>
            </a:br>
            <a:br>
              <a:rPr dirty="0"/>
            </a:br>
            <a:r>
              <a:rPr dirty="0"/>
              <a:t>category1_sales.head(10)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59B98-A959-FD9C-12A8-A4448091CB03}"/>
              </a:ext>
            </a:extLst>
          </p:cNvPr>
          <p:cNvSpPr txBox="1"/>
          <p:nvPr/>
        </p:nvSpPr>
        <p:spPr>
          <a:xfrm>
            <a:off x="8850222" y="1845440"/>
            <a:ext cx="30979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200" dirty="0"/>
          </a:p>
          <a:p>
            <a:pPr>
              <a:defRPr sz="830">
                <a:latin typeface="Consolas"/>
              </a:defRPr>
            </a:pPr>
            <a:r>
              <a:rPr sz="1200" dirty="0"/>
              <a:t>Product_Category_1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     </a:t>
            </a:r>
            <a:r>
              <a:rPr lang="en-IN" sz="1200" dirty="0"/>
              <a:t>		</a:t>
            </a:r>
            <a:r>
              <a:rPr sz="1200" dirty="0"/>
              <a:t>1910013754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5      </a:t>
            </a:r>
            <a:r>
              <a:rPr lang="en-IN" sz="1200" dirty="0"/>
              <a:t>		</a:t>
            </a:r>
            <a:r>
              <a:rPr sz="1200" dirty="0"/>
              <a:t>941835229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8      </a:t>
            </a:r>
            <a:r>
              <a:rPr lang="en-IN" sz="1200" dirty="0"/>
              <a:t>		</a:t>
            </a:r>
            <a:r>
              <a:rPr sz="1200" dirty="0"/>
              <a:t>854318799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6      </a:t>
            </a:r>
            <a:r>
              <a:rPr lang="en-IN" sz="1200" dirty="0"/>
              <a:t>		</a:t>
            </a:r>
            <a:r>
              <a:rPr sz="1200" dirty="0"/>
              <a:t>324150302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2      </a:t>
            </a:r>
            <a:r>
              <a:rPr lang="en-IN" sz="1200" dirty="0"/>
              <a:t>		</a:t>
            </a:r>
            <a:r>
              <a:rPr sz="1200" dirty="0"/>
              <a:t>268516186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3      </a:t>
            </a:r>
            <a:r>
              <a:rPr lang="en-IN" sz="1200" dirty="0"/>
              <a:t>		</a:t>
            </a:r>
            <a:r>
              <a:rPr sz="1200" dirty="0"/>
              <a:t>204084713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16     </a:t>
            </a:r>
            <a:r>
              <a:rPr lang="en-IN" sz="1200" dirty="0"/>
              <a:t>		</a:t>
            </a:r>
            <a:r>
              <a:rPr sz="1200" dirty="0"/>
              <a:t>145120612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11     </a:t>
            </a:r>
            <a:r>
              <a:rPr lang="en-IN" sz="1200" dirty="0"/>
              <a:t>		</a:t>
            </a:r>
            <a:r>
              <a:rPr sz="1200" dirty="0"/>
              <a:t>113791115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10     </a:t>
            </a:r>
            <a:r>
              <a:rPr lang="en-IN" sz="1200" dirty="0"/>
              <a:t>		</a:t>
            </a:r>
            <a:r>
              <a:rPr sz="1200" dirty="0"/>
              <a:t>100837301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15      </a:t>
            </a:r>
            <a:r>
              <a:rPr lang="en-IN" sz="1200" dirty="0"/>
              <a:t>		</a:t>
            </a:r>
            <a:r>
              <a:rPr sz="1200" dirty="0"/>
              <a:t>92969042</a:t>
            </a:r>
            <a:br>
              <a:rPr sz="1200" dirty="0"/>
            </a:br>
            <a:r>
              <a:rPr sz="1200" dirty="0"/>
              <a:t>Name: Purchase, </a:t>
            </a:r>
            <a:r>
              <a:rPr sz="1200" dirty="0" err="1"/>
              <a:t>dtype</a:t>
            </a:r>
            <a:r>
              <a:rPr sz="1200" dirty="0"/>
              <a:t>: int64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4B03CD-11FC-B193-791D-A7A117202258}"/>
              </a:ext>
            </a:extLst>
          </p:cNvPr>
          <p:cNvSpPr txBox="1"/>
          <p:nvPr/>
        </p:nvSpPr>
        <p:spPr>
          <a:xfrm>
            <a:off x="5894356" y="5108663"/>
            <a:ext cx="5394938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top 10 Product_Category_1 values by total Purchase are listed. Category 1 has the largest total at 1,910,013,754, followed by category 5 and category 8.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A6F5FC-25DA-21B0-7B1B-7B8183F953F1}"/>
              </a:ext>
            </a:extLst>
          </p:cNvPr>
          <p:cNvSpPr/>
          <p:nvPr/>
        </p:nvSpPr>
        <p:spPr>
          <a:xfrm>
            <a:off x="955040" y="2687380"/>
            <a:ext cx="4013192" cy="156966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96F78A-933C-1056-9688-BF020996B729}"/>
              </a:ext>
            </a:extLst>
          </p:cNvPr>
          <p:cNvSpPr/>
          <p:nvPr/>
        </p:nvSpPr>
        <p:spPr>
          <a:xfrm>
            <a:off x="8579259" y="2239324"/>
            <a:ext cx="3368885" cy="239465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5003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34: Purchase by Product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7"/>
            <a:ext cx="4160520" cy="85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/>
              <a:t>category1_purchase = </a:t>
            </a:r>
            <a:r>
              <a:rPr dirty="0" err="1"/>
              <a:t>df.groupby</a:t>
            </a:r>
            <a:r>
              <a:rPr dirty="0"/>
              <a:t>('Product_Category_1')['Purchase'].sum()</a:t>
            </a:r>
            <a:br>
              <a:rPr dirty="0"/>
            </a:br>
            <a:br>
              <a:rPr dirty="0"/>
            </a:br>
            <a:r>
              <a:rPr dirty="0"/>
              <a:t>category1_purchase.sort_values(ascending=False).head(10)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5186" y="1865416"/>
            <a:ext cx="33325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  <a:endParaRPr lang="en-IN" dirty="0"/>
          </a:p>
          <a:p>
            <a:pPr>
              <a:defRPr sz="1200" b="1"/>
            </a:pPr>
            <a:endParaRPr dirty="0"/>
          </a:p>
          <a:p>
            <a:pPr>
              <a:defRPr sz="830">
                <a:latin typeface="Consolas"/>
              </a:defRPr>
            </a:pPr>
            <a:r>
              <a:rPr sz="1200" dirty="0"/>
              <a:t>Product_Category_1</a:t>
            </a:r>
            <a:br>
              <a:rPr sz="1200" dirty="0"/>
            </a:br>
            <a:r>
              <a:rPr sz="1200" dirty="0"/>
              <a:t>1     1910013754</a:t>
            </a:r>
            <a:br>
              <a:rPr sz="1200" dirty="0"/>
            </a:br>
            <a:r>
              <a:rPr sz="1200" dirty="0"/>
              <a:t>5      941835229</a:t>
            </a:r>
            <a:br>
              <a:rPr sz="1200" dirty="0"/>
            </a:br>
            <a:r>
              <a:rPr sz="1200" dirty="0"/>
              <a:t>8      854318799</a:t>
            </a:r>
            <a:br>
              <a:rPr sz="1200" dirty="0"/>
            </a:br>
            <a:r>
              <a:rPr sz="1200" dirty="0"/>
              <a:t>6      324150302</a:t>
            </a:r>
            <a:br>
              <a:rPr sz="1200" dirty="0"/>
            </a:br>
            <a:r>
              <a:rPr sz="1200" dirty="0"/>
              <a:t>2      268516186</a:t>
            </a:r>
            <a:br>
              <a:rPr sz="1200" dirty="0"/>
            </a:br>
            <a:r>
              <a:rPr sz="1200" dirty="0"/>
              <a:t>3      204084713</a:t>
            </a:r>
            <a:br>
              <a:rPr sz="1200" dirty="0"/>
            </a:br>
            <a:r>
              <a:rPr sz="1200" dirty="0"/>
              <a:t>16     145120612</a:t>
            </a:r>
            <a:br>
              <a:rPr sz="1200" dirty="0"/>
            </a:br>
            <a:r>
              <a:rPr sz="1200" dirty="0"/>
              <a:t>11     113791115</a:t>
            </a:r>
            <a:br>
              <a:rPr sz="1200" dirty="0"/>
            </a:br>
            <a:r>
              <a:rPr sz="1200" dirty="0"/>
              <a:t>10     100837301</a:t>
            </a:r>
            <a:br>
              <a:rPr sz="1200" dirty="0"/>
            </a:br>
            <a:r>
              <a:rPr sz="1200" dirty="0"/>
              <a:t>15      92969042</a:t>
            </a:r>
            <a:br>
              <a:rPr sz="1200" dirty="0"/>
            </a:br>
            <a:r>
              <a:rPr sz="1200" dirty="0"/>
              <a:t>Name: Purchase, </a:t>
            </a:r>
            <a:r>
              <a:rPr sz="1200" dirty="0" err="1"/>
              <a:t>dtype</a:t>
            </a:r>
            <a:r>
              <a:rPr sz="1200" dirty="0"/>
              <a:t>: int64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55013"/>
            <a:ext cx="48006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This repeats the same total-sales ranking as cell 33 using a second variable name. It confirms the same top 10 Product_Category_1 categories by total Purchase.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502157-4B14-A9E0-BD23-460C1A1D57B8}"/>
              </a:ext>
            </a:extLst>
          </p:cNvPr>
          <p:cNvCxnSpPr/>
          <p:nvPr/>
        </p:nvCxnSpPr>
        <p:spPr>
          <a:xfrm>
            <a:off x="567944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4EB4F89-1291-F885-5F7E-B0D3DD810753}"/>
              </a:ext>
            </a:extLst>
          </p:cNvPr>
          <p:cNvSpPr txBox="1"/>
          <p:nvPr/>
        </p:nvSpPr>
        <p:spPr>
          <a:xfrm>
            <a:off x="6007100" y="201168"/>
            <a:ext cx="5867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35: Average Purchase by Product Category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717D03-1AE8-7D76-213A-25524EC839A8}"/>
              </a:ext>
            </a:extLst>
          </p:cNvPr>
          <p:cNvSpPr txBox="1"/>
          <p:nvPr/>
        </p:nvSpPr>
        <p:spPr>
          <a:xfrm>
            <a:off x="5890587" y="848510"/>
            <a:ext cx="2886383" cy="1125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avg_category_purchase</a:t>
            </a:r>
            <a:r>
              <a:rPr dirty="0"/>
              <a:t> = </a:t>
            </a:r>
            <a:r>
              <a:rPr dirty="0" err="1"/>
              <a:t>df.groupby</a:t>
            </a:r>
            <a:r>
              <a:rPr dirty="0"/>
              <a:t>('Product_Category_1')['Purchase'].mean()</a:t>
            </a:r>
            <a:br>
              <a:rPr dirty="0"/>
            </a:br>
            <a:br>
              <a:rPr dirty="0"/>
            </a:br>
            <a:r>
              <a:rPr dirty="0" err="1"/>
              <a:t>avg_category_purchase.sort_values</a:t>
            </a:r>
            <a:r>
              <a:rPr dirty="0"/>
              <a:t>(ascending=False).head(15)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CAE49-5A87-9286-B6A1-E7C6F8F7CE6D}"/>
              </a:ext>
            </a:extLst>
          </p:cNvPr>
          <p:cNvSpPr txBox="1"/>
          <p:nvPr/>
        </p:nvSpPr>
        <p:spPr>
          <a:xfrm>
            <a:off x="7821929" y="1993132"/>
            <a:ext cx="3384551" cy="344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200" dirty="0"/>
              <a:t>Product_Category_1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10    </a:t>
            </a:r>
            <a:r>
              <a:rPr lang="en-IN" sz="1200" dirty="0"/>
              <a:t>		</a:t>
            </a:r>
            <a:r>
              <a:rPr sz="1200" dirty="0"/>
              <a:t>19675.570927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7     </a:t>
            </a:r>
            <a:r>
              <a:rPr lang="en-IN" sz="1200" dirty="0"/>
              <a:t>		</a:t>
            </a:r>
            <a:r>
              <a:rPr sz="1200" dirty="0"/>
              <a:t>16365.689600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6     </a:t>
            </a:r>
            <a:r>
              <a:rPr lang="en-IN" sz="1200" dirty="0"/>
              <a:t>		</a:t>
            </a:r>
            <a:r>
              <a:rPr sz="1200" dirty="0"/>
              <a:t>15838.478550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9     </a:t>
            </a:r>
            <a:r>
              <a:rPr lang="en-IN" sz="1200" dirty="0"/>
              <a:t>		</a:t>
            </a:r>
            <a:r>
              <a:rPr sz="1200" dirty="0"/>
              <a:t>15537.375610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15    </a:t>
            </a:r>
            <a:r>
              <a:rPr lang="en-IN" sz="1200" dirty="0"/>
              <a:t>		</a:t>
            </a:r>
            <a:r>
              <a:rPr sz="1200" dirty="0"/>
              <a:t>14780.451828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16    </a:t>
            </a:r>
            <a:r>
              <a:rPr lang="en-IN" sz="1200" dirty="0"/>
              <a:t>		</a:t>
            </a:r>
            <a:r>
              <a:rPr sz="1200" dirty="0"/>
              <a:t>14766.037037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     </a:t>
            </a:r>
            <a:r>
              <a:rPr lang="en-IN" sz="1200" dirty="0"/>
              <a:t>		</a:t>
            </a:r>
            <a:r>
              <a:rPr sz="1200" dirty="0"/>
              <a:t>13606.218596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14    </a:t>
            </a:r>
            <a:r>
              <a:rPr lang="en-IN" sz="1200" dirty="0"/>
              <a:t>		</a:t>
            </a:r>
            <a:r>
              <a:rPr sz="1200" dirty="0"/>
              <a:t>13141.625739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2     </a:t>
            </a:r>
            <a:r>
              <a:rPr lang="en-IN" sz="1200" dirty="0"/>
              <a:t>		</a:t>
            </a:r>
            <a:r>
              <a:rPr sz="1200" dirty="0"/>
              <a:t>11251.935384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17    </a:t>
            </a:r>
            <a:r>
              <a:rPr lang="en-IN" sz="1200" dirty="0"/>
              <a:t>		</a:t>
            </a:r>
            <a:r>
              <a:rPr sz="1200" dirty="0"/>
              <a:t>10170.759516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3     </a:t>
            </a:r>
            <a:r>
              <a:rPr lang="en-IN" sz="1200" dirty="0"/>
              <a:t>		</a:t>
            </a:r>
            <a:r>
              <a:rPr sz="1200" dirty="0"/>
              <a:t>10096.705734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8      </a:t>
            </a:r>
            <a:r>
              <a:rPr lang="en-IN" sz="1200" dirty="0"/>
              <a:t>		</a:t>
            </a:r>
            <a:r>
              <a:rPr sz="1200" dirty="0"/>
              <a:t>7498.958078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5      </a:t>
            </a:r>
            <a:r>
              <a:rPr lang="en-IN" sz="1200" dirty="0"/>
              <a:t>		</a:t>
            </a:r>
            <a:r>
              <a:rPr sz="1200" dirty="0"/>
              <a:t>6240.088178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11     </a:t>
            </a:r>
            <a:r>
              <a:rPr lang="en-IN" sz="1200" dirty="0"/>
              <a:t>		</a:t>
            </a:r>
            <a:r>
              <a:rPr sz="1200" dirty="0"/>
              <a:t>4685.268456</a:t>
            </a:r>
            <a:br>
              <a:rPr sz="1200" dirty="0"/>
            </a:br>
            <a:r>
              <a:rPr lang="en-IN" sz="1200" dirty="0"/>
              <a:t>	</a:t>
            </a:r>
            <a:r>
              <a:rPr sz="1200" dirty="0"/>
              <a:t>18     </a:t>
            </a:r>
            <a:r>
              <a:rPr lang="en-IN" sz="1200" dirty="0"/>
              <a:t>		</a:t>
            </a:r>
            <a:r>
              <a:rPr sz="1200" dirty="0"/>
              <a:t>2972.864320</a:t>
            </a:r>
            <a:br>
              <a:rPr sz="1200" dirty="0"/>
            </a:br>
            <a:r>
              <a:rPr sz="1200" dirty="0"/>
              <a:t>Name: Purchase, </a:t>
            </a:r>
            <a:r>
              <a:rPr sz="1200" dirty="0" err="1"/>
              <a:t>dtype</a:t>
            </a:r>
            <a:r>
              <a:rPr sz="1200" dirty="0"/>
              <a:t>: float64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20B029-5EE2-2CD5-C012-CB4182039BAD}"/>
              </a:ext>
            </a:extLst>
          </p:cNvPr>
          <p:cNvSpPr txBox="1"/>
          <p:nvPr/>
        </p:nvSpPr>
        <p:spPr>
          <a:xfrm>
            <a:off x="5878758" y="5430948"/>
            <a:ext cx="579642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ranking is based on average Purchase rather than total Purchase. Category 10 has the highest average transaction value, about 19,675.57, among the displayed categories.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4C3801-B85B-ECBF-1E6F-C29D0458C5C4}"/>
              </a:ext>
            </a:extLst>
          </p:cNvPr>
          <p:cNvSpPr/>
          <p:nvPr/>
        </p:nvSpPr>
        <p:spPr>
          <a:xfrm>
            <a:off x="1270000" y="2208660"/>
            <a:ext cx="3332568" cy="25970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6C0FAD-41A6-BA16-56ED-C8AC9C5703B4}"/>
              </a:ext>
            </a:extLst>
          </p:cNvPr>
          <p:cNvSpPr/>
          <p:nvPr/>
        </p:nvSpPr>
        <p:spPr>
          <a:xfrm>
            <a:off x="7366000" y="2208660"/>
            <a:ext cx="4414511" cy="320335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7"/>
            <a:ext cx="48107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36: Occupation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7"/>
            <a:ext cx="2476510" cy="842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CODE</a:t>
            </a:r>
          </a:p>
          <a:p>
            <a:pPr>
              <a:defRPr sz="919">
                <a:latin typeface="Consolas"/>
              </a:defRPr>
            </a:pPr>
            <a:r>
              <a:t>occupation_count = df['Occupation'].value_counts()</a:t>
            </a:r>
            <a:br/>
            <a:br/>
            <a:r>
              <a:t>occupation_count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2285" y="1636971"/>
            <a:ext cx="2476510" cy="339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  <a:endParaRPr lang="en-IN" dirty="0"/>
          </a:p>
          <a:p>
            <a:pPr>
              <a:defRPr sz="1200" b="1"/>
            </a:pPr>
            <a:endParaRPr dirty="0"/>
          </a:p>
          <a:p>
            <a:pPr>
              <a:defRPr sz="830">
                <a:latin typeface="Consolas"/>
              </a:defRPr>
            </a:pPr>
            <a:r>
              <a:rPr dirty="0"/>
              <a:t>Occupation</a:t>
            </a:r>
            <a:br>
              <a:rPr dirty="0"/>
            </a:br>
            <a:r>
              <a:rPr dirty="0"/>
              <a:t>4     72308</a:t>
            </a:r>
            <a:br>
              <a:rPr dirty="0"/>
            </a:br>
            <a:r>
              <a:rPr dirty="0"/>
              <a:t>0     69638</a:t>
            </a:r>
            <a:br>
              <a:rPr dirty="0"/>
            </a:br>
            <a:r>
              <a:rPr dirty="0"/>
              <a:t>7     59133</a:t>
            </a:r>
            <a:br>
              <a:rPr dirty="0"/>
            </a:br>
            <a:r>
              <a:rPr dirty="0"/>
              <a:t>1     47426</a:t>
            </a:r>
            <a:br>
              <a:rPr dirty="0"/>
            </a:br>
            <a:r>
              <a:rPr dirty="0"/>
              <a:t>17    40043</a:t>
            </a:r>
            <a:br>
              <a:rPr dirty="0"/>
            </a:br>
            <a:r>
              <a:rPr dirty="0"/>
              <a:t>20    33562</a:t>
            </a:r>
            <a:br>
              <a:rPr dirty="0"/>
            </a:br>
            <a:r>
              <a:rPr dirty="0"/>
              <a:t>12    31179</a:t>
            </a:r>
            <a:br>
              <a:rPr dirty="0"/>
            </a:br>
            <a:r>
              <a:rPr dirty="0"/>
              <a:t>14    27309</a:t>
            </a:r>
            <a:br>
              <a:rPr dirty="0"/>
            </a:br>
            <a:r>
              <a:rPr dirty="0"/>
              <a:t>2     26588</a:t>
            </a:r>
            <a:br>
              <a:rPr dirty="0"/>
            </a:br>
            <a:r>
              <a:rPr dirty="0"/>
              <a:t>16    25371</a:t>
            </a:r>
            <a:br>
              <a:rPr dirty="0"/>
            </a:br>
            <a:r>
              <a:rPr dirty="0"/>
              <a:t>6     20355</a:t>
            </a:r>
            <a:br>
              <a:rPr dirty="0"/>
            </a:br>
            <a:r>
              <a:rPr dirty="0"/>
              <a:t>3     17650</a:t>
            </a:r>
            <a:br>
              <a:rPr dirty="0"/>
            </a:br>
            <a:r>
              <a:rPr dirty="0"/>
              <a:t>10    12930</a:t>
            </a:r>
            <a:br>
              <a:rPr dirty="0"/>
            </a:br>
            <a:r>
              <a:rPr dirty="0"/>
              <a:t>5     12177</a:t>
            </a:r>
            <a:br>
              <a:rPr dirty="0"/>
            </a:br>
            <a:r>
              <a:rPr dirty="0"/>
              <a:t>15    12165</a:t>
            </a:r>
            <a:br>
              <a:rPr dirty="0"/>
            </a:br>
            <a:r>
              <a:rPr dirty="0"/>
              <a:t>11    11586</a:t>
            </a:r>
            <a:br>
              <a:rPr dirty="0"/>
            </a:br>
            <a:r>
              <a:rPr dirty="0"/>
              <a:t>19     8461</a:t>
            </a:r>
            <a:br>
              <a:rPr dirty="0"/>
            </a:br>
            <a:r>
              <a:rPr dirty="0"/>
              <a:t>13     7728</a:t>
            </a:r>
            <a:br>
              <a:rPr dirty="0"/>
            </a:br>
            <a:r>
              <a:rPr dirty="0"/>
              <a:t>18     6622</a:t>
            </a:r>
            <a:br>
              <a:rPr dirty="0"/>
            </a:br>
            <a:r>
              <a:rPr dirty="0"/>
              <a:t>9      6291</a:t>
            </a:r>
            <a:br>
              <a:rPr dirty="0"/>
            </a:br>
            <a:r>
              <a:rPr dirty="0"/>
              <a:t>8      1546</a:t>
            </a:r>
            <a:br>
              <a:rPr dirty="0"/>
            </a:br>
            <a:r>
              <a:rPr dirty="0"/>
              <a:t>Name: count, </a:t>
            </a:r>
            <a:r>
              <a:rPr dirty="0" err="1"/>
              <a:t>dtype</a:t>
            </a:r>
            <a:r>
              <a:rPr dirty="0"/>
              <a:t>: int64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1330" y="5118608"/>
            <a:ext cx="4973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Occupation 4 has the most transaction records (72,308), while occupation 8 has the fewest (1,546). These are transaction counts by occupation code.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8E5D24-98AA-6DD2-7122-264275BE0867}"/>
              </a:ext>
            </a:extLst>
          </p:cNvPr>
          <p:cNvCxnSpPr>
            <a:cxnSpLocks/>
          </p:cNvCxnSpPr>
          <p:nvPr/>
        </p:nvCxnSpPr>
        <p:spPr>
          <a:xfrm>
            <a:off x="5537200" y="0"/>
            <a:ext cx="0" cy="695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68B3968-E7A7-5F04-6715-76DC674480C3}"/>
              </a:ext>
            </a:extLst>
          </p:cNvPr>
          <p:cNvSpPr txBox="1"/>
          <p:nvPr/>
        </p:nvSpPr>
        <p:spPr>
          <a:xfrm>
            <a:off x="5852161" y="148926"/>
            <a:ext cx="570408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37: Total Purchase by Occupation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C0C482-FCE2-1782-8F2B-ABB97405EA47}"/>
              </a:ext>
            </a:extLst>
          </p:cNvPr>
          <p:cNvSpPr txBox="1"/>
          <p:nvPr/>
        </p:nvSpPr>
        <p:spPr>
          <a:xfrm>
            <a:off x="5852161" y="703097"/>
            <a:ext cx="3481152" cy="842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occupation_purchase</a:t>
            </a:r>
            <a:r>
              <a:rPr dirty="0"/>
              <a:t> = </a:t>
            </a:r>
            <a:r>
              <a:rPr dirty="0" err="1"/>
              <a:t>df.groupby</a:t>
            </a:r>
            <a:r>
              <a:rPr dirty="0"/>
              <a:t>('Occupation')['Purchase'].sum()</a:t>
            </a:r>
            <a:br>
              <a:rPr dirty="0"/>
            </a:br>
            <a:br>
              <a:rPr dirty="0"/>
            </a:br>
            <a:r>
              <a:rPr dirty="0" err="1"/>
              <a:t>occupation_purchase.sort_values</a:t>
            </a:r>
            <a:r>
              <a:rPr dirty="0"/>
              <a:t>(ascending=False)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6D3A27-D8E5-5703-DE36-81A5B07934B0}"/>
              </a:ext>
            </a:extLst>
          </p:cNvPr>
          <p:cNvSpPr txBox="1"/>
          <p:nvPr/>
        </p:nvSpPr>
        <p:spPr>
          <a:xfrm>
            <a:off x="7982033" y="1684042"/>
            <a:ext cx="2416727" cy="339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  <a:endParaRPr lang="en-IN" dirty="0"/>
          </a:p>
          <a:p>
            <a:pPr>
              <a:defRPr sz="1200" b="1"/>
            </a:pPr>
            <a:endParaRPr dirty="0"/>
          </a:p>
          <a:p>
            <a:pPr>
              <a:defRPr sz="830">
                <a:latin typeface="Consolas"/>
              </a:defRPr>
            </a:pPr>
            <a:r>
              <a:rPr dirty="0"/>
              <a:t>Occupation</a:t>
            </a:r>
            <a:br>
              <a:rPr dirty="0"/>
            </a:br>
            <a:r>
              <a:rPr dirty="0"/>
              <a:t>4     666244484</a:t>
            </a:r>
            <a:br>
              <a:rPr dirty="0"/>
            </a:br>
            <a:r>
              <a:rPr dirty="0"/>
              <a:t>0     635406958</a:t>
            </a:r>
            <a:br>
              <a:rPr dirty="0"/>
            </a:br>
            <a:r>
              <a:rPr dirty="0"/>
              <a:t>7     557371587</a:t>
            </a:r>
            <a:br>
              <a:rPr dirty="0"/>
            </a:br>
            <a:r>
              <a:rPr dirty="0"/>
              <a:t>1     424614144</a:t>
            </a:r>
            <a:br>
              <a:rPr dirty="0"/>
            </a:br>
            <a:r>
              <a:rPr dirty="0"/>
              <a:t>17    393281453</a:t>
            </a:r>
            <a:br>
              <a:rPr dirty="0"/>
            </a:br>
            <a:r>
              <a:rPr dirty="0"/>
              <a:t>12    305449446</a:t>
            </a:r>
            <a:br>
              <a:rPr dirty="0"/>
            </a:br>
            <a:r>
              <a:rPr dirty="0"/>
              <a:t>20    296570442</a:t>
            </a:r>
            <a:br>
              <a:rPr dirty="0"/>
            </a:br>
            <a:r>
              <a:rPr dirty="0"/>
              <a:t>14    259454692</a:t>
            </a:r>
            <a:br>
              <a:rPr dirty="0"/>
            </a:br>
            <a:r>
              <a:rPr dirty="0"/>
              <a:t>16    238346955</a:t>
            </a:r>
            <a:br>
              <a:rPr dirty="0"/>
            </a:br>
            <a:r>
              <a:rPr dirty="0"/>
              <a:t>2     238028583</a:t>
            </a:r>
            <a:br>
              <a:rPr dirty="0"/>
            </a:br>
            <a:r>
              <a:rPr dirty="0"/>
              <a:t>6     188416784</a:t>
            </a:r>
            <a:br>
              <a:rPr dirty="0"/>
            </a:br>
            <a:r>
              <a:rPr dirty="0"/>
              <a:t>3     162002168</a:t>
            </a:r>
            <a:br>
              <a:rPr dirty="0"/>
            </a:br>
            <a:r>
              <a:rPr dirty="0"/>
              <a:t>15    118960211</a:t>
            </a:r>
            <a:br>
              <a:rPr dirty="0"/>
            </a:br>
            <a:r>
              <a:rPr dirty="0"/>
              <a:t>10    115844465</a:t>
            </a:r>
            <a:br>
              <a:rPr dirty="0"/>
            </a:br>
            <a:r>
              <a:rPr dirty="0"/>
              <a:t>5     113649759</a:t>
            </a:r>
            <a:br>
              <a:rPr dirty="0"/>
            </a:br>
            <a:r>
              <a:rPr dirty="0"/>
              <a:t>11    106751618</a:t>
            </a:r>
            <a:br>
              <a:rPr dirty="0"/>
            </a:br>
            <a:r>
              <a:rPr dirty="0"/>
              <a:t>19     73700617</a:t>
            </a:r>
            <a:br>
              <a:rPr dirty="0"/>
            </a:br>
            <a:r>
              <a:rPr dirty="0"/>
              <a:t>13     71919481</a:t>
            </a:r>
            <a:br>
              <a:rPr dirty="0"/>
            </a:br>
            <a:r>
              <a:rPr dirty="0"/>
              <a:t>18     60721461</a:t>
            </a:r>
            <a:br>
              <a:rPr dirty="0"/>
            </a:br>
            <a:r>
              <a:rPr dirty="0"/>
              <a:t>9      54340046</a:t>
            </a:r>
            <a:br>
              <a:rPr dirty="0"/>
            </a:br>
            <a:r>
              <a:rPr dirty="0"/>
              <a:t>8      14737388</a:t>
            </a:r>
            <a:br>
              <a:rPr dirty="0"/>
            </a:br>
            <a:r>
              <a:rPr dirty="0"/>
              <a:t>Name: Purchase, </a:t>
            </a:r>
            <a:r>
              <a:rPr dirty="0" err="1"/>
              <a:t>dtype</a:t>
            </a:r>
            <a:r>
              <a:rPr dirty="0"/>
              <a:t>: int64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4BD034-6413-30F6-65FD-4859C78B5A2F}"/>
              </a:ext>
            </a:extLst>
          </p:cNvPr>
          <p:cNvSpPr txBox="1"/>
          <p:nvPr/>
        </p:nvSpPr>
        <p:spPr>
          <a:xfrm>
            <a:off x="5837893" y="5118607"/>
            <a:ext cx="69908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Occupation 4 has the highest total Purchase, 666,244,484, followed by occupation 0 and occupation 7. The result compares total transaction value across occupation codes.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9D9886-1D01-623A-0418-E93E9FDA82B3}"/>
              </a:ext>
            </a:extLst>
          </p:cNvPr>
          <p:cNvSpPr txBox="1"/>
          <p:nvPr/>
        </p:nvSpPr>
        <p:spPr>
          <a:xfrm>
            <a:off x="10654398" y="6473952"/>
            <a:ext cx="114136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37/85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A74B20-FF6A-BC70-17BA-80091B4B66B0}"/>
              </a:ext>
            </a:extLst>
          </p:cNvPr>
          <p:cNvSpPr/>
          <p:nvPr/>
        </p:nvSpPr>
        <p:spPr>
          <a:xfrm>
            <a:off x="1422400" y="2005781"/>
            <a:ext cx="3169901" cy="303058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5E83C2-9E85-D0AF-3FC3-0FEC8F980E20}"/>
              </a:ext>
            </a:extLst>
          </p:cNvPr>
          <p:cNvSpPr/>
          <p:nvPr/>
        </p:nvSpPr>
        <p:spPr>
          <a:xfrm>
            <a:off x="7294880" y="2005781"/>
            <a:ext cx="3359512" cy="311282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638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38: Stay in Current 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3418840" cy="41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CODE</a:t>
            </a:r>
          </a:p>
          <a:p>
            <a:pPr>
              <a:defRPr sz="919">
                <a:latin typeface="Consolas"/>
              </a:defRPr>
            </a:pPr>
            <a:r>
              <a:t>df['Stay_In_Current_City_Years'].value_counts()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359" y="1951078"/>
            <a:ext cx="34188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/>
              <a:t>OUTPUT / RESULT</a:t>
            </a:r>
            <a:endParaRPr lang="en-IN" sz="1600" dirty="0"/>
          </a:p>
          <a:p>
            <a:pPr>
              <a:defRPr sz="1200" b="1"/>
            </a:pPr>
            <a:endParaRPr sz="1600" dirty="0"/>
          </a:p>
          <a:p>
            <a:pPr>
              <a:defRPr sz="830">
                <a:latin typeface="Consolas"/>
              </a:defRPr>
            </a:pPr>
            <a:r>
              <a:rPr sz="1600" dirty="0" err="1"/>
              <a:t>Stay_In_Current_City_Years</a:t>
            </a:r>
            <a:br>
              <a:rPr sz="1600" dirty="0"/>
            </a:br>
            <a:r>
              <a:rPr sz="1600" dirty="0"/>
              <a:t>1     193821</a:t>
            </a:r>
            <a:br>
              <a:rPr sz="1600" dirty="0"/>
            </a:br>
            <a:r>
              <a:rPr sz="1600" dirty="0"/>
              <a:t>2     101838</a:t>
            </a:r>
            <a:br>
              <a:rPr sz="1600" dirty="0"/>
            </a:br>
            <a:r>
              <a:rPr sz="1600" dirty="0"/>
              <a:t>3      95285</a:t>
            </a:r>
            <a:br>
              <a:rPr sz="1600" dirty="0"/>
            </a:br>
            <a:r>
              <a:rPr sz="1600" dirty="0"/>
              <a:t>4+     84726</a:t>
            </a:r>
            <a:br>
              <a:rPr sz="1600" dirty="0"/>
            </a:br>
            <a:r>
              <a:rPr sz="1600" dirty="0"/>
              <a:t>0      74398</a:t>
            </a:r>
            <a:br>
              <a:rPr sz="1600" dirty="0"/>
            </a:br>
            <a:r>
              <a:rPr sz="1600" dirty="0"/>
              <a:t>Name: count, </a:t>
            </a:r>
            <a:r>
              <a:rPr sz="1600" dirty="0" err="1"/>
              <a:t>dtype</a:t>
            </a:r>
            <a:r>
              <a:rPr sz="1600" dirty="0"/>
              <a:t>: int64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280" y="4985701"/>
            <a:ext cx="4343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Customers/transactions with 1 year in the current city are most frequent (193,821 records). The least frequent group is 0 years (74,398 records).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38/85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CA7E5E-D127-A009-6F64-77F8A64F2B1D}"/>
              </a:ext>
            </a:extLst>
          </p:cNvPr>
          <p:cNvCxnSpPr/>
          <p:nvPr/>
        </p:nvCxnSpPr>
        <p:spPr>
          <a:xfrm>
            <a:off x="546608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601BFC-D020-3408-9833-F5AE35AFB4F8}"/>
              </a:ext>
            </a:extLst>
          </p:cNvPr>
          <p:cNvSpPr txBox="1"/>
          <p:nvPr/>
        </p:nvSpPr>
        <p:spPr>
          <a:xfrm>
            <a:off x="5750560" y="201168"/>
            <a:ext cx="615187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39: Purchase by City Stay Duration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DB665A-12D6-4D1F-AB0E-63581B6246A4}"/>
              </a:ext>
            </a:extLst>
          </p:cNvPr>
          <p:cNvSpPr txBox="1"/>
          <p:nvPr/>
        </p:nvSpPr>
        <p:spPr>
          <a:xfrm>
            <a:off x="5730968" y="714046"/>
            <a:ext cx="4326702" cy="842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stay_sales</a:t>
            </a:r>
            <a:r>
              <a:rPr dirty="0"/>
              <a:t> = </a:t>
            </a:r>
            <a:r>
              <a:rPr dirty="0" err="1"/>
              <a:t>df.groupby</a:t>
            </a:r>
            <a:r>
              <a:rPr dirty="0"/>
              <a:t>('</a:t>
            </a:r>
            <a:r>
              <a:rPr dirty="0" err="1"/>
              <a:t>Stay_In_Current_City_Years</a:t>
            </a:r>
            <a:r>
              <a:rPr dirty="0"/>
              <a:t>')['Purchase'].sum()</a:t>
            </a:r>
            <a:br>
              <a:rPr dirty="0"/>
            </a:br>
            <a:br>
              <a:rPr dirty="0"/>
            </a:br>
            <a:r>
              <a:rPr dirty="0" err="1"/>
              <a:t>stay_sales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883958-AF8D-EFB8-1237-B81EDD189AE8}"/>
              </a:ext>
            </a:extLst>
          </p:cNvPr>
          <p:cNvSpPr txBox="1"/>
          <p:nvPr/>
        </p:nvSpPr>
        <p:spPr>
          <a:xfrm>
            <a:off x="7310243" y="2037594"/>
            <a:ext cx="35711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>
                <a:latin typeface="Consolas"/>
              </a:rPr>
              <a:t>OUTPUT / RESULT</a:t>
            </a:r>
            <a:endParaRPr lang="en-IN" sz="1600" dirty="0">
              <a:latin typeface="Consolas"/>
            </a:endParaRPr>
          </a:p>
          <a:p>
            <a:pPr>
              <a:defRPr sz="1200" b="1"/>
            </a:pPr>
            <a:endParaRPr sz="1600" dirty="0">
              <a:latin typeface="Consolas"/>
            </a:endParaRPr>
          </a:p>
          <a:p>
            <a:pPr>
              <a:defRPr sz="830">
                <a:latin typeface="Consolas"/>
              </a:defRPr>
            </a:pPr>
            <a:r>
              <a:rPr sz="1600" dirty="0" err="1">
                <a:latin typeface="Consolas"/>
              </a:rPr>
              <a:t>Stay_In_Current_City_Years</a:t>
            </a:r>
            <a:br>
              <a:rPr sz="1600" dirty="0">
                <a:latin typeface="Consolas"/>
              </a:rPr>
            </a:br>
            <a:r>
              <a:rPr sz="1600" dirty="0">
                <a:latin typeface="Consolas"/>
              </a:rPr>
              <a:t>0      682979229</a:t>
            </a:r>
            <a:br>
              <a:rPr sz="1600" dirty="0">
                <a:latin typeface="Consolas"/>
              </a:rPr>
            </a:br>
            <a:r>
              <a:rPr sz="1600" dirty="0">
                <a:latin typeface="Consolas"/>
              </a:rPr>
              <a:t>1     1792872533</a:t>
            </a:r>
            <a:br>
              <a:rPr sz="1600" dirty="0">
                <a:latin typeface="Consolas"/>
              </a:rPr>
            </a:br>
            <a:r>
              <a:rPr sz="1600" dirty="0">
                <a:latin typeface="Consolas"/>
              </a:rPr>
              <a:t>2      949173931</a:t>
            </a:r>
            <a:br>
              <a:rPr sz="1600" dirty="0">
                <a:latin typeface="Consolas"/>
              </a:rPr>
            </a:br>
            <a:r>
              <a:rPr sz="1600" dirty="0">
                <a:latin typeface="Consolas"/>
              </a:rPr>
              <a:t>3      884902659</a:t>
            </a:r>
            <a:br>
              <a:rPr sz="1600" dirty="0">
                <a:latin typeface="Consolas"/>
              </a:rPr>
            </a:br>
            <a:r>
              <a:rPr sz="1600" dirty="0">
                <a:latin typeface="Consolas"/>
              </a:rPr>
              <a:t>4+     785884390</a:t>
            </a:r>
            <a:br>
              <a:rPr sz="1600" dirty="0">
                <a:latin typeface="Consolas"/>
              </a:rPr>
            </a:br>
            <a:r>
              <a:rPr sz="1600" dirty="0">
                <a:latin typeface="Consolas"/>
              </a:rPr>
              <a:t>Name: Purchase, </a:t>
            </a:r>
            <a:r>
              <a:rPr sz="1600" dirty="0" err="1">
                <a:latin typeface="Consolas"/>
              </a:rPr>
              <a:t>dtype</a:t>
            </a:r>
            <a:r>
              <a:rPr sz="1600" dirty="0">
                <a:latin typeface="Consolas"/>
              </a:rPr>
              <a:t>: int64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59676A-C830-4E08-2B32-682E08A71F79}"/>
              </a:ext>
            </a:extLst>
          </p:cNvPr>
          <p:cNvSpPr txBox="1"/>
          <p:nvPr/>
        </p:nvSpPr>
        <p:spPr>
          <a:xfrm>
            <a:off x="5730968" y="5043596"/>
            <a:ext cx="61714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The largest total Purchase is for 1 year in the current city, 1,792,872,533. The smallest is for 0 years, 682,979,229.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914D2A-C5B0-6771-AA9E-F98D57E67C74}"/>
              </a:ext>
            </a:extLst>
          </p:cNvPr>
          <p:cNvSpPr txBox="1"/>
          <p:nvPr/>
        </p:nvSpPr>
        <p:spPr>
          <a:xfrm>
            <a:off x="10777302" y="6626352"/>
            <a:ext cx="117085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39/85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CC9264-B375-F478-21BC-F66A7301C165}"/>
              </a:ext>
            </a:extLst>
          </p:cNvPr>
          <p:cNvSpPr/>
          <p:nvPr/>
        </p:nvSpPr>
        <p:spPr>
          <a:xfrm>
            <a:off x="589280" y="2261418"/>
            <a:ext cx="3962400" cy="220898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BA0A76-73C3-0FE6-0138-7A284E184A10}"/>
              </a:ext>
            </a:extLst>
          </p:cNvPr>
          <p:cNvSpPr/>
          <p:nvPr/>
        </p:nvSpPr>
        <p:spPr>
          <a:xfrm>
            <a:off x="6817360" y="2408902"/>
            <a:ext cx="4526278" cy="238661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5556" y="201168"/>
            <a:ext cx="539427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40: Top 10 Customers by Total Purchase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7"/>
            <a:ext cx="2451214" cy="155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top_customers</a:t>
            </a:r>
            <a:r>
              <a:rPr dirty="0"/>
              <a:t> = (</a:t>
            </a:r>
            <a:br>
              <a:rPr dirty="0"/>
            </a:br>
            <a:r>
              <a:rPr dirty="0"/>
              <a:t>    </a:t>
            </a:r>
            <a:r>
              <a:rPr dirty="0" err="1"/>
              <a:t>df.groupby</a:t>
            </a:r>
            <a:r>
              <a:rPr dirty="0"/>
              <a:t>('</a:t>
            </a:r>
            <a:r>
              <a:rPr dirty="0" err="1"/>
              <a:t>User_ID</a:t>
            </a:r>
            <a:r>
              <a:rPr dirty="0"/>
              <a:t>')['Purchase']</a:t>
            </a:r>
            <a:br>
              <a:rPr dirty="0"/>
            </a:br>
            <a:r>
              <a:rPr dirty="0"/>
              <a:t>    .sum()</a:t>
            </a:r>
            <a:br>
              <a:rPr dirty="0"/>
            </a:br>
            <a:r>
              <a:rPr dirty="0"/>
              <a:t>    .</a:t>
            </a:r>
            <a:r>
              <a:rPr dirty="0" err="1"/>
              <a:t>sort_values</a:t>
            </a:r>
            <a:r>
              <a:rPr dirty="0"/>
              <a:t>(ascending=False)</a:t>
            </a:r>
            <a:br>
              <a:rPr dirty="0"/>
            </a:br>
            <a:r>
              <a:rPr dirty="0"/>
              <a:t>    .head(10)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top_customers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301240" y="2250108"/>
            <a:ext cx="24512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200" dirty="0" err="1"/>
              <a:t>User_ID</a:t>
            </a:r>
            <a:br>
              <a:rPr sz="1200" dirty="0"/>
            </a:br>
            <a:r>
              <a:rPr sz="1200" dirty="0"/>
              <a:t>1004277    10536909</a:t>
            </a:r>
            <a:br>
              <a:rPr sz="1200" dirty="0"/>
            </a:br>
            <a:r>
              <a:rPr sz="1200" dirty="0"/>
              <a:t>1001680     8699596</a:t>
            </a:r>
            <a:br>
              <a:rPr sz="1200" dirty="0"/>
            </a:br>
            <a:r>
              <a:rPr sz="1200" dirty="0"/>
              <a:t>1002909     7577756</a:t>
            </a:r>
            <a:br>
              <a:rPr sz="1200" dirty="0"/>
            </a:br>
            <a:r>
              <a:rPr sz="1200" dirty="0"/>
              <a:t>1001941     6817493</a:t>
            </a:r>
            <a:br>
              <a:rPr sz="1200" dirty="0"/>
            </a:br>
            <a:r>
              <a:rPr sz="1200" dirty="0"/>
              <a:t>1000424     6573609</a:t>
            </a:r>
            <a:br>
              <a:rPr sz="1200" dirty="0"/>
            </a:br>
            <a:r>
              <a:rPr sz="1200" dirty="0"/>
              <a:t>1004448     6566245</a:t>
            </a:r>
            <a:br>
              <a:rPr sz="1200" dirty="0"/>
            </a:br>
            <a:r>
              <a:rPr sz="1200" dirty="0"/>
              <a:t>1005831     6512433</a:t>
            </a:r>
            <a:br>
              <a:rPr sz="1200" dirty="0"/>
            </a:br>
            <a:r>
              <a:rPr sz="1200" dirty="0"/>
              <a:t>1001015     6511314</a:t>
            </a:r>
            <a:br>
              <a:rPr sz="1200" dirty="0"/>
            </a:br>
            <a:r>
              <a:rPr sz="1200" dirty="0"/>
              <a:t>1003391     6477160</a:t>
            </a:r>
            <a:br>
              <a:rPr sz="1200" dirty="0"/>
            </a:br>
            <a:r>
              <a:rPr sz="1200" dirty="0"/>
              <a:t>1001181     6387961</a:t>
            </a:r>
            <a:br>
              <a:rPr sz="1200" dirty="0"/>
            </a:br>
            <a:r>
              <a:rPr sz="1200" dirty="0"/>
              <a:t>Name: Purchase, </a:t>
            </a:r>
            <a:r>
              <a:rPr sz="1200" dirty="0" err="1"/>
              <a:t>dtype</a:t>
            </a:r>
            <a:r>
              <a:rPr sz="1200" dirty="0"/>
              <a:t>: int64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169408"/>
            <a:ext cx="4922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 ten customer IDs with the highest summed Purchase are shown. Customer 1004277 has the highest total at 10,536,909 among the listed customers.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8036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40/85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4F8067-6152-21A6-24CE-CB7107B4B222}"/>
              </a:ext>
            </a:extLst>
          </p:cNvPr>
          <p:cNvCxnSpPr/>
          <p:nvPr/>
        </p:nvCxnSpPr>
        <p:spPr>
          <a:xfrm>
            <a:off x="567944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EBCDB46-A33F-3551-717A-4FF6B9ECA31F}"/>
              </a:ext>
            </a:extLst>
          </p:cNvPr>
          <p:cNvSpPr txBox="1"/>
          <p:nvPr/>
        </p:nvSpPr>
        <p:spPr>
          <a:xfrm>
            <a:off x="6116320" y="153216"/>
            <a:ext cx="563371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41: Top 10 Products by Sales Amount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717B8D-9BC0-8528-0C82-2510AD753042}"/>
              </a:ext>
            </a:extLst>
          </p:cNvPr>
          <p:cNvSpPr txBox="1"/>
          <p:nvPr/>
        </p:nvSpPr>
        <p:spPr>
          <a:xfrm>
            <a:off x="6116320" y="646246"/>
            <a:ext cx="2860036" cy="1408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top_products</a:t>
            </a:r>
            <a:r>
              <a:rPr dirty="0"/>
              <a:t> = (</a:t>
            </a:r>
            <a:br>
              <a:rPr dirty="0"/>
            </a:br>
            <a:r>
              <a:rPr dirty="0"/>
              <a:t>    </a:t>
            </a:r>
            <a:r>
              <a:rPr dirty="0" err="1"/>
              <a:t>df.groupby</a:t>
            </a:r>
            <a:r>
              <a:rPr dirty="0"/>
              <a:t>('</a:t>
            </a:r>
            <a:r>
              <a:rPr dirty="0" err="1"/>
              <a:t>Product_ID</a:t>
            </a:r>
            <a:r>
              <a:rPr dirty="0"/>
              <a:t>')['Purchase']</a:t>
            </a:r>
            <a:br>
              <a:rPr dirty="0"/>
            </a:br>
            <a:r>
              <a:rPr dirty="0"/>
              <a:t>    .sum()</a:t>
            </a:r>
            <a:br>
              <a:rPr dirty="0"/>
            </a:br>
            <a:r>
              <a:rPr dirty="0"/>
              <a:t>    .</a:t>
            </a:r>
            <a:r>
              <a:rPr dirty="0" err="1"/>
              <a:t>sort_values</a:t>
            </a:r>
            <a:r>
              <a:rPr dirty="0"/>
              <a:t>(ascending=False)</a:t>
            </a:r>
            <a:br>
              <a:rPr dirty="0"/>
            </a:br>
            <a:r>
              <a:rPr dirty="0"/>
              <a:t>    .head(10)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top_products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2D69C7-F5FF-86D3-D962-3A5FBE63D871}"/>
              </a:ext>
            </a:extLst>
          </p:cNvPr>
          <p:cNvSpPr txBox="1"/>
          <p:nvPr/>
        </p:nvSpPr>
        <p:spPr>
          <a:xfrm>
            <a:off x="8040053" y="2125896"/>
            <a:ext cx="325385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200" dirty="0" err="1"/>
              <a:t>Product_ID</a:t>
            </a:r>
            <a:br>
              <a:rPr sz="1200" dirty="0"/>
            </a:br>
            <a:r>
              <a:rPr sz="1200" dirty="0"/>
              <a:t>P00025442    27995166</a:t>
            </a:r>
            <a:br>
              <a:rPr sz="1200" dirty="0"/>
            </a:br>
            <a:r>
              <a:rPr sz="1200" dirty="0"/>
              <a:t>P00110742    26722309</a:t>
            </a:r>
            <a:br>
              <a:rPr sz="1200" dirty="0"/>
            </a:br>
            <a:r>
              <a:rPr sz="1200" dirty="0"/>
              <a:t>P00255842    25168963</a:t>
            </a:r>
            <a:br>
              <a:rPr sz="1200" dirty="0"/>
            </a:br>
            <a:r>
              <a:rPr sz="1200" dirty="0"/>
              <a:t>P00059442    24338343</a:t>
            </a:r>
            <a:br>
              <a:rPr sz="1200" dirty="0"/>
            </a:br>
            <a:r>
              <a:rPr sz="1200" dirty="0"/>
              <a:t>P00184942    24334887</a:t>
            </a:r>
            <a:br>
              <a:rPr sz="1200" dirty="0"/>
            </a:br>
            <a:r>
              <a:rPr sz="1200" dirty="0"/>
              <a:t>P00112142    24216006</a:t>
            </a:r>
            <a:br>
              <a:rPr sz="1200" dirty="0"/>
            </a:br>
            <a:r>
              <a:rPr sz="1200" dirty="0"/>
              <a:t>P00110942    23639564</a:t>
            </a:r>
            <a:br>
              <a:rPr sz="1200" dirty="0"/>
            </a:br>
            <a:r>
              <a:rPr sz="1200" dirty="0"/>
              <a:t>P00237542    23425576</a:t>
            </a:r>
            <a:br>
              <a:rPr sz="1200" dirty="0"/>
            </a:br>
            <a:r>
              <a:rPr sz="1200" dirty="0"/>
              <a:t>P00057642    23102780</a:t>
            </a:r>
            <a:br>
              <a:rPr sz="1200" dirty="0"/>
            </a:br>
            <a:r>
              <a:rPr sz="1200" dirty="0"/>
              <a:t>P00010742    22164153</a:t>
            </a:r>
            <a:br>
              <a:rPr sz="1200" dirty="0"/>
            </a:br>
            <a:r>
              <a:rPr sz="1200" dirty="0"/>
              <a:t>Name: Purchase, </a:t>
            </a:r>
            <a:r>
              <a:rPr sz="1200" dirty="0" err="1"/>
              <a:t>dtype</a:t>
            </a:r>
            <a:r>
              <a:rPr sz="1200" dirty="0"/>
              <a:t>: int64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2CCA35-728E-C004-18F6-0ABC8DC11ED6}"/>
              </a:ext>
            </a:extLst>
          </p:cNvPr>
          <p:cNvSpPr txBox="1"/>
          <p:nvPr/>
        </p:nvSpPr>
        <p:spPr>
          <a:xfrm>
            <a:off x="5902495" y="5117429"/>
            <a:ext cx="614772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 ten products with the highest summed Purchase are shown. Product P00025442 has the highest total at 27,995,166 among the listed products.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DC8BFF-50D0-3770-29B8-B62ABAC983CB}"/>
              </a:ext>
            </a:extLst>
          </p:cNvPr>
          <p:cNvSpPr txBox="1"/>
          <p:nvPr/>
        </p:nvSpPr>
        <p:spPr>
          <a:xfrm>
            <a:off x="10792050" y="6473952"/>
            <a:ext cx="100371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41/85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FE5EE3-22BC-A1BF-7C64-77F2D6AB5B66}"/>
              </a:ext>
            </a:extLst>
          </p:cNvPr>
          <p:cNvSpPr/>
          <p:nvPr/>
        </p:nvSpPr>
        <p:spPr>
          <a:xfrm>
            <a:off x="7691120" y="1971040"/>
            <a:ext cx="3602785" cy="286708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8DCD32-E663-6F65-5F6E-760CE280D7AA}"/>
              </a:ext>
            </a:extLst>
          </p:cNvPr>
          <p:cNvSpPr/>
          <p:nvPr/>
        </p:nvSpPr>
        <p:spPr>
          <a:xfrm>
            <a:off x="2143760" y="2054837"/>
            <a:ext cx="2895576" cy="296420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44800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42: Overall Purchase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2188132" cy="1408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/>
              <a:t>print("Total Sales:", </a:t>
            </a:r>
            <a:r>
              <a:rPr dirty="0" err="1"/>
              <a:t>df</a:t>
            </a:r>
            <a:r>
              <a:rPr dirty="0"/>
              <a:t>['Purchase'].sum())</a:t>
            </a:r>
            <a:br>
              <a:rPr dirty="0"/>
            </a:br>
            <a:r>
              <a:rPr dirty="0"/>
              <a:t>print("Average Purchase:", </a:t>
            </a:r>
            <a:r>
              <a:rPr dirty="0" err="1"/>
              <a:t>df</a:t>
            </a:r>
            <a:r>
              <a:rPr dirty="0"/>
              <a:t>['Purchase'].mean())</a:t>
            </a:r>
            <a:br>
              <a:rPr dirty="0"/>
            </a:br>
            <a:r>
              <a:rPr dirty="0"/>
              <a:t>print("Minimum Purchase:", </a:t>
            </a:r>
            <a:r>
              <a:rPr dirty="0" err="1"/>
              <a:t>df</a:t>
            </a:r>
            <a:r>
              <a:rPr dirty="0"/>
              <a:t>['Purchase'].min())</a:t>
            </a:r>
            <a:br>
              <a:rPr dirty="0"/>
            </a:br>
            <a:r>
              <a:rPr dirty="0"/>
              <a:t>print("Maximum Purchase:", </a:t>
            </a:r>
            <a:r>
              <a:rPr dirty="0" err="1"/>
              <a:t>df</a:t>
            </a:r>
            <a:r>
              <a:rPr dirty="0"/>
              <a:t>['Purchase'].max())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0390" y="2474421"/>
            <a:ext cx="21881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  <a:endParaRPr lang="en-IN" sz="1400" dirty="0"/>
          </a:p>
          <a:p>
            <a:pPr>
              <a:defRPr sz="1200" b="1"/>
            </a:pPr>
            <a:endParaRPr sz="1400" dirty="0"/>
          </a:p>
          <a:p>
            <a:pPr>
              <a:defRPr sz="830">
                <a:latin typeface="Consolas"/>
              </a:defRPr>
            </a:pPr>
            <a:r>
              <a:rPr sz="1400" dirty="0"/>
              <a:t>Total Sales: 5095812742</a:t>
            </a:r>
            <a:br>
              <a:rPr sz="1400" dirty="0"/>
            </a:br>
            <a:r>
              <a:rPr sz="1400" dirty="0"/>
              <a:t>Average Purchase: 9263.968712959126</a:t>
            </a:r>
            <a:br>
              <a:rPr sz="1400" dirty="0"/>
            </a:br>
            <a:r>
              <a:rPr sz="1400" dirty="0"/>
              <a:t>Minimum Purchase: 12</a:t>
            </a:r>
            <a:br>
              <a:rPr sz="1400" dirty="0"/>
            </a:br>
            <a:r>
              <a:rPr sz="1400" dirty="0"/>
              <a:t>Maximum Purchase: 23961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5196679"/>
            <a:ext cx="4394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This is another calculation of the overall sales baseline: total sales 5,095,812,742, average Purchase about 9,263.97, minimum 12 and maximum 23,961.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7174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42/85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88C7DC-9C68-1B04-CCCB-7D5F4C78402B}"/>
              </a:ext>
            </a:extLst>
          </p:cNvPr>
          <p:cNvCxnSpPr/>
          <p:nvPr/>
        </p:nvCxnSpPr>
        <p:spPr>
          <a:xfrm>
            <a:off x="54356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F38E1DA-FABF-A1D0-7831-BD48E1F6608D}"/>
              </a:ext>
            </a:extLst>
          </p:cNvPr>
          <p:cNvSpPr txBox="1"/>
          <p:nvPr/>
        </p:nvSpPr>
        <p:spPr>
          <a:xfrm>
            <a:off x="5750560" y="247334"/>
            <a:ext cx="599947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43: Pivot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BB7A4E-3898-7D84-AC4D-CBF85737DC9C}"/>
              </a:ext>
            </a:extLst>
          </p:cNvPr>
          <p:cNvSpPr txBox="1"/>
          <p:nvPr/>
        </p:nvSpPr>
        <p:spPr>
          <a:xfrm>
            <a:off x="5789512" y="812088"/>
            <a:ext cx="2951356" cy="155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pivot_table</a:t>
            </a:r>
            <a:r>
              <a:rPr dirty="0"/>
              <a:t> = </a:t>
            </a:r>
            <a:r>
              <a:rPr dirty="0" err="1"/>
              <a:t>pd.pivot_table</a:t>
            </a:r>
            <a:r>
              <a:rPr dirty="0"/>
              <a:t>(</a:t>
            </a:r>
            <a:br>
              <a:rPr dirty="0"/>
            </a:br>
            <a:r>
              <a:rPr dirty="0"/>
              <a:t>    </a:t>
            </a:r>
            <a:r>
              <a:rPr dirty="0" err="1"/>
              <a:t>df</a:t>
            </a:r>
            <a:r>
              <a:rPr dirty="0"/>
              <a:t>,</a:t>
            </a:r>
            <a:br>
              <a:rPr dirty="0"/>
            </a:br>
            <a:r>
              <a:rPr dirty="0"/>
              <a:t>    values='Purchase',</a:t>
            </a:r>
            <a:br>
              <a:rPr dirty="0"/>
            </a:br>
            <a:r>
              <a:rPr dirty="0"/>
              <a:t>    index='Age',</a:t>
            </a:r>
            <a:br>
              <a:rPr dirty="0"/>
            </a:br>
            <a:r>
              <a:rPr dirty="0"/>
              <a:t>    columns='Gender',</a:t>
            </a:r>
            <a:br>
              <a:rPr dirty="0"/>
            </a:br>
            <a:r>
              <a:rPr dirty="0"/>
              <a:t>    </a:t>
            </a:r>
            <a:r>
              <a:rPr dirty="0" err="1"/>
              <a:t>aggfunc</a:t>
            </a:r>
            <a:r>
              <a:rPr dirty="0"/>
              <a:t>='sum'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pivot_table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04AAF9-8CEC-2EBA-B4D9-FA5262620545}"/>
              </a:ext>
            </a:extLst>
          </p:cNvPr>
          <p:cNvSpPr txBox="1"/>
          <p:nvPr/>
        </p:nvSpPr>
        <p:spPr>
          <a:xfrm>
            <a:off x="7697726" y="2105546"/>
            <a:ext cx="361420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  <a:endParaRPr lang="en-IN" sz="1400" dirty="0"/>
          </a:p>
          <a:p>
            <a:pPr>
              <a:defRPr sz="1200" b="1"/>
            </a:pPr>
            <a:endParaRPr sz="1400" dirty="0"/>
          </a:p>
          <a:p>
            <a:pPr>
              <a:defRPr sz="830">
                <a:latin typeface="Consolas"/>
              </a:defRPr>
            </a:pPr>
            <a:r>
              <a:rPr sz="1400" dirty="0"/>
              <a:t>Gender          F           M</a:t>
            </a:r>
            <a:br>
              <a:rPr sz="1400" dirty="0"/>
            </a:br>
            <a:r>
              <a:rPr sz="1400" dirty="0"/>
              <a:t>Age                          </a:t>
            </a:r>
            <a:br>
              <a:rPr sz="1400" dirty="0"/>
            </a:br>
            <a:r>
              <a:rPr sz="1400" dirty="0"/>
              <a:t>0-17     42385978    92527205</a:t>
            </a:r>
            <a:br>
              <a:rPr sz="1400" dirty="0"/>
            </a:br>
            <a:r>
              <a:rPr sz="1400" dirty="0"/>
              <a:t>18-25   205475842   708372833</a:t>
            </a:r>
            <a:br>
              <a:rPr sz="1400" dirty="0"/>
            </a:br>
            <a:r>
              <a:rPr sz="1400" dirty="0"/>
              <a:t>26-35   442976233  1588794345</a:t>
            </a:r>
            <a:br>
              <a:rPr sz="1400" dirty="0"/>
            </a:br>
            <a:r>
              <a:rPr sz="1400" dirty="0"/>
              <a:t>36-45   243438963   783130921</a:t>
            </a:r>
            <a:br>
              <a:rPr sz="1400" dirty="0"/>
            </a:br>
            <a:r>
              <a:rPr sz="1400" dirty="0"/>
              <a:t>46-50   116706864   304136539</a:t>
            </a:r>
            <a:br>
              <a:rPr sz="1400" dirty="0"/>
            </a:br>
            <a:r>
              <a:rPr sz="1400" dirty="0"/>
              <a:t>51-55    89465997   277633647</a:t>
            </a:r>
            <a:br>
              <a:rPr sz="1400" dirty="0"/>
            </a:br>
            <a:r>
              <a:rPr sz="1400" dirty="0"/>
              <a:t>55+      45782765   154984610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3A71DD-D8D1-1A33-44BA-91D46DF8BE51}"/>
              </a:ext>
            </a:extLst>
          </p:cNvPr>
          <p:cNvSpPr txBox="1"/>
          <p:nvPr/>
        </p:nvSpPr>
        <p:spPr>
          <a:xfrm>
            <a:off x="5750560" y="5035949"/>
            <a:ext cx="59269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 pivot table breaks total Purchase into Age × Gender. For example, the 26-35 male group has 1,588,794,345 in total Purchase, while 26-35 female has 442,976,233.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5B61D6-47E2-D7F3-7C33-598CD1273DFF}"/>
              </a:ext>
            </a:extLst>
          </p:cNvPr>
          <p:cNvSpPr txBox="1"/>
          <p:nvPr/>
        </p:nvSpPr>
        <p:spPr>
          <a:xfrm>
            <a:off x="10828102" y="6499352"/>
            <a:ext cx="9676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43/85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A5CF22-D82C-AFB0-4D37-E3E192CE32A4}"/>
              </a:ext>
            </a:extLst>
          </p:cNvPr>
          <p:cNvSpPr/>
          <p:nvPr/>
        </p:nvSpPr>
        <p:spPr>
          <a:xfrm>
            <a:off x="1645920" y="2831690"/>
            <a:ext cx="2875265" cy="187239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F63332-2E80-191A-80A2-3BF9B19A0AD1}"/>
              </a:ext>
            </a:extLst>
          </p:cNvPr>
          <p:cNvSpPr/>
          <p:nvPr/>
        </p:nvSpPr>
        <p:spPr>
          <a:xfrm>
            <a:off x="7457440" y="2511384"/>
            <a:ext cx="3854491" cy="219269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384122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44: 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880" y="663211"/>
            <a:ext cx="3053080" cy="1125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numeric_columns</a:t>
            </a:r>
            <a:r>
              <a:rPr dirty="0"/>
              <a:t> = </a:t>
            </a:r>
            <a:r>
              <a:rPr dirty="0" err="1"/>
              <a:t>df.select_dtypes</a:t>
            </a:r>
            <a:r>
              <a:rPr dirty="0"/>
              <a:t>(include=</a:t>
            </a:r>
            <a:r>
              <a:rPr dirty="0" err="1"/>
              <a:t>np.number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correlation = </a:t>
            </a:r>
            <a:r>
              <a:rPr dirty="0" err="1"/>
              <a:t>numeric_columns.corr</a:t>
            </a:r>
            <a:r>
              <a:rPr dirty="0"/>
              <a:t>()</a:t>
            </a:r>
            <a:br>
              <a:rPr dirty="0"/>
            </a:br>
            <a:br>
              <a:rPr dirty="0"/>
            </a:br>
            <a:r>
              <a:rPr dirty="0"/>
              <a:t>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" y="2091939"/>
            <a:ext cx="584708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00" dirty="0"/>
              <a:t>OUTPUT / RESULT</a:t>
            </a:r>
            <a:endParaRPr lang="en-IN" sz="1000" dirty="0"/>
          </a:p>
          <a:p>
            <a:pPr>
              <a:defRPr sz="1200" b="1"/>
            </a:pPr>
            <a:endParaRPr sz="1000" dirty="0"/>
          </a:p>
          <a:p>
            <a:pPr>
              <a:defRPr sz="830">
                <a:latin typeface="Consolas"/>
              </a:defRPr>
            </a:pPr>
            <a:r>
              <a:rPr sz="1000" dirty="0" err="1"/>
              <a:t>User_ID</a:t>
            </a:r>
            <a:r>
              <a:rPr sz="1000" dirty="0"/>
              <a:t>  Occupation  </a:t>
            </a:r>
            <a:r>
              <a:rPr sz="1000" dirty="0" err="1"/>
              <a:t>Marital_Status</a:t>
            </a:r>
            <a:r>
              <a:rPr sz="1000" dirty="0"/>
              <a:t>  Product_Category_1  \</a:t>
            </a:r>
            <a:br>
              <a:rPr sz="1000" dirty="0"/>
            </a:br>
            <a:r>
              <a:rPr sz="1000" dirty="0" err="1"/>
              <a:t>User_ID</a:t>
            </a:r>
            <a:r>
              <a:rPr sz="1000" dirty="0"/>
              <a:t>             1.000000   -0.023971        0.020443            0.003825   </a:t>
            </a:r>
            <a:br>
              <a:rPr sz="1000" dirty="0"/>
            </a:br>
            <a:r>
              <a:rPr sz="1000" dirty="0"/>
              <a:t>Occupation         -0.023971    1.000000        0.024280           -0.007618   </a:t>
            </a:r>
            <a:br>
              <a:rPr sz="1000" dirty="0"/>
            </a:br>
            <a:r>
              <a:rPr sz="1000" dirty="0" err="1"/>
              <a:t>Marital_Status</a:t>
            </a:r>
            <a:r>
              <a:rPr sz="1000" dirty="0"/>
              <a:t>      0.020443    0.024280        1.000000            0.019888   </a:t>
            </a:r>
            <a:br>
              <a:rPr sz="1000" dirty="0"/>
            </a:br>
            <a:r>
              <a:rPr sz="1000" dirty="0"/>
              <a:t>Product_Category_1  0.003825   -0.007618        0.019888            1.000000   </a:t>
            </a:r>
            <a:br>
              <a:rPr sz="1000" dirty="0"/>
            </a:br>
            <a:r>
              <a:rPr sz="1000" dirty="0"/>
              <a:t>Product_Category_2  0.003896    0.006712        0.001099           -0.067877   </a:t>
            </a:r>
            <a:br>
              <a:rPr sz="1000" dirty="0"/>
            </a:br>
            <a:r>
              <a:rPr sz="1000" dirty="0"/>
              <a:t>Product_Category_3  0.003605    0.012269       -0.004629           -0.385534   </a:t>
            </a:r>
            <a:br>
              <a:rPr sz="1000" dirty="0"/>
            </a:br>
            <a:r>
              <a:rPr sz="1000" dirty="0"/>
              <a:t>Purchase            0.004716    0.020833       -0.000463           -0.343703   </a:t>
            </a:r>
            <a:br>
              <a:rPr sz="1000" dirty="0"/>
            </a:br>
            <a:br>
              <a:rPr sz="1000" dirty="0"/>
            </a:br>
            <a:r>
              <a:rPr sz="1000" dirty="0"/>
              <a:t>                    Product_Category_2  Product_Category_3  Purchase  </a:t>
            </a:r>
            <a:br>
              <a:rPr sz="1000" dirty="0"/>
            </a:br>
            <a:r>
              <a:rPr sz="1000" dirty="0" err="1"/>
              <a:t>User_ID</a:t>
            </a:r>
            <a:r>
              <a:rPr sz="1000" dirty="0"/>
              <a:t>                       0.003896            0.003605  0.004716  </a:t>
            </a:r>
            <a:br>
              <a:rPr sz="1000" dirty="0"/>
            </a:br>
            <a:r>
              <a:rPr sz="1000" dirty="0"/>
              <a:t>Occupation                    0.006712            0.012269  0.020833  </a:t>
            </a:r>
            <a:br>
              <a:rPr sz="1000" dirty="0"/>
            </a:br>
            <a:r>
              <a:rPr sz="1000" dirty="0" err="1"/>
              <a:t>Marital_Status</a:t>
            </a:r>
            <a:r>
              <a:rPr sz="1000" dirty="0"/>
              <a:t>                0.001099           -0.004629 -0.000463  </a:t>
            </a:r>
            <a:br>
              <a:rPr sz="1000" dirty="0"/>
            </a:br>
            <a:r>
              <a:rPr sz="1000" dirty="0"/>
              <a:t>Product_Category_1           -0.067877           -0.385534 -0.343703  </a:t>
            </a:r>
            <a:br>
              <a:rPr sz="1000" dirty="0"/>
            </a:br>
            <a:r>
              <a:rPr sz="1000" dirty="0"/>
              <a:t>Product_Category_2            1.000000            0.094750  0.052288  </a:t>
            </a:r>
            <a:br>
              <a:rPr sz="1000" dirty="0"/>
            </a:br>
            <a:r>
              <a:rPr sz="1000" dirty="0"/>
              <a:t>Product_Category_3            0.094750            1.000000  0.288501  </a:t>
            </a:r>
            <a:br>
              <a:rPr sz="1000" dirty="0"/>
            </a:br>
            <a:r>
              <a:rPr sz="1000" dirty="0"/>
              <a:t>Purchase                      0.052288            0.288501  1.000000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" y="5151794"/>
            <a:ext cx="49580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The correlation matrix measures linear association among numeric variables. Purchase has a correlation of -0.3437 with Product_Category_1, 0.2885 with Product_Category_3, and 0.0523 with Product_Category_2. Correlation indicates association, not causation.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61955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44/85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A59762-9FD0-7E12-9877-FE405093F5C7}"/>
              </a:ext>
            </a:extLst>
          </p:cNvPr>
          <p:cNvCxnSpPr/>
          <p:nvPr/>
        </p:nvCxnSpPr>
        <p:spPr>
          <a:xfrm>
            <a:off x="5923280" y="0"/>
            <a:ext cx="0" cy="6939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C1CC2B6-DDCC-E0F3-6C9E-CD1E10059F80}"/>
              </a:ext>
            </a:extLst>
          </p:cNvPr>
          <p:cNvSpPr txBox="1"/>
          <p:nvPr/>
        </p:nvSpPr>
        <p:spPr>
          <a:xfrm>
            <a:off x="6268720" y="153216"/>
            <a:ext cx="548131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45: Gender and Age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D0D50-7E0D-71CE-C00B-0272B4A8D909}"/>
              </a:ext>
            </a:extLst>
          </p:cNvPr>
          <p:cNvSpPr txBox="1"/>
          <p:nvPr/>
        </p:nvSpPr>
        <p:spPr>
          <a:xfrm>
            <a:off x="6268720" y="671339"/>
            <a:ext cx="3211256" cy="842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gender_age_sales</a:t>
            </a:r>
            <a:r>
              <a:rPr dirty="0"/>
              <a:t> = </a:t>
            </a:r>
            <a:r>
              <a:rPr dirty="0" err="1"/>
              <a:t>df.groupby</a:t>
            </a:r>
            <a:r>
              <a:rPr dirty="0"/>
              <a:t>(['Age', 'Gender'])['Purchase'].sum().</a:t>
            </a:r>
            <a:r>
              <a:rPr dirty="0" err="1"/>
              <a:t>reset_index</a:t>
            </a:r>
            <a:r>
              <a:rPr dirty="0"/>
              <a:t>()</a:t>
            </a:r>
            <a:br>
              <a:rPr dirty="0"/>
            </a:br>
            <a:br>
              <a:rPr dirty="0"/>
            </a:br>
            <a:r>
              <a:rPr dirty="0" err="1"/>
              <a:t>gender_age_sales.head</a:t>
            </a:r>
            <a:r>
              <a:rPr dirty="0"/>
              <a:t>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E4154-E816-310C-1A6F-A4A7054726F2}"/>
              </a:ext>
            </a:extLst>
          </p:cNvPr>
          <p:cNvSpPr txBox="1"/>
          <p:nvPr/>
        </p:nvSpPr>
        <p:spPr>
          <a:xfrm>
            <a:off x="7231030" y="2238280"/>
            <a:ext cx="405672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/>
              <a:t>OUTPUT / RESULT</a:t>
            </a:r>
            <a:endParaRPr lang="en-IN" sz="1600" dirty="0"/>
          </a:p>
          <a:p>
            <a:pPr>
              <a:defRPr sz="1200" b="1"/>
            </a:pPr>
            <a:endParaRPr sz="1600" dirty="0"/>
          </a:p>
          <a:p>
            <a:pPr>
              <a:defRPr sz="830">
                <a:latin typeface="Consolas"/>
              </a:defRPr>
            </a:pPr>
            <a:r>
              <a:rPr lang="en-IN" sz="1600" dirty="0"/>
              <a:t>	</a:t>
            </a:r>
            <a:r>
              <a:rPr sz="1600" dirty="0"/>
              <a:t>Age </a:t>
            </a:r>
            <a:r>
              <a:rPr lang="en-IN" sz="1600" dirty="0"/>
              <a:t>		</a:t>
            </a:r>
            <a:r>
              <a:rPr sz="1600" dirty="0"/>
              <a:t>Gender</a:t>
            </a:r>
            <a:r>
              <a:rPr lang="en-IN" sz="1600" dirty="0"/>
              <a:t>	Pu</a:t>
            </a:r>
            <a:r>
              <a:rPr sz="1600" dirty="0" err="1"/>
              <a:t>rchase</a:t>
            </a:r>
            <a:br>
              <a:rPr sz="1600" dirty="0"/>
            </a:br>
            <a:r>
              <a:rPr sz="1600" dirty="0"/>
              <a:t>0   0-17      F   </a:t>
            </a:r>
            <a:r>
              <a:rPr lang="en-IN" sz="1600" dirty="0"/>
              <a:t>	</a:t>
            </a:r>
            <a:r>
              <a:rPr sz="1600" dirty="0"/>
              <a:t>42385978</a:t>
            </a:r>
            <a:br>
              <a:rPr sz="1600" dirty="0"/>
            </a:br>
            <a:r>
              <a:rPr sz="1600" dirty="0"/>
              <a:t>1   0-17      M   </a:t>
            </a:r>
            <a:r>
              <a:rPr lang="en-IN" sz="1600" dirty="0"/>
              <a:t>	</a:t>
            </a:r>
            <a:r>
              <a:rPr sz="1600" dirty="0"/>
              <a:t>92527205</a:t>
            </a:r>
            <a:br>
              <a:rPr sz="1600" dirty="0"/>
            </a:br>
            <a:r>
              <a:rPr sz="1600" dirty="0"/>
              <a:t>2  18-25      F  </a:t>
            </a:r>
            <a:r>
              <a:rPr lang="en-IN" sz="1600" dirty="0"/>
              <a:t>	</a:t>
            </a:r>
            <a:r>
              <a:rPr sz="1600" dirty="0"/>
              <a:t>205475842</a:t>
            </a:r>
            <a:br>
              <a:rPr sz="1600" dirty="0"/>
            </a:br>
            <a:r>
              <a:rPr sz="1600" dirty="0"/>
              <a:t>3  18-25      M  </a:t>
            </a:r>
            <a:r>
              <a:rPr lang="en-IN" sz="1600" dirty="0"/>
              <a:t>	</a:t>
            </a:r>
            <a:r>
              <a:rPr sz="1600" dirty="0"/>
              <a:t>708372833</a:t>
            </a:r>
            <a:br>
              <a:rPr sz="1600" dirty="0"/>
            </a:br>
            <a:r>
              <a:rPr sz="1600" dirty="0"/>
              <a:t>4  26-35      F  </a:t>
            </a:r>
            <a:r>
              <a:rPr lang="en-IN" sz="1600" dirty="0"/>
              <a:t>	</a:t>
            </a:r>
            <a:r>
              <a:rPr sz="1600" dirty="0"/>
              <a:t>442976233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F0B268-E837-CC6D-1A1D-42A30CB43D50}"/>
              </a:ext>
            </a:extLst>
          </p:cNvPr>
          <p:cNvSpPr txBox="1"/>
          <p:nvPr/>
        </p:nvSpPr>
        <p:spPr>
          <a:xfrm>
            <a:off x="6255559" y="5146714"/>
            <a:ext cx="56519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The grouped table combines Age and Gender and calculates total Purchase for each combination. The first rows show that 0-17 male transactions total 92,527,205 versus 42,385,978 for females in that age group.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42D51E-D558-B71E-4FB8-1B0A818B63C9}"/>
              </a:ext>
            </a:extLst>
          </p:cNvPr>
          <p:cNvSpPr txBox="1"/>
          <p:nvPr/>
        </p:nvSpPr>
        <p:spPr>
          <a:xfrm>
            <a:off x="10742888" y="6473952"/>
            <a:ext cx="105287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45/85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B0AF9A-436C-28FD-78D9-4A298FCAF01B}"/>
              </a:ext>
            </a:extLst>
          </p:cNvPr>
          <p:cNvSpPr/>
          <p:nvPr/>
        </p:nvSpPr>
        <p:spPr>
          <a:xfrm>
            <a:off x="121920" y="2408903"/>
            <a:ext cx="5638797" cy="262401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F4FA81-B110-D2B6-0337-6B8AC2141DAF}"/>
              </a:ext>
            </a:extLst>
          </p:cNvPr>
          <p:cNvSpPr/>
          <p:nvPr/>
        </p:nvSpPr>
        <p:spPr>
          <a:xfrm>
            <a:off x="6786880" y="2585884"/>
            <a:ext cx="4358640" cy="218931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892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46: City and Gender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6"/>
            <a:ext cx="2788920" cy="98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city_gender_sales</a:t>
            </a:r>
            <a:r>
              <a:rPr dirty="0"/>
              <a:t> = </a:t>
            </a:r>
            <a:r>
              <a:rPr dirty="0" err="1"/>
              <a:t>df.groupby</a:t>
            </a:r>
            <a:r>
              <a:rPr dirty="0"/>
              <a:t>(</a:t>
            </a:r>
            <a:br>
              <a:rPr dirty="0"/>
            </a:br>
            <a:r>
              <a:rPr dirty="0"/>
              <a:t>    ['</a:t>
            </a:r>
            <a:r>
              <a:rPr dirty="0" err="1"/>
              <a:t>City_Category</a:t>
            </a:r>
            <a:r>
              <a:rPr dirty="0"/>
              <a:t>', 'Gender']</a:t>
            </a:r>
            <a:br>
              <a:rPr dirty="0"/>
            </a:br>
            <a:r>
              <a:rPr dirty="0"/>
              <a:t>)['Purchase'].sum().</a:t>
            </a:r>
            <a:r>
              <a:rPr dirty="0" err="1"/>
              <a:t>reset_index</a:t>
            </a:r>
            <a:r>
              <a:rPr dirty="0"/>
              <a:t>()</a:t>
            </a:r>
            <a:br>
              <a:rPr dirty="0"/>
            </a:br>
            <a:br>
              <a:rPr dirty="0"/>
            </a:br>
            <a:r>
              <a:rPr dirty="0" err="1"/>
              <a:t>city_gender_sales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2303010"/>
            <a:ext cx="43840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lang="en-IN" sz="1400" dirty="0"/>
              <a:t>	</a:t>
            </a:r>
            <a:r>
              <a:rPr sz="1400" dirty="0" err="1"/>
              <a:t>City_Category</a:t>
            </a:r>
            <a:r>
              <a:rPr sz="1400" dirty="0"/>
              <a:t> Gender    Purchase</a:t>
            </a:r>
            <a:br>
              <a:rPr sz="1400" dirty="0"/>
            </a:br>
            <a:r>
              <a:rPr sz="1400" dirty="0"/>
              <a:t>0             A      F   </a:t>
            </a:r>
            <a:r>
              <a:rPr lang="en-IN" sz="1400" dirty="0"/>
              <a:t>	 </a:t>
            </a:r>
            <a:r>
              <a:rPr sz="1400" dirty="0"/>
              <a:t>306329915</a:t>
            </a:r>
            <a:br>
              <a:rPr sz="1400" dirty="0"/>
            </a:br>
            <a:r>
              <a:rPr sz="1400" dirty="0"/>
              <a:t>1             A      M  </a:t>
            </a:r>
            <a:r>
              <a:rPr lang="en-IN" sz="1400" dirty="0"/>
              <a:t>	</a:t>
            </a:r>
            <a:r>
              <a:rPr sz="1400" dirty="0"/>
              <a:t>1010141746</a:t>
            </a:r>
            <a:br>
              <a:rPr sz="1400" dirty="0"/>
            </a:br>
            <a:r>
              <a:rPr sz="1400" dirty="0"/>
              <a:t>2             B      F   </a:t>
            </a:r>
            <a:r>
              <a:rPr lang="en-IN" sz="1400" dirty="0"/>
              <a:t>	 </a:t>
            </a:r>
            <a:r>
              <a:rPr sz="1400" dirty="0"/>
              <a:t>493617008</a:t>
            </a:r>
            <a:br>
              <a:rPr sz="1400" dirty="0"/>
            </a:br>
            <a:r>
              <a:rPr sz="1400" dirty="0"/>
              <a:t>3             B      M  </a:t>
            </a:r>
            <a:r>
              <a:rPr lang="en-IN" sz="1400" dirty="0"/>
              <a:t>	</a:t>
            </a:r>
            <a:r>
              <a:rPr sz="1400" dirty="0"/>
              <a:t>1621916597</a:t>
            </a:r>
            <a:br>
              <a:rPr sz="1400" dirty="0"/>
            </a:br>
            <a:r>
              <a:rPr sz="1400" dirty="0"/>
              <a:t>4             C      F   </a:t>
            </a:r>
            <a:r>
              <a:rPr lang="en-IN" sz="1400" dirty="0"/>
              <a:t>	 </a:t>
            </a:r>
            <a:r>
              <a:rPr sz="1400" dirty="0"/>
              <a:t>386285719</a:t>
            </a:r>
            <a:br>
              <a:rPr sz="1400" dirty="0"/>
            </a:br>
            <a:r>
              <a:rPr sz="1400" dirty="0"/>
              <a:t>5             C      M  </a:t>
            </a:r>
            <a:r>
              <a:rPr lang="en-IN" sz="1400" dirty="0"/>
              <a:t>	</a:t>
            </a:r>
            <a:r>
              <a:rPr sz="1400" dirty="0"/>
              <a:t>1277521757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17008"/>
            <a:ext cx="48328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grouped table combines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City_Category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and Gender. For example, male transactions total 1,621,916,597 in city category B, while female transactions total 493,617,008 there.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C3FB31-CE56-EE23-F14B-18A708F51F26}"/>
              </a:ext>
            </a:extLst>
          </p:cNvPr>
          <p:cNvCxnSpPr>
            <a:cxnSpLocks/>
          </p:cNvCxnSpPr>
          <p:nvPr/>
        </p:nvCxnSpPr>
        <p:spPr>
          <a:xfrm>
            <a:off x="5374640" y="0"/>
            <a:ext cx="0" cy="6949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2A2C8A-4F01-97FD-E80F-921BEC2A56DD}"/>
              </a:ext>
            </a:extLst>
          </p:cNvPr>
          <p:cNvSpPr txBox="1"/>
          <p:nvPr/>
        </p:nvSpPr>
        <p:spPr>
          <a:xfrm>
            <a:off x="5666330" y="201168"/>
            <a:ext cx="52781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47: Age and City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4A8DE2-A384-2509-32A8-06CE1748A73E}"/>
              </a:ext>
            </a:extLst>
          </p:cNvPr>
          <p:cNvSpPr txBox="1"/>
          <p:nvPr/>
        </p:nvSpPr>
        <p:spPr>
          <a:xfrm>
            <a:off x="5708895" y="749807"/>
            <a:ext cx="3617985" cy="1267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age_city</a:t>
            </a:r>
            <a:r>
              <a:rPr dirty="0"/>
              <a:t> = (</a:t>
            </a:r>
            <a:br>
              <a:rPr dirty="0"/>
            </a:br>
            <a:r>
              <a:rPr dirty="0"/>
              <a:t>    </a:t>
            </a:r>
            <a:r>
              <a:rPr dirty="0" err="1"/>
              <a:t>df.groupby</a:t>
            </a:r>
            <a:r>
              <a:rPr dirty="0"/>
              <a:t>(['Age', '</a:t>
            </a:r>
            <a:r>
              <a:rPr dirty="0" err="1"/>
              <a:t>City_Category</a:t>
            </a:r>
            <a:r>
              <a:rPr dirty="0"/>
              <a:t>'])['Purchase']</a:t>
            </a:r>
            <a:br>
              <a:rPr dirty="0"/>
            </a:br>
            <a:r>
              <a:rPr dirty="0"/>
              <a:t>    .sum()</a:t>
            </a:r>
            <a:br>
              <a:rPr dirty="0"/>
            </a:br>
            <a:r>
              <a:rPr dirty="0"/>
              <a:t>    .</a:t>
            </a:r>
            <a:r>
              <a:rPr dirty="0" err="1"/>
              <a:t>reset_index</a:t>
            </a:r>
            <a:r>
              <a:rPr dirty="0"/>
              <a:t>()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age_city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1DA559-120B-D821-02E1-AF4E4C556623}"/>
              </a:ext>
            </a:extLst>
          </p:cNvPr>
          <p:cNvSpPr txBox="1"/>
          <p:nvPr/>
        </p:nvSpPr>
        <p:spPr>
          <a:xfrm>
            <a:off x="8696987" y="1456640"/>
            <a:ext cx="338325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lang="en-IN" sz="1200" dirty="0"/>
              <a:t>	</a:t>
            </a:r>
            <a:r>
              <a:rPr sz="1200" dirty="0"/>
              <a:t>Age </a:t>
            </a:r>
            <a:r>
              <a:rPr lang="en-IN" sz="1200" dirty="0"/>
              <a:t>	</a:t>
            </a:r>
            <a:r>
              <a:rPr sz="1200" dirty="0" err="1"/>
              <a:t>City_Category</a:t>
            </a:r>
            <a:r>
              <a:rPr sz="1200" dirty="0"/>
              <a:t>   Purchase</a:t>
            </a:r>
            <a:br>
              <a:rPr sz="1200" dirty="0"/>
            </a:br>
            <a:r>
              <a:rPr sz="1200" dirty="0"/>
              <a:t>0    0-17             A  </a:t>
            </a:r>
            <a:r>
              <a:rPr lang="en-IN" sz="1200" dirty="0"/>
              <a:t>	</a:t>
            </a:r>
            <a:r>
              <a:rPr sz="1200" dirty="0"/>
              <a:t> 21916841</a:t>
            </a:r>
            <a:br>
              <a:rPr sz="1200" dirty="0"/>
            </a:br>
            <a:r>
              <a:rPr sz="1200" dirty="0"/>
              <a:t>1    0-17             B   </a:t>
            </a:r>
            <a:r>
              <a:rPr lang="en-IN" sz="1200" dirty="0"/>
              <a:t>	 </a:t>
            </a:r>
            <a:r>
              <a:rPr sz="1200" dirty="0"/>
              <a:t>48465500</a:t>
            </a:r>
            <a:br>
              <a:rPr sz="1200" dirty="0"/>
            </a:br>
            <a:r>
              <a:rPr sz="1200" dirty="0"/>
              <a:t>2    0-17             C   </a:t>
            </a:r>
            <a:r>
              <a:rPr lang="en-IN" sz="1200" dirty="0"/>
              <a:t>	 </a:t>
            </a:r>
            <a:r>
              <a:rPr sz="1200" dirty="0"/>
              <a:t>64530842</a:t>
            </a:r>
            <a:br>
              <a:rPr sz="1200" dirty="0"/>
            </a:br>
            <a:r>
              <a:rPr sz="1200" dirty="0"/>
              <a:t>3   18-25             A  </a:t>
            </a:r>
            <a:r>
              <a:rPr lang="en-IN" sz="1200" dirty="0"/>
              <a:t>  </a:t>
            </a:r>
            <a:r>
              <a:rPr sz="1200" dirty="0"/>
              <a:t>243236868</a:t>
            </a:r>
            <a:br>
              <a:rPr sz="1200" dirty="0"/>
            </a:br>
            <a:r>
              <a:rPr sz="1200" dirty="0"/>
              <a:t>4   18-25             B  </a:t>
            </a:r>
            <a:r>
              <a:rPr lang="en-IN" sz="1200" dirty="0"/>
              <a:t>  </a:t>
            </a:r>
            <a:r>
              <a:rPr sz="1200" dirty="0"/>
              <a:t>390594232</a:t>
            </a:r>
            <a:br>
              <a:rPr sz="1200" dirty="0"/>
            </a:br>
            <a:r>
              <a:rPr sz="1200" dirty="0"/>
              <a:t>5   18-25             C  </a:t>
            </a:r>
            <a:r>
              <a:rPr lang="en-IN" sz="1200" dirty="0"/>
              <a:t>  </a:t>
            </a:r>
            <a:r>
              <a:rPr sz="1200" dirty="0"/>
              <a:t>280017575</a:t>
            </a:r>
            <a:br>
              <a:rPr sz="1200" dirty="0"/>
            </a:br>
            <a:r>
              <a:rPr sz="1200" dirty="0"/>
              <a:t>6   26-35             A  </a:t>
            </a:r>
            <a:r>
              <a:rPr lang="en-IN" sz="1200" dirty="0"/>
              <a:t>  </a:t>
            </a:r>
            <a:r>
              <a:rPr sz="1200" dirty="0"/>
              <a:t>660202334</a:t>
            </a:r>
            <a:br>
              <a:rPr sz="1200" dirty="0"/>
            </a:br>
            <a:r>
              <a:rPr sz="1200" dirty="0"/>
              <a:t>7   26-35             B  </a:t>
            </a:r>
            <a:r>
              <a:rPr lang="en-IN" sz="1200" dirty="0"/>
              <a:t>  </a:t>
            </a:r>
            <a:r>
              <a:rPr sz="1200" dirty="0"/>
              <a:t>837919708</a:t>
            </a:r>
            <a:br>
              <a:rPr sz="1200" dirty="0"/>
            </a:br>
            <a:r>
              <a:rPr sz="1200" dirty="0"/>
              <a:t>8   26-35             C  </a:t>
            </a:r>
            <a:r>
              <a:rPr lang="en-IN" sz="1200" dirty="0"/>
              <a:t>  </a:t>
            </a:r>
            <a:r>
              <a:rPr sz="1200" dirty="0"/>
              <a:t>533648536</a:t>
            </a:r>
            <a:br>
              <a:rPr sz="1200" dirty="0"/>
            </a:br>
            <a:r>
              <a:rPr sz="1200" dirty="0"/>
              <a:t>9   36-45             A  </a:t>
            </a:r>
            <a:r>
              <a:rPr lang="en-IN" sz="1200" dirty="0"/>
              <a:t>  </a:t>
            </a:r>
            <a:r>
              <a:rPr sz="1200" dirty="0"/>
              <a:t>239295720</a:t>
            </a:r>
            <a:br>
              <a:rPr sz="1200" dirty="0"/>
            </a:br>
            <a:r>
              <a:rPr sz="1200" dirty="0"/>
              <a:t>10  36-45             B  </a:t>
            </a:r>
            <a:r>
              <a:rPr lang="en-IN" sz="1200" dirty="0"/>
              <a:t>  </a:t>
            </a:r>
            <a:r>
              <a:rPr sz="1200" dirty="0"/>
              <a:t>433517875</a:t>
            </a:r>
            <a:br>
              <a:rPr sz="1200" dirty="0"/>
            </a:br>
            <a:r>
              <a:rPr sz="1200" dirty="0"/>
              <a:t>11  36-45             C  </a:t>
            </a:r>
            <a:r>
              <a:rPr lang="en-IN" sz="1200" dirty="0"/>
              <a:t>  </a:t>
            </a:r>
            <a:r>
              <a:rPr sz="1200" dirty="0"/>
              <a:t>353756289</a:t>
            </a:r>
            <a:br>
              <a:rPr sz="1200" dirty="0"/>
            </a:br>
            <a:r>
              <a:rPr sz="1200" dirty="0"/>
              <a:t>12  46-50             A  </a:t>
            </a:r>
            <a:r>
              <a:rPr lang="en-IN" sz="1200" dirty="0"/>
              <a:t>  </a:t>
            </a:r>
            <a:r>
              <a:rPr sz="1200" dirty="0"/>
              <a:t> 63507243</a:t>
            </a:r>
            <a:br>
              <a:rPr sz="1200" dirty="0"/>
            </a:br>
            <a:r>
              <a:rPr sz="1200" dirty="0"/>
              <a:t>13  46-50             B  </a:t>
            </a:r>
            <a:r>
              <a:rPr lang="en-IN" sz="1200" dirty="0"/>
              <a:t>  </a:t>
            </a:r>
            <a:r>
              <a:rPr sz="1200" dirty="0"/>
              <a:t>188713201</a:t>
            </a:r>
            <a:br>
              <a:rPr sz="1200" dirty="0"/>
            </a:br>
            <a:r>
              <a:rPr sz="1200" dirty="0"/>
              <a:t>14  46-50             C  </a:t>
            </a:r>
            <a:r>
              <a:rPr lang="en-IN" sz="1200" dirty="0"/>
              <a:t>  </a:t>
            </a:r>
            <a:r>
              <a:rPr sz="1200" dirty="0"/>
              <a:t>168622959</a:t>
            </a:r>
            <a:br>
              <a:rPr sz="1200" dirty="0"/>
            </a:br>
            <a:r>
              <a:rPr sz="1200" dirty="0"/>
              <a:t>15  51-55             A  </a:t>
            </a:r>
            <a:r>
              <a:rPr lang="en-IN" sz="1200" dirty="0"/>
              <a:t>  </a:t>
            </a:r>
            <a:r>
              <a:rPr sz="1200" dirty="0"/>
              <a:t> 57992372</a:t>
            </a:r>
            <a:br>
              <a:rPr sz="1200" dirty="0"/>
            </a:br>
            <a:r>
              <a:rPr sz="1200" dirty="0"/>
              <a:t>16  51-55             B  </a:t>
            </a:r>
            <a:r>
              <a:rPr lang="en-IN" sz="1200" dirty="0"/>
              <a:t>  </a:t>
            </a:r>
            <a:r>
              <a:rPr sz="1200" dirty="0"/>
              <a:t>165717109</a:t>
            </a:r>
            <a:br>
              <a:rPr sz="1200" dirty="0"/>
            </a:br>
            <a:r>
              <a:rPr sz="1200" dirty="0"/>
              <a:t>17  51-55             C  </a:t>
            </a:r>
            <a:r>
              <a:rPr lang="en-IN" sz="1200" dirty="0"/>
              <a:t>  </a:t>
            </a:r>
            <a:r>
              <a:rPr sz="1200" dirty="0"/>
              <a:t>143390163</a:t>
            </a:r>
            <a:br>
              <a:rPr sz="1200" dirty="0"/>
            </a:br>
            <a:r>
              <a:rPr sz="1200" dirty="0"/>
              <a:t>18    55+             A  </a:t>
            </a:r>
            <a:r>
              <a:rPr lang="en-IN" sz="1200" dirty="0"/>
              <a:t>  </a:t>
            </a:r>
            <a:r>
              <a:rPr sz="1200" dirty="0"/>
              <a:t> 30320283</a:t>
            </a:r>
            <a:br>
              <a:rPr sz="1200" dirty="0"/>
            </a:br>
            <a:r>
              <a:rPr sz="1200" dirty="0"/>
              <a:t>19    55+             B   </a:t>
            </a:r>
            <a:r>
              <a:rPr lang="en-IN" sz="1200" dirty="0"/>
              <a:t>  </a:t>
            </a:r>
            <a:r>
              <a:rPr sz="1200" dirty="0"/>
              <a:t>50605980</a:t>
            </a:r>
            <a:br>
              <a:rPr sz="1200" dirty="0"/>
            </a:br>
            <a:r>
              <a:rPr sz="1200" dirty="0"/>
              <a:t>20    55+             C  </a:t>
            </a:r>
            <a:r>
              <a:rPr lang="en-IN" sz="1200" dirty="0"/>
              <a:t>  </a:t>
            </a:r>
            <a:r>
              <a:rPr sz="1200" dirty="0"/>
              <a:t>119841112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908423-9705-C4A5-F623-EAFD8237707D}"/>
              </a:ext>
            </a:extLst>
          </p:cNvPr>
          <p:cNvSpPr txBox="1"/>
          <p:nvPr/>
        </p:nvSpPr>
        <p:spPr>
          <a:xfrm>
            <a:off x="5504939" y="5633978"/>
            <a:ext cx="52142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The table combines Age and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City_Category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to show total Purchase for every age/city combination. It can be used to compare demographic sales across city categories.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0419DF-C91C-8C34-8710-F81BD357F7DD}"/>
              </a:ext>
            </a:extLst>
          </p:cNvPr>
          <p:cNvSpPr/>
          <p:nvPr/>
        </p:nvSpPr>
        <p:spPr>
          <a:xfrm>
            <a:off x="182880" y="2563076"/>
            <a:ext cx="4460233" cy="181588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9CC8C5-CA69-0B09-25F7-F25315EBCB7C}"/>
              </a:ext>
            </a:extLst>
          </p:cNvPr>
          <p:cNvSpPr/>
          <p:nvPr/>
        </p:nvSpPr>
        <p:spPr>
          <a:xfrm>
            <a:off x="8391136" y="1734050"/>
            <a:ext cx="3617984" cy="402162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52374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48: Find Highest Purchase Transaction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7"/>
            <a:ext cx="2218488" cy="41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df.loc</a:t>
            </a:r>
            <a:r>
              <a:rPr dirty="0"/>
              <a:t>[</a:t>
            </a:r>
            <a:r>
              <a:rPr dirty="0" err="1"/>
              <a:t>df</a:t>
            </a:r>
            <a:r>
              <a:rPr dirty="0"/>
              <a:t>['Purchase'].</a:t>
            </a:r>
            <a:r>
              <a:rPr dirty="0" err="1"/>
              <a:t>idxmax</a:t>
            </a:r>
            <a:r>
              <a:rPr dirty="0"/>
              <a:t>()]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603247"/>
            <a:ext cx="3683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200" dirty="0"/>
          </a:p>
          <a:p>
            <a:pPr>
              <a:defRPr sz="830">
                <a:latin typeface="Consolas"/>
              </a:defRPr>
            </a:pPr>
            <a:r>
              <a:rPr sz="1200" dirty="0" err="1"/>
              <a:t>User_ID</a:t>
            </a:r>
            <a:r>
              <a:rPr sz="1200" dirty="0"/>
              <a:t>                         1001474</a:t>
            </a:r>
            <a:br>
              <a:rPr sz="1200" dirty="0"/>
            </a:br>
            <a:r>
              <a:rPr sz="1200" dirty="0" err="1"/>
              <a:t>Product_ID</a:t>
            </a:r>
            <a:r>
              <a:rPr sz="1200" dirty="0"/>
              <a:t>                    P00052842</a:t>
            </a:r>
            <a:br>
              <a:rPr sz="1200" dirty="0"/>
            </a:br>
            <a:r>
              <a:rPr sz="1200" dirty="0"/>
              <a:t>Gender                                M</a:t>
            </a:r>
            <a:br>
              <a:rPr sz="1200" dirty="0"/>
            </a:br>
            <a:r>
              <a:rPr sz="1200" dirty="0"/>
              <a:t>Age                               26-35</a:t>
            </a:r>
            <a:br>
              <a:rPr sz="1200" dirty="0"/>
            </a:br>
            <a:r>
              <a:rPr sz="1200" dirty="0"/>
              <a:t>Occupation                            4</a:t>
            </a:r>
            <a:br>
              <a:rPr sz="1200" dirty="0"/>
            </a:br>
            <a:r>
              <a:rPr sz="1200" dirty="0" err="1"/>
              <a:t>City_Category</a:t>
            </a:r>
            <a:r>
              <a:rPr sz="1200" dirty="0"/>
              <a:t>                         A</a:t>
            </a:r>
            <a:br>
              <a:rPr sz="1200" dirty="0"/>
            </a:br>
            <a:r>
              <a:rPr sz="1200" dirty="0" err="1"/>
              <a:t>Stay_In_Current_City_Years</a:t>
            </a:r>
            <a:r>
              <a:rPr sz="1200" dirty="0"/>
              <a:t>            2</a:t>
            </a:r>
            <a:br>
              <a:rPr sz="1200" dirty="0"/>
            </a:br>
            <a:r>
              <a:rPr sz="1200" dirty="0" err="1"/>
              <a:t>Marital_Status</a:t>
            </a:r>
            <a:r>
              <a:rPr sz="1200" dirty="0"/>
              <a:t>                        1</a:t>
            </a:r>
            <a:br>
              <a:rPr sz="1200" dirty="0"/>
            </a:br>
            <a:r>
              <a:rPr sz="1200" dirty="0"/>
              <a:t>Product_Category_1                   10</a:t>
            </a:r>
            <a:br>
              <a:rPr sz="1200" dirty="0"/>
            </a:br>
            <a:r>
              <a:rPr sz="1200" dirty="0"/>
              <a:t>Product_Category_2                 15.0</a:t>
            </a:r>
            <a:br>
              <a:rPr sz="1200" dirty="0"/>
            </a:br>
            <a:r>
              <a:rPr sz="1200" dirty="0"/>
              <a:t>Product_Category_3                  0.0</a:t>
            </a:r>
            <a:br>
              <a:rPr sz="1200" dirty="0"/>
            </a:br>
            <a:r>
              <a:rPr sz="1200" dirty="0"/>
              <a:t>Purchase                          23961</a:t>
            </a:r>
            <a:br>
              <a:rPr sz="1200" dirty="0"/>
            </a:br>
            <a:r>
              <a:rPr sz="1200" dirty="0" err="1"/>
              <a:t>Purchase_Level</a:t>
            </a:r>
            <a:r>
              <a:rPr sz="1200" dirty="0"/>
              <a:t>                     High</a:t>
            </a:r>
            <a:br>
              <a:rPr sz="1200" dirty="0"/>
            </a:br>
            <a:r>
              <a:rPr sz="1200" dirty="0"/>
              <a:t>Name: 87440, </a:t>
            </a:r>
            <a:r>
              <a:rPr sz="1200" dirty="0" err="1"/>
              <a:t>dtype</a:t>
            </a:r>
            <a:r>
              <a:rPr sz="1200" dirty="0"/>
              <a:t>: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96679"/>
            <a:ext cx="44551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row with the maximum Purchase is identified. The maximum transaction is 23,961 for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User_ID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1001474,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Product_ID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P00052842, age 26-35, gender M, city 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7273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48/85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388C32-645F-8693-B91B-771E3F0EE3F6}"/>
              </a:ext>
            </a:extLst>
          </p:cNvPr>
          <p:cNvCxnSpPr/>
          <p:nvPr/>
        </p:nvCxnSpPr>
        <p:spPr>
          <a:xfrm>
            <a:off x="580136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633E611-B922-F90C-09F0-F3C786EAC53E}"/>
              </a:ext>
            </a:extLst>
          </p:cNvPr>
          <p:cNvSpPr txBox="1"/>
          <p:nvPr/>
        </p:nvSpPr>
        <p:spPr>
          <a:xfrm>
            <a:off x="6187440" y="153216"/>
            <a:ext cx="55625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49: Find Lowest Purchase Transaction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EF298A-17A5-67EA-A741-7CA79D872915}"/>
              </a:ext>
            </a:extLst>
          </p:cNvPr>
          <p:cNvSpPr txBox="1"/>
          <p:nvPr/>
        </p:nvSpPr>
        <p:spPr>
          <a:xfrm>
            <a:off x="6187440" y="736845"/>
            <a:ext cx="3041322" cy="41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df.loc</a:t>
            </a:r>
            <a:r>
              <a:rPr dirty="0"/>
              <a:t>[</a:t>
            </a:r>
            <a:r>
              <a:rPr dirty="0" err="1"/>
              <a:t>df</a:t>
            </a:r>
            <a:r>
              <a:rPr dirty="0"/>
              <a:t>['Purchase'].</a:t>
            </a:r>
            <a:r>
              <a:rPr dirty="0" err="1"/>
              <a:t>idxmin</a:t>
            </a:r>
            <a:r>
              <a:rPr dirty="0"/>
              <a:t>()]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D6BD9A-E21D-C67B-CAED-4D801A656AB1}"/>
              </a:ext>
            </a:extLst>
          </p:cNvPr>
          <p:cNvSpPr txBox="1"/>
          <p:nvPr/>
        </p:nvSpPr>
        <p:spPr>
          <a:xfrm>
            <a:off x="7289323" y="1694688"/>
            <a:ext cx="400858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200" dirty="0"/>
          </a:p>
          <a:p>
            <a:pPr>
              <a:defRPr sz="830">
                <a:latin typeface="Consolas"/>
              </a:defRPr>
            </a:pPr>
            <a:r>
              <a:rPr sz="1200" dirty="0" err="1"/>
              <a:t>User_ID</a:t>
            </a:r>
            <a:r>
              <a:rPr sz="1200" dirty="0"/>
              <a:t>                         1000050</a:t>
            </a:r>
            <a:br>
              <a:rPr sz="1200" dirty="0"/>
            </a:br>
            <a:r>
              <a:rPr sz="1200" dirty="0" err="1"/>
              <a:t>Product_ID</a:t>
            </a:r>
            <a:r>
              <a:rPr sz="1200" dirty="0"/>
              <a:t>                    P00370293</a:t>
            </a:r>
            <a:br>
              <a:rPr sz="1200" dirty="0"/>
            </a:br>
            <a:r>
              <a:rPr sz="1200" dirty="0"/>
              <a:t>Gender                                F</a:t>
            </a:r>
            <a:br>
              <a:rPr sz="1200" dirty="0"/>
            </a:br>
            <a:r>
              <a:rPr sz="1200" dirty="0"/>
              <a:t>Age                               26-35</a:t>
            </a:r>
            <a:br>
              <a:rPr sz="1200" dirty="0"/>
            </a:br>
            <a:r>
              <a:rPr sz="1200" dirty="0"/>
              <a:t>Occupation                            2</a:t>
            </a:r>
            <a:br>
              <a:rPr sz="1200" dirty="0"/>
            </a:br>
            <a:r>
              <a:rPr sz="1200" dirty="0" err="1"/>
              <a:t>City_Category</a:t>
            </a:r>
            <a:r>
              <a:rPr sz="1200" dirty="0"/>
              <a:t>                         A</a:t>
            </a:r>
            <a:br>
              <a:rPr sz="1200" dirty="0"/>
            </a:br>
            <a:r>
              <a:rPr sz="1200" dirty="0" err="1"/>
              <a:t>Stay_In_Current_City_Years</a:t>
            </a:r>
            <a:r>
              <a:rPr sz="1200" dirty="0"/>
              <a:t>            1</a:t>
            </a:r>
            <a:br>
              <a:rPr sz="1200" dirty="0"/>
            </a:br>
            <a:r>
              <a:rPr sz="1200" dirty="0" err="1"/>
              <a:t>Marital_Status</a:t>
            </a:r>
            <a:r>
              <a:rPr sz="1200" dirty="0"/>
              <a:t>                        1</a:t>
            </a:r>
            <a:br>
              <a:rPr sz="1200" dirty="0"/>
            </a:br>
            <a:r>
              <a:rPr sz="1200" dirty="0"/>
              <a:t>Product_Category_1                   19</a:t>
            </a:r>
            <a:br>
              <a:rPr sz="1200" dirty="0"/>
            </a:br>
            <a:r>
              <a:rPr sz="1200" dirty="0"/>
              <a:t>Product_Category_2                  0.0</a:t>
            </a:r>
            <a:br>
              <a:rPr sz="1200" dirty="0"/>
            </a:br>
            <a:r>
              <a:rPr sz="1200" dirty="0"/>
              <a:t>Product_Category_3                  0.0</a:t>
            </a:r>
            <a:br>
              <a:rPr sz="1200" dirty="0"/>
            </a:br>
            <a:r>
              <a:rPr sz="1200" dirty="0"/>
              <a:t>Purchase                             12</a:t>
            </a:r>
            <a:br>
              <a:rPr sz="1200" dirty="0"/>
            </a:br>
            <a:r>
              <a:rPr sz="1200" dirty="0" err="1"/>
              <a:t>Purchase_Level</a:t>
            </a:r>
            <a:r>
              <a:rPr sz="1200" dirty="0"/>
              <a:t>                      Low</a:t>
            </a:r>
            <a:br>
              <a:rPr sz="1200" dirty="0"/>
            </a:br>
            <a:r>
              <a:rPr sz="1200" dirty="0"/>
              <a:t>Name: 545946, </a:t>
            </a:r>
            <a:r>
              <a:rPr sz="1200" dirty="0" err="1"/>
              <a:t>dtype</a:t>
            </a:r>
            <a:r>
              <a:rPr sz="1200" dirty="0"/>
              <a:t>: object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84207A-56D0-FCF7-426F-EA2B818F3BCA}"/>
              </a:ext>
            </a:extLst>
          </p:cNvPr>
          <p:cNvSpPr txBox="1"/>
          <p:nvPr/>
        </p:nvSpPr>
        <p:spPr>
          <a:xfrm>
            <a:off x="5914952" y="5171279"/>
            <a:ext cx="61075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 row with the minimum Purchase is identified. The minimum transaction is 12 for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User_ID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1000050,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Product_ID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P00370293, age 26-35, gender F, city 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03ECA4-926E-C6C3-DC89-A1975E80879C}"/>
              </a:ext>
            </a:extLst>
          </p:cNvPr>
          <p:cNvSpPr txBox="1"/>
          <p:nvPr/>
        </p:nvSpPr>
        <p:spPr>
          <a:xfrm>
            <a:off x="10798604" y="6473952"/>
            <a:ext cx="9971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49/85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4E595D-4A5B-1CFA-E1E4-310E086EF4EA}"/>
              </a:ext>
            </a:extLst>
          </p:cNvPr>
          <p:cNvSpPr/>
          <p:nvPr/>
        </p:nvSpPr>
        <p:spPr>
          <a:xfrm>
            <a:off x="955040" y="1927122"/>
            <a:ext cx="4267181" cy="281455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3E1BA-8FF2-2056-24C9-FC0EB4C015AD}"/>
              </a:ext>
            </a:extLst>
          </p:cNvPr>
          <p:cNvSpPr/>
          <p:nvPr/>
        </p:nvSpPr>
        <p:spPr>
          <a:xfrm>
            <a:off x="7122160" y="2035277"/>
            <a:ext cx="4008578" cy="291054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5471160" cy="41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51: Top 10 Highest Purchase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7"/>
            <a:ext cx="2717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1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100" dirty="0" err="1"/>
              <a:t>df.nlargest</a:t>
            </a:r>
            <a:r>
              <a:rPr sz="1100" dirty="0"/>
              <a:t>(10, 'Purchase')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422" y="5065874"/>
            <a:ext cx="112984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 ten individual transactions with the highest Purchase amounts are displayed. This identifies high-value transactions, which are different from customers ranked by their total across many transactions.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847525-ED6A-B87E-2C43-AB05333598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58" t="26660" r="5242" b="13377"/>
          <a:stretch>
            <a:fillRect/>
          </a:stretch>
        </p:blipFill>
        <p:spPr>
          <a:xfrm>
            <a:off x="1579354" y="1661651"/>
            <a:ext cx="6937864" cy="32741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BAAEF0-393C-E9E7-314F-19841815D7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903" t="26660" r="1532" b="14440"/>
          <a:stretch>
            <a:fillRect/>
          </a:stretch>
        </p:blipFill>
        <p:spPr>
          <a:xfrm>
            <a:off x="8517218" y="1661650"/>
            <a:ext cx="2151821" cy="32741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57DBFF-425B-72D3-1D3F-B50589477E97}"/>
              </a:ext>
            </a:extLst>
          </p:cNvPr>
          <p:cNvSpPr txBox="1"/>
          <p:nvPr/>
        </p:nvSpPr>
        <p:spPr>
          <a:xfrm>
            <a:off x="5770630" y="1049696"/>
            <a:ext cx="1698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 / Result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7701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Step 52: Top 10 Customers by purchase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2758440" cy="1408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top_customers</a:t>
            </a:r>
            <a:r>
              <a:rPr dirty="0"/>
              <a:t> = (</a:t>
            </a:r>
            <a:br>
              <a:rPr dirty="0"/>
            </a:br>
            <a:r>
              <a:rPr dirty="0"/>
              <a:t>    </a:t>
            </a:r>
            <a:r>
              <a:rPr dirty="0" err="1"/>
              <a:t>df.groupby</a:t>
            </a:r>
            <a:r>
              <a:rPr dirty="0"/>
              <a:t>('</a:t>
            </a:r>
            <a:r>
              <a:rPr dirty="0" err="1"/>
              <a:t>User_ID</a:t>
            </a:r>
            <a:r>
              <a:rPr dirty="0"/>
              <a:t>')['Purchase']</a:t>
            </a:r>
            <a:br>
              <a:rPr dirty="0"/>
            </a:br>
            <a:r>
              <a:rPr dirty="0"/>
              <a:t>    .sum()</a:t>
            </a:r>
            <a:br>
              <a:rPr dirty="0"/>
            </a:br>
            <a:r>
              <a:rPr dirty="0"/>
              <a:t>    .</a:t>
            </a:r>
            <a:r>
              <a:rPr dirty="0" err="1"/>
              <a:t>sort_values</a:t>
            </a:r>
            <a:r>
              <a:rPr dirty="0"/>
              <a:t>(ascending=False)</a:t>
            </a:r>
            <a:br>
              <a:rPr dirty="0"/>
            </a:br>
            <a:r>
              <a:rPr dirty="0"/>
              <a:t>    .head(10)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top_customers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250440" y="2474420"/>
            <a:ext cx="28295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200" dirty="0"/>
          </a:p>
          <a:p>
            <a:pPr>
              <a:defRPr sz="830">
                <a:latin typeface="Consolas"/>
              </a:defRPr>
            </a:pPr>
            <a:r>
              <a:rPr sz="1200" dirty="0" err="1"/>
              <a:t>User_ID</a:t>
            </a:r>
            <a:br>
              <a:rPr sz="1200" dirty="0"/>
            </a:br>
            <a:r>
              <a:rPr sz="1200" dirty="0"/>
              <a:t>1004277    10536909</a:t>
            </a:r>
            <a:br>
              <a:rPr sz="1200" dirty="0"/>
            </a:br>
            <a:r>
              <a:rPr sz="1200" dirty="0"/>
              <a:t>1001680     8699596</a:t>
            </a:r>
            <a:br>
              <a:rPr sz="1200" dirty="0"/>
            </a:br>
            <a:r>
              <a:rPr sz="1200" dirty="0"/>
              <a:t>1002909     7577756</a:t>
            </a:r>
            <a:br>
              <a:rPr sz="1200" dirty="0"/>
            </a:br>
            <a:r>
              <a:rPr sz="1200" dirty="0"/>
              <a:t>1001941     6817493</a:t>
            </a:r>
            <a:br>
              <a:rPr sz="1200" dirty="0"/>
            </a:br>
            <a:r>
              <a:rPr sz="1200" dirty="0"/>
              <a:t>1000424     6573609</a:t>
            </a:r>
            <a:br>
              <a:rPr sz="1200" dirty="0"/>
            </a:br>
            <a:r>
              <a:rPr sz="1200" dirty="0"/>
              <a:t>1004448     6566245</a:t>
            </a:r>
            <a:br>
              <a:rPr sz="1200" dirty="0"/>
            </a:br>
            <a:r>
              <a:rPr sz="1200" dirty="0"/>
              <a:t>1005831     6512433</a:t>
            </a:r>
            <a:br>
              <a:rPr sz="1200" dirty="0"/>
            </a:br>
            <a:r>
              <a:rPr sz="1200" dirty="0"/>
              <a:t>1001015     6511314</a:t>
            </a:r>
            <a:br>
              <a:rPr sz="1200" dirty="0"/>
            </a:br>
            <a:r>
              <a:rPr sz="1200" dirty="0"/>
              <a:t>1003391     6477160</a:t>
            </a:r>
            <a:br>
              <a:rPr sz="1200" dirty="0"/>
            </a:br>
            <a:r>
              <a:rPr sz="1200" dirty="0"/>
              <a:t>1001181     6387961</a:t>
            </a:r>
            <a:br>
              <a:rPr sz="1200" dirty="0"/>
            </a:br>
            <a:r>
              <a:rPr sz="1200" dirty="0"/>
              <a:t>Name: Purchase, </a:t>
            </a:r>
            <a:r>
              <a:rPr sz="1200" dirty="0" err="1"/>
              <a:t>dtype</a:t>
            </a:r>
            <a:r>
              <a:rPr sz="1200" dirty="0"/>
              <a:t>: int64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240" y="5281168"/>
            <a:ext cx="50038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ten customers with the highest total Purchase are recalculated. Customer 1004277 remains the highest with 10,536,909 in total Purchase.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52/85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801E01-4EBB-BB56-1A25-75E122A7478D}"/>
              </a:ext>
            </a:extLst>
          </p:cNvPr>
          <p:cNvCxnSpPr/>
          <p:nvPr/>
        </p:nvCxnSpPr>
        <p:spPr>
          <a:xfrm>
            <a:off x="5496560" y="0"/>
            <a:ext cx="71120" cy="6979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6DB3A99-CC83-166E-F5D5-84C8A7876F45}"/>
              </a:ext>
            </a:extLst>
          </p:cNvPr>
          <p:cNvSpPr txBox="1"/>
          <p:nvPr/>
        </p:nvSpPr>
        <p:spPr>
          <a:xfrm>
            <a:off x="5669280" y="91440"/>
            <a:ext cx="60807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53: Top 10 Products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8BFED9-CAF1-CED6-3DAC-963D58C493A0}"/>
              </a:ext>
            </a:extLst>
          </p:cNvPr>
          <p:cNvSpPr txBox="1"/>
          <p:nvPr/>
        </p:nvSpPr>
        <p:spPr>
          <a:xfrm>
            <a:off x="5786837" y="586472"/>
            <a:ext cx="2402840" cy="1691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top_products</a:t>
            </a:r>
            <a:r>
              <a:rPr dirty="0"/>
              <a:t> = (</a:t>
            </a:r>
            <a:br>
              <a:rPr dirty="0"/>
            </a:br>
            <a:r>
              <a:rPr dirty="0"/>
              <a:t>    </a:t>
            </a:r>
            <a:r>
              <a:rPr dirty="0" err="1"/>
              <a:t>df.groupby</a:t>
            </a:r>
            <a:r>
              <a:rPr dirty="0"/>
              <a:t>('</a:t>
            </a:r>
            <a:r>
              <a:rPr dirty="0" err="1"/>
              <a:t>Product_ID</a:t>
            </a:r>
            <a:r>
              <a:rPr dirty="0"/>
              <a:t>')['Purchase']</a:t>
            </a:r>
            <a:br>
              <a:rPr dirty="0"/>
            </a:br>
            <a:r>
              <a:rPr dirty="0"/>
              <a:t>    .sum()</a:t>
            </a:r>
            <a:br>
              <a:rPr dirty="0"/>
            </a:br>
            <a:r>
              <a:rPr dirty="0"/>
              <a:t>    .</a:t>
            </a:r>
            <a:r>
              <a:rPr dirty="0" err="1"/>
              <a:t>sort_values</a:t>
            </a:r>
            <a:r>
              <a:rPr dirty="0"/>
              <a:t>(ascending=False)</a:t>
            </a:r>
            <a:br>
              <a:rPr dirty="0"/>
            </a:br>
            <a:r>
              <a:rPr dirty="0"/>
              <a:t>    .head(10)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top_products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B7B7C1-5583-A5D5-EDDF-ABF6E62DEAA3}"/>
              </a:ext>
            </a:extLst>
          </p:cNvPr>
          <p:cNvSpPr txBox="1"/>
          <p:nvPr/>
        </p:nvSpPr>
        <p:spPr>
          <a:xfrm>
            <a:off x="7586232" y="2327837"/>
            <a:ext cx="334120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200" dirty="0"/>
          </a:p>
          <a:p>
            <a:pPr>
              <a:defRPr sz="830">
                <a:latin typeface="Consolas"/>
              </a:defRPr>
            </a:pPr>
            <a:r>
              <a:rPr sz="1200" dirty="0" err="1"/>
              <a:t>Product_ID</a:t>
            </a:r>
            <a:br>
              <a:rPr sz="1200" dirty="0"/>
            </a:br>
            <a:r>
              <a:rPr sz="1200" dirty="0"/>
              <a:t>P00025442    27995166</a:t>
            </a:r>
            <a:br>
              <a:rPr sz="1200" dirty="0"/>
            </a:br>
            <a:r>
              <a:rPr sz="1200" dirty="0"/>
              <a:t>P00110742    26722309</a:t>
            </a:r>
            <a:br>
              <a:rPr sz="1200" dirty="0"/>
            </a:br>
            <a:r>
              <a:rPr sz="1200" dirty="0"/>
              <a:t>P00255842    25168963</a:t>
            </a:r>
            <a:br>
              <a:rPr sz="1200" dirty="0"/>
            </a:br>
            <a:r>
              <a:rPr sz="1200" dirty="0"/>
              <a:t>P00059442    24338343</a:t>
            </a:r>
            <a:br>
              <a:rPr sz="1200" dirty="0"/>
            </a:br>
            <a:r>
              <a:rPr sz="1200" dirty="0"/>
              <a:t>P00184942    24334887</a:t>
            </a:r>
            <a:br>
              <a:rPr sz="1200" dirty="0"/>
            </a:br>
            <a:r>
              <a:rPr sz="1200" dirty="0"/>
              <a:t>P00112142    24216006</a:t>
            </a:r>
            <a:br>
              <a:rPr sz="1200" dirty="0"/>
            </a:br>
            <a:r>
              <a:rPr sz="1200" dirty="0"/>
              <a:t>P00110942    23639564</a:t>
            </a:r>
            <a:br>
              <a:rPr sz="1200" dirty="0"/>
            </a:br>
            <a:r>
              <a:rPr sz="1200" dirty="0"/>
              <a:t>P00237542    23425576</a:t>
            </a:r>
            <a:br>
              <a:rPr sz="1200" dirty="0"/>
            </a:br>
            <a:r>
              <a:rPr sz="1200" dirty="0"/>
              <a:t>P00057642    23102780</a:t>
            </a:r>
            <a:br>
              <a:rPr sz="1200" dirty="0"/>
            </a:br>
            <a:r>
              <a:rPr sz="1200" dirty="0"/>
              <a:t>P00010742    22164153</a:t>
            </a:r>
            <a:br>
              <a:rPr sz="1200" dirty="0"/>
            </a:br>
            <a:r>
              <a:rPr sz="1200" dirty="0"/>
              <a:t>Name: Purchase, </a:t>
            </a:r>
            <a:r>
              <a:rPr sz="1200" dirty="0" err="1"/>
              <a:t>dtype</a:t>
            </a:r>
            <a:r>
              <a:rPr sz="1200" dirty="0"/>
              <a:t>: int64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338C9F-7268-B2DA-2056-F801F8375B17}"/>
              </a:ext>
            </a:extLst>
          </p:cNvPr>
          <p:cNvSpPr txBox="1"/>
          <p:nvPr/>
        </p:nvSpPr>
        <p:spPr>
          <a:xfrm>
            <a:off x="5786837" y="5290980"/>
            <a:ext cx="613592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ten products with the highest total Purchase are recalculated. Product P00025442 remains the highest with 27,995,166.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97FD79-43BB-82A0-7E9C-5A5BD0D776CE}"/>
              </a:ext>
            </a:extLst>
          </p:cNvPr>
          <p:cNvSpPr txBox="1"/>
          <p:nvPr/>
        </p:nvSpPr>
        <p:spPr>
          <a:xfrm>
            <a:off x="10700282" y="6424076"/>
            <a:ext cx="10954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53/85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77D81B-4FEB-B7A8-444A-7E93DC2B1534}"/>
              </a:ext>
            </a:extLst>
          </p:cNvPr>
          <p:cNvSpPr/>
          <p:nvPr/>
        </p:nvSpPr>
        <p:spPr>
          <a:xfrm>
            <a:off x="2103120" y="2812026"/>
            <a:ext cx="2976880" cy="246914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47AFAB-27F9-9323-6E38-9B24D193658E}"/>
              </a:ext>
            </a:extLst>
          </p:cNvPr>
          <p:cNvSpPr/>
          <p:nvPr/>
        </p:nvSpPr>
        <p:spPr>
          <a:xfrm>
            <a:off x="7335520" y="2676102"/>
            <a:ext cx="3149600" cy="260506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668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54: Customer Purchase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3469640" cy="1267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CODE</a:t>
            </a:r>
          </a:p>
          <a:p>
            <a:pPr>
              <a:defRPr sz="919">
                <a:latin typeface="Consolas"/>
              </a:defRPr>
            </a:pPr>
            <a:r>
              <a:t>customer_summary = df.groupby('User_ID').agg(</a:t>
            </a:r>
            <a:br/>
            <a:r>
              <a:t>    Total_Purchase=('Purchase', 'sum'),</a:t>
            </a:r>
            <a:br/>
            <a:r>
              <a:t>    Average_Purchase=('Purchase', 'mean'),</a:t>
            </a:r>
            <a:br/>
            <a:r>
              <a:t>    Number_of_Transactions=('Purchase', 'count')</a:t>
            </a:r>
            <a:br/>
            <a:r>
              <a:t>).reset_index()</a:t>
            </a:r>
            <a:br/>
            <a:br/>
            <a:r>
              <a:t>customer_summary.head()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3480" y="2222147"/>
            <a:ext cx="3987800" cy="252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200" dirty="0" err="1"/>
              <a:t>User_ID</a:t>
            </a:r>
            <a:r>
              <a:rPr sz="1200" dirty="0"/>
              <a:t>  </a:t>
            </a:r>
            <a:r>
              <a:rPr sz="1200" dirty="0" err="1"/>
              <a:t>Total_Purchase</a:t>
            </a:r>
            <a:r>
              <a:rPr sz="1200" dirty="0"/>
              <a:t>  </a:t>
            </a:r>
            <a:r>
              <a:rPr sz="1200" dirty="0" err="1"/>
              <a:t>Average_Purchase</a:t>
            </a:r>
            <a:r>
              <a:rPr sz="1200" dirty="0"/>
              <a:t>  </a:t>
            </a:r>
            <a:r>
              <a:rPr sz="1200" dirty="0" err="1"/>
              <a:t>Number_of_Transactions</a:t>
            </a:r>
            <a:br>
              <a:rPr sz="1200" dirty="0"/>
            </a:br>
            <a:r>
              <a:rPr sz="1200" dirty="0"/>
              <a:t>0  1000001          334093       9545.514286                      35</a:t>
            </a:r>
            <a:br>
              <a:rPr sz="1200" dirty="0"/>
            </a:br>
            <a:r>
              <a:rPr sz="1200" dirty="0"/>
              <a:t>1  1000002          810472      10525.610390                      77</a:t>
            </a:r>
            <a:br>
              <a:rPr sz="1200" dirty="0"/>
            </a:br>
            <a:r>
              <a:rPr sz="1200" dirty="0"/>
              <a:t>2  1000003          341635      11780.517241                      29</a:t>
            </a:r>
            <a:br>
              <a:rPr sz="1200" dirty="0"/>
            </a:br>
            <a:r>
              <a:rPr sz="1200" dirty="0"/>
              <a:t>3  1000004          206468      14747.714286                      14</a:t>
            </a:r>
            <a:br>
              <a:rPr sz="1200" dirty="0"/>
            </a:br>
            <a:r>
              <a:rPr sz="1200" dirty="0"/>
              <a:t>4  1000005          821001       7745.292453                     106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080" y="4749611"/>
            <a:ext cx="522732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 customer-level summary is created with total spending, average transaction value and transaction count for each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User_ID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The first customer has total Purchase 334,093 across 35 transactions, with an average of about 9,545.51.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A1409-C089-9268-5323-335021144308}"/>
              </a:ext>
            </a:extLst>
          </p:cNvPr>
          <p:cNvCxnSpPr/>
          <p:nvPr/>
        </p:nvCxnSpPr>
        <p:spPr>
          <a:xfrm>
            <a:off x="5699760" y="0"/>
            <a:ext cx="0" cy="701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989D1FE-3F1D-680E-1FFB-0B6815954581}"/>
              </a:ext>
            </a:extLst>
          </p:cNvPr>
          <p:cNvSpPr txBox="1"/>
          <p:nvPr/>
        </p:nvSpPr>
        <p:spPr>
          <a:xfrm>
            <a:off x="5913121" y="245436"/>
            <a:ext cx="612647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55: Top Customers Based on Average Purchase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BE0945-BC86-FBED-38B5-963AAD0C2BAE}"/>
              </a:ext>
            </a:extLst>
          </p:cNvPr>
          <p:cNvSpPr txBox="1"/>
          <p:nvPr/>
        </p:nvSpPr>
        <p:spPr>
          <a:xfrm>
            <a:off x="5913120" y="918617"/>
            <a:ext cx="3495035" cy="842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customer_summary.sort_values</a:t>
            </a:r>
            <a:r>
              <a:rPr dirty="0"/>
              <a:t>(</a:t>
            </a:r>
            <a:br>
              <a:rPr dirty="0"/>
            </a:br>
            <a:r>
              <a:rPr dirty="0"/>
              <a:t>    by='</a:t>
            </a:r>
            <a:r>
              <a:rPr dirty="0" err="1"/>
              <a:t>Average_Purchase</a:t>
            </a:r>
            <a:r>
              <a:rPr dirty="0"/>
              <a:t>',</a:t>
            </a:r>
            <a:br>
              <a:rPr dirty="0"/>
            </a:br>
            <a:r>
              <a:rPr dirty="0"/>
              <a:t>    ascending=False</a:t>
            </a:r>
            <a:br>
              <a:rPr dirty="0"/>
            </a:br>
            <a:r>
              <a:rPr dirty="0"/>
              <a:t>).head(10)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0184C3-734E-6732-E0F2-FCEC76C208D2}"/>
              </a:ext>
            </a:extLst>
          </p:cNvPr>
          <p:cNvSpPr txBox="1"/>
          <p:nvPr/>
        </p:nvSpPr>
        <p:spPr>
          <a:xfrm>
            <a:off x="6004562" y="2255004"/>
            <a:ext cx="602487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5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lang="en-IN" sz="1050" dirty="0"/>
              <a:t>		</a:t>
            </a:r>
            <a:r>
              <a:rPr sz="1050" dirty="0" err="1"/>
              <a:t>User_ID</a:t>
            </a:r>
            <a:r>
              <a:rPr sz="1050" dirty="0"/>
              <a:t>  </a:t>
            </a:r>
            <a:r>
              <a:rPr sz="1050" dirty="0" err="1"/>
              <a:t>Total_Purchase</a:t>
            </a:r>
            <a:r>
              <a:rPr sz="1050" dirty="0"/>
              <a:t>  </a:t>
            </a:r>
            <a:r>
              <a:rPr sz="1050" dirty="0" err="1"/>
              <a:t>Average_Purchase</a:t>
            </a:r>
            <a:r>
              <a:rPr sz="1050" dirty="0"/>
              <a:t>  </a:t>
            </a:r>
            <a:r>
              <a:rPr sz="1050" dirty="0" err="1"/>
              <a:t>Number_of_Transactions</a:t>
            </a:r>
            <a:br>
              <a:rPr sz="1050" dirty="0"/>
            </a:br>
            <a:r>
              <a:rPr sz="1050" dirty="0"/>
              <a:t>3801  </a:t>
            </a:r>
            <a:r>
              <a:rPr lang="en-IN" sz="1050" dirty="0"/>
              <a:t>		</a:t>
            </a:r>
            <a:r>
              <a:rPr sz="1050" dirty="0"/>
              <a:t>1003902         1746322      18577.893617            94</a:t>
            </a:r>
            <a:br>
              <a:rPr sz="1050" dirty="0"/>
            </a:br>
            <a:r>
              <a:rPr sz="1050" dirty="0"/>
              <a:t>4943  </a:t>
            </a:r>
            <a:r>
              <a:rPr lang="en-IN" sz="1050" dirty="0"/>
              <a:t>		</a:t>
            </a:r>
            <a:r>
              <a:rPr sz="1050" dirty="0"/>
              <a:t>1005069          332823      18490.166667            18</a:t>
            </a:r>
            <a:br>
              <a:rPr sz="1050" dirty="0"/>
            </a:br>
            <a:r>
              <a:rPr sz="1050" dirty="0"/>
              <a:t>5849  </a:t>
            </a:r>
            <a:r>
              <a:rPr lang="en-IN" sz="1050" dirty="0"/>
              <a:t>		</a:t>
            </a:r>
            <a:r>
              <a:rPr sz="1050" dirty="0"/>
              <a:t>1005999          330227      18345.944444            18</a:t>
            </a:r>
            <a:br>
              <a:rPr sz="1050" dirty="0"/>
            </a:br>
            <a:r>
              <a:rPr sz="1050" dirty="0"/>
              <a:t>1307  </a:t>
            </a:r>
            <a:r>
              <a:rPr lang="en-IN" sz="1050" dirty="0"/>
              <a:t>		</a:t>
            </a:r>
            <a:r>
              <a:rPr sz="1050" dirty="0"/>
              <a:t>1001349          417743     </a:t>
            </a:r>
            <a:r>
              <a:rPr lang="en-IN" sz="1050" dirty="0"/>
              <a:t> </a:t>
            </a:r>
            <a:r>
              <a:rPr sz="1050" dirty="0"/>
              <a:t>18162.739130            23</a:t>
            </a:r>
            <a:br>
              <a:rPr sz="1050" dirty="0"/>
            </a:br>
            <a:r>
              <a:rPr sz="1050" dirty="0"/>
              <a:t>3367  </a:t>
            </a:r>
            <a:r>
              <a:rPr lang="en-IN" sz="1050" dirty="0"/>
              <a:t>		</a:t>
            </a:r>
            <a:r>
              <a:rPr sz="1050" dirty="0"/>
              <a:t>1003461          350174    </a:t>
            </a:r>
            <a:r>
              <a:rPr lang="en-IN" sz="1050" dirty="0"/>
              <a:t>  </a:t>
            </a:r>
            <a:r>
              <a:rPr sz="1050" dirty="0"/>
              <a:t>17508.700000            20</a:t>
            </a:r>
            <a:br>
              <a:rPr sz="1050" dirty="0"/>
            </a:br>
            <a:r>
              <a:rPr sz="1050" dirty="0"/>
              <a:t>98    </a:t>
            </a:r>
            <a:r>
              <a:rPr lang="en-IN" sz="1050" dirty="0"/>
              <a:t>		</a:t>
            </a:r>
            <a:r>
              <a:rPr sz="1050" dirty="0"/>
              <a:t>1000101         1138265      17246.439394            66</a:t>
            </a:r>
            <a:br>
              <a:rPr sz="1050" dirty="0"/>
            </a:br>
            <a:r>
              <a:rPr sz="1050" dirty="0"/>
              <a:t>2902  </a:t>
            </a:r>
            <a:r>
              <a:rPr lang="en-IN" sz="1050" dirty="0"/>
              <a:t>		</a:t>
            </a:r>
            <a:r>
              <a:rPr sz="1050" dirty="0"/>
              <a:t>1002983          520509      16790.612903            31</a:t>
            </a:r>
            <a:br>
              <a:rPr sz="1050" dirty="0"/>
            </a:br>
            <a:r>
              <a:rPr sz="1050" dirty="0"/>
              <a:t>5844  </a:t>
            </a:r>
            <a:r>
              <a:rPr lang="en-IN" sz="1050" dirty="0"/>
              <a:t>		</a:t>
            </a:r>
            <a:r>
              <a:rPr sz="1050" dirty="0"/>
              <a:t>1005994          705057      16787.071429            42</a:t>
            </a:r>
            <a:br>
              <a:rPr sz="1050" dirty="0"/>
            </a:br>
            <a:r>
              <a:rPr sz="1050" dirty="0"/>
              <a:t>576   </a:t>
            </a:r>
            <a:r>
              <a:rPr lang="en-IN" sz="1050" dirty="0"/>
              <a:t>		</a:t>
            </a:r>
            <a:r>
              <a:rPr sz="1050" dirty="0"/>
              <a:t>1000592          234872      16776.571429            14</a:t>
            </a:r>
            <a:br>
              <a:rPr sz="1050" dirty="0"/>
            </a:br>
            <a:r>
              <a:rPr sz="1050" dirty="0"/>
              <a:t>4361  </a:t>
            </a:r>
            <a:r>
              <a:rPr lang="en-IN" sz="1050" dirty="0"/>
              <a:t>		</a:t>
            </a:r>
            <a:r>
              <a:rPr sz="1050" dirty="0"/>
              <a:t>1004474          282879      16639.941176            17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A984A9-41F9-7437-1EE4-A03A789F9468}"/>
              </a:ext>
            </a:extLst>
          </p:cNvPr>
          <p:cNvSpPr txBox="1"/>
          <p:nvPr/>
        </p:nvSpPr>
        <p:spPr>
          <a:xfrm>
            <a:off x="5858612" y="5240449"/>
            <a:ext cx="510386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Customers are sorted by average transaction value. User 1003902 has the highest displayed average, about 18,577.89, across 94 transactions.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33B8C1-8709-85F3-B0CD-72EA1778D5D9}"/>
              </a:ext>
            </a:extLst>
          </p:cNvPr>
          <p:cNvSpPr/>
          <p:nvPr/>
        </p:nvSpPr>
        <p:spPr>
          <a:xfrm>
            <a:off x="1097280" y="2222147"/>
            <a:ext cx="4145278" cy="25274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DD5400-05DD-EABD-D6C2-03FBDE4DF1DB}"/>
              </a:ext>
            </a:extLst>
          </p:cNvPr>
          <p:cNvSpPr/>
          <p:nvPr/>
        </p:nvSpPr>
        <p:spPr>
          <a:xfrm>
            <a:off x="5933426" y="2019093"/>
            <a:ext cx="6024865" cy="289834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5085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56: Create Age-wise Summary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4272280" cy="1267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CODE</a:t>
            </a:r>
          </a:p>
          <a:p>
            <a:pPr>
              <a:defRPr sz="919">
                <a:latin typeface="Consolas"/>
              </a:defRPr>
            </a:pPr>
            <a:r>
              <a:t>age_summary = df.groupby('Age').agg(</a:t>
            </a:r>
            <a:br/>
            <a:r>
              <a:t>    Total_Purchase=('Purchase', 'sum'),</a:t>
            </a:r>
            <a:br/>
            <a:r>
              <a:t>    Average_Purchase=('Purchase', 'mean'),</a:t>
            </a:r>
            <a:br/>
            <a:r>
              <a:t>    Transactions=('Purchase', 'count')</a:t>
            </a:r>
            <a:br/>
            <a:r>
              <a:t>).reset_index()</a:t>
            </a:r>
            <a:br/>
            <a:br/>
            <a:r>
              <a:t>age_summary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396200"/>
            <a:ext cx="49834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200" dirty="0"/>
          </a:p>
          <a:p>
            <a:pPr>
              <a:defRPr sz="830">
                <a:latin typeface="Consolas"/>
              </a:defRPr>
            </a:pPr>
            <a:r>
              <a:rPr lang="en-IN" sz="1200" dirty="0"/>
              <a:t>	</a:t>
            </a:r>
            <a:r>
              <a:rPr sz="1200" dirty="0"/>
              <a:t>Age  </a:t>
            </a:r>
            <a:r>
              <a:rPr sz="1200" dirty="0" err="1"/>
              <a:t>Total_Purchase</a:t>
            </a:r>
            <a:r>
              <a:rPr sz="1200" dirty="0"/>
              <a:t>  </a:t>
            </a:r>
            <a:r>
              <a:rPr sz="1200" dirty="0" err="1"/>
              <a:t>Average_Purchase</a:t>
            </a:r>
            <a:r>
              <a:rPr sz="1200" dirty="0"/>
              <a:t>  Transactions</a:t>
            </a:r>
            <a:br>
              <a:rPr sz="1200" dirty="0"/>
            </a:br>
            <a:r>
              <a:rPr sz="1200" dirty="0"/>
              <a:t>0   0-17       134913183       8933.464640         15102</a:t>
            </a:r>
            <a:br>
              <a:rPr sz="1200" dirty="0"/>
            </a:br>
            <a:r>
              <a:rPr sz="1200" dirty="0"/>
              <a:t>1  18-25       913848675       9169.663606         99660</a:t>
            </a:r>
            <a:br>
              <a:rPr sz="1200" dirty="0"/>
            </a:br>
            <a:r>
              <a:rPr sz="1200" dirty="0"/>
              <a:t>2  26-35      2031770578       9252.690633        219587</a:t>
            </a:r>
            <a:br>
              <a:rPr sz="1200" dirty="0"/>
            </a:br>
            <a:r>
              <a:rPr sz="1200" dirty="0"/>
              <a:t>3  36-45      1026569884       9331.350695        110013</a:t>
            </a:r>
            <a:br>
              <a:rPr sz="1200" dirty="0"/>
            </a:br>
            <a:r>
              <a:rPr sz="1200" dirty="0"/>
              <a:t>4  46-50       420843403       9208.625697         45701</a:t>
            </a:r>
            <a:br>
              <a:rPr sz="1200" dirty="0"/>
            </a:br>
            <a:r>
              <a:rPr sz="1200" dirty="0"/>
              <a:t>5  51-55       367099644       9534.808031         38501</a:t>
            </a:r>
            <a:br>
              <a:rPr sz="1200" dirty="0"/>
            </a:br>
            <a:r>
              <a:rPr sz="1200" dirty="0"/>
              <a:t>6    55+       200767375       9336.280459         21504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" y="4966415"/>
            <a:ext cx="560070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 age-level summary combines total Purchase, average Purchase and transaction count. The 26-35 group has the largest total and transaction count, while 51-55 has the highest average Purchase.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56/85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30013F-BD48-623D-E7DE-18311DCA4AD8}"/>
              </a:ext>
            </a:extLst>
          </p:cNvPr>
          <p:cNvCxnSpPr>
            <a:cxnSpLocks/>
          </p:cNvCxnSpPr>
          <p:nvPr/>
        </p:nvCxnSpPr>
        <p:spPr>
          <a:xfrm>
            <a:off x="5760720" y="0"/>
            <a:ext cx="0" cy="6979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3FD7090-6223-5500-7DA3-87ECAC736AD9}"/>
              </a:ext>
            </a:extLst>
          </p:cNvPr>
          <p:cNvSpPr txBox="1"/>
          <p:nvPr/>
        </p:nvSpPr>
        <p:spPr>
          <a:xfrm>
            <a:off x="6192521" y="245433"/>
            <a:ext cx="56641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57: Create City-wise Summary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5C12D9-703A-C059-43ED-75D81D627312}"/>
              </a:ext>
            </a:extLst>
          </p:cNvPr>
          <p:cNvSpPr txBox="1"/>
          <p:nvPr/>
        </p:nvSpPr>
        <p:spPr>
          <a:xfrm>
            <a:off x="6210300" y="754031"/>
            <a:ext cx="3286760" cy="1267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city_summary</a:t>
            </a:r>
            <a:r>
              <a:rPr dirty="0"/>
              <a:t> = </a:t>
            </a:r>
            <a:r>
              <a:rPr dirty="0" err="1"/>
              <a:t>df.groupby</a:t>
            </a:r>
            <a:r>
              <a:rPr dirty="0"/>
              <a:t>('</a:t>
            </a:r>
            <a:r>
              <a:rPr dirty="0" err="1"/>
              <a:t>City_Category</a:t>
            </a:r>
            <a:r>
              <a:rPr dirty="0"/>
              <a:t>').</a:t>
            </a:r>
            <a:r>
              <a:rPr dirty="0" err="1"/>
              <a:t>agg</a:t>
            </a:r>
            <a:r>
              <a:rPr dirty="0"/>
              <a:t>(</a:t>
            </a:r>
            <a:br>
              <a:rPr dirty="0"/>
            </a:br>
            <a:r>
              <a:rPr dirty="0"/>
              <a:t>    </a:t>
            </a:r>
            <a:r>
              <a:rPr dirty="0" err="1"/>
              <a:t>Total_Purchase</a:t>
            </a:r>
            <a:r>
              <a:rPr dirty="0"/>
              <a:t>=('Purchase', 'sum'),</a:t>
            </a:r>
            <a:br>
              <a:rPr dirty="0"/>
            </a:br>
            <a:r>
              <a:rPr dirty="0"/>
              <a:t>    </a:t>
            </a:r>
            <a:r>
              <a:rPr dirty="0" err="1"/>
              <a:t>Average_Purchase</a:t>
            </a:r>
            <a:r>
              <a:rPr dirty="0"/>
              <a:t>=('Purchase', 'mean'),</a:t>
            </a:r>
            <a:br>
              <a:rPr dirty="0"/>
            </a:br>
            <a:r>
              <a:rPr dirty="0"/>
              <a:t>    Transactions=('Purchase', 'count')</a:t>
            </a:r>
            <a:br>
              <a:rPr dirty="0"/>
            </a:br>
            <a:r>
              <a:rPr dirty="0"/>
              <a:t>).</a:t>
            </a:r>
            <a:r>
              <a:rPr dirty="0" err="1"/>
              <a:t>reset_index</a:t>
            </a:r>
            <a:r>
              <a:rPr dirty="0"/>
              <a:t>()</a:t>
            </a:r>
            <a:br>
              <a:rPr dirty="0"/>
            </a:br>
            <a:br>
              <a:rPr dirty="0"/>
            </a:br>
            <a:r>
              <a:rPr dirty="0" err="1"/>
              <a:t>city_summary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A478D-9AC2-2018-0FDD-EB5DC82C2C0F}"/>
              </a:ext>
            </a:extLst>
          </p:cNvPr>
          <p:cNvSpPr txBox="1"/>
          <p:nvPr/>
        </p:nvSpPr>
        <p:spPr>
          <a:xfrm>
            <a:off x="6126481" y="2592572"/>
            <a:ext cx="5852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200" dirty="0"/>
          </a:p>
          <a:p>
            <a:pPr>
              <a:defRPr sz="830">
                <a:latin typeface="Consolas"/>
              </a:defRPr>
            </a:pPr>
            <a:r>
              <a:rPr lang="en-IN" sz="1200" dirty="0"/>
              <a:t>	</a:t>
            </a:r>
            <a:r>
              <a:rPr sz="1200" dirty="0" err="1"/>
              <a:t>City_Category</a:t>
            </a:r>
            <a:r>
              <a:rPr sz="1200" dirty="0"/>
              <a:t>  </a:t>
            </a:r>
            <a:r>
              <a:rPr sz="1200" dirty="0" err="1"/>
              <a:t>Total_Purchase</a:t>
            </a:r>
            <a:r>
              <a:rPr sz="1200" dirty="0"/>
              <a:t>  </a:t>
            </a:r>
            <a:r>
              <a:rPr sz="1200" dirty="0" err="1"/>
              <a:t>Average_Purchase</a:t>
            </a:r>
            <a:r>
              <a:rPr sz="1200" dirty="0"/>
              <a:t>  Transactions</a:t>
            </a:r>
            <a:br>
              <a:rPr sz="1200" dirty="0"/>
            </a:br>
            <a:r>
              <a:rPr sz="1200" dirty="0"/>
              <a:t>0             A      1316471661       8911.939216        147720</a:t>
            </a:r>
            <a:br>
              <a:rPr sz="1200" dirty="0"/>
            </a:br>
            <a:r>
              <a:rPr sz="1200" dirty="0"/>
              <a:t>1             B      2115533605       9151.300563        231173</a:t>
            </a:r>
            <a:br>
              <a:rPr sz="1200" dirty="0"/>
            </a:br>
            <a:r>
              <a:rPr sz="1200" dirty="0"/>
              <a:t>2             C      1663807476       9719.920993        171175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C2EF46-C9B3-987B-BEBD-1D53EC51B144}"/>
              </a:ext>
            </a:extLst>
          </p:cNvPr>
          <p:cNvSpPr txBox="1"/>
          <p:nvPr/>
        </p:nvSpPr>
        <p:spPr>
          <a:xfrm>
            <a:off x="6095999" y="4836828"/>
            <a:ext cx="56641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 city-level summary combines total Purchase, average Purchase and transaction count. City B has the largest total and transaction count, while city C has the highest average Purchase.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7AB3CD-724B-5029-45DE-98889A4BE93B}"/>
              </a:ext>
            </a:extLst>
          </p:cNvPr>
          <p:cNvSpPr txBox="1"/>
          <p:nvPr/>
        </p:nvSpPr>
        <p:spPr>
          <a:xfrm>
            <a:off x="10119360" y="66263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57/85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0316B0-322A-F658-5ED7-FD4DEB0892A1}"/>
              </a:ext>
            </a:extLst>
          </p:cNvPr>
          <p:cNvSpPr/>
          <p:nvPr/>
        </p:nvSpPr>
        <p:spPr>
          <a:xfrm>
            <a:off x="335280" y="2396200"/>
            <a:ext cx="5161276" cy="208020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ECFFEB-4BCF-386D-70BC-2F7CBF298A52}"/>
              </a:ext>
            </a:extLst>
          </p:cNvPr>
          <p:cNvSpPr/>
          <p:nvPr/>
        </p:nvSpPr>
        <p:spPr>
          <a:xfrm>
            <a:off x="6004560" y="2396200"/>
            <a:ext cx="6075675" cy="208020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6075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58: Create Gender-wise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79" y="841248"/>
            <a:ext cx="382622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000" dirty="0" err="1"/>
              <a:t>gender_summary</a:t>
            </a:r>
            <a:r>
              <a:rPr sz="1000" dirty="0"/>
              <a:t> = </a:t>
            </a:r>
            <a:r>
              <a:rPr sz="1000" dirty="0" err="1"/>
              <a:t>df.groupby</a:t>
            </a:r>
            <a:r>
              <a:rPr sz="1000" dirty="0"/>
              <a:t>('Gender').</a:t>
            </a:r>
            <a:r>
              <a:rPr sz="1000" dirty="0" err="1"/>
              <a:t>agg</a:t>
            </a:r>
            <a:r>
              <a:rPr sz="1000" dirty="0"/>
              <a:t>(</a:t>
            </a:r>
            <a:br>
              <a:rPr sz="1000" dirty="0"/>
            </a:br>
            <a:r>
              <a:rPr sz="1000" dirty="0"/>
              <a:t>    </a:t>
            </a:r>
            <a:r>
              <a:rPr sz="1000" dirty="0" err="1"/>
              <a:t>Total_Purchase</a:t>
            </a:r>
            <a:r>
              <a:rPr sz="1000" dirty="0"/>
              <a:t>=('Purchase', 'sum'),</a:t>
            </a:r>
            <a:br>
              <a:rPr sz="1000" dirty="0"/>
            </a:br>
            <a:r>
              <a:rPr sz="1000" dirty="0"/>
              <a:t>    </a:t>
            </a:r>
            <a:r>
              <a:rPr sz="1000" dirty="0" err="1"/>
              <a:t>Average_Purchase</a:t>
            </a:r>
            <a:r>
              <a:rPr sz="1000" dirty="0"/>
              <a:t>=('Purchase', 'mean'),</a:t>
            </a:r>
            <a:br>
              <a:rPr sz="1000" dirty="0"/>
            </a:br>
            <a:r>
              <a:rPr sz="1000" dirty="0"/>
              <a:t>    Transactions=('Purchase', 'count')</a:t>
            </a:r>
            <a:br>
              <a:rPr sz="1000" dirty="0"/>
            </a:br>
            <a:r>
              <a:rPr sz="1000" dirty="0"/>
              <a:t>).</a:t>
            </a:r>
            <a:r>
              <a:rPr sz="1000" dirty="0" err="1"/>
              <a:t>reset_index</a:t>
            </a:r>
            <a:r>
              <a:rPr sz="1000" dirty="0"/>
              <a:t>()</a:t>
            </a:r>
            <a:br>
              <a:rPr sz="1000" dirty="0"/>
            </a:br>
            <a:br>
              <a:rPr sz="1000" dirty="0"/>
            </a:br>
            <a:r>
              <a:rPr sz="1000" dirty="0" err="1"/>
              <a:t>gender_summary</a:t>
            </a:r>
            <a:endParaRPr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114300" y="2768819"/>
            <a:ext cx="52476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  <a:endParaRPr lang="en-IN" sz="1200" dirty="0"/>
          </a:p>
          <a:p>
            <a:pPr>
              <a:defRPr sz="1200" b="1"/>
            </a:pPr>
            <a:endParaRPr sz="1200" dirty="0"/>
          </a:p>
          <a:p>
            <a:pPr>
              <a:defRPr sz="830">
                <a:latin typeface="Consolas"/>
              </a:defRPr>
            </a:pPr>
            <a:r>
              <a:rPr lang="en-IN" sz="1200" dirty="0"/>
              <a:t>	</a:t>
            </a:r>
            <a:r>
              <a:rPr sz="1200" dirty="0"/>
              <a:t>Gender  </a:t>
            </a:r>
            <a:r>
              <a:rPr sz="1200" dirty="0" err="1"/>
              <a:t>Total_Purchase</a:t>
            </a:r>
            <a:r>
              <a:rPr sz="1200" dirty="0"/>
              <a:t>  </a:t>
            </a:r>
            <a:r>
              <a:rPr sz="1200" dirty="0" err="1"/>
              <a:t>Average_Purchase</a:t>
            </a:r>
            <a:r>
              <a:rPr sz="1200" dirty="0"/>
              <a:t>  Transactions</a:t>
            </a:r>
            <a:br>
              <a:rPr sz="1200" dirty="0"/>
            </a:br>
            <a:r>
              <a:rPr sz="1200" dirty="0"/>
              <a:t>0      F      1186232642       8734.565765        135809</a:t>
            </a:r>
            <a:br>
              <a:rPr sz="1200" dirty="0"/>
            </a:br>
            <a:r>
              <a:rPr sz="1200" dirty="0"/>
              <a:t>1      M      3909580100       9437.526040        414259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99" y="4974272"/>
            <a:ext cx="54736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 gender-level summary shows total Purchase, average Purchase and transaction count. Male transactions have higher total and average Purchase and more transaction records in this dataset.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7FBE93-8DEB-0630-9B4B-870A94A12C42}"/>
              </a:ext>
            </a:extLst>
          </p:cNvPr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7C5B1A-DF78-5AA6-F785-B522FEE3F1A6}"/>
              </a:ext>
            </a:extLst>
          </p:cNvPr>
          <p:cNvSpPr txBox="1"/>
          <p:nvPr/>
        </p:nvSpPr>
        <p:spPr>
          <a:xfrm>
            <a:off x="5989319" y="201168"/>
            <a:ext cx="576072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Step 59: Create Product Category Summary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60B61B-57F6-139B-0361-34F7BB677E63}"/>
              </a:ext>
            </a:extLst>
          </p:cNvPr>
          <p:cNvSpPr txBox="1"/>
          <p:nvPr/>
        </p:nvSpPr>
        <p:spPr>
          <a:xfrm>
            <a:off x="5989319" y="792123"/>
            <a:ext cx="51113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000" dirty="0" err="1"/>
              <a:t>product_summary</a:t>
            </a:r>
            <a:r>
              <a:rPr sz="1000" dirty="0"/>
              <a:t> = </a:t>
            </a:r>
            <a:r>
              <a:rPr sz="1000" dirty="0" err="1"/>
              <a:t>df.groupby</a:t>
            </a:r>
            <a:r>
              <a:rPr sz="1000" dirty="0"/>
              <a:t>('</a:t>
            </a:r>
            <a:r>
              <a:rPr sz="1000" dirty="0" err="1"/>
              <a:t>Product_ID</a:t>
            </a:r>
            <a:r>
              <a:rPr sz="1000" dirty="0"/>
              <a:t>').</a:t>
            </a:r>
            <a:r>
              <a:rPr sz="1000" dirty="0" err="1"/>
              <a:t>agg</a:t>
            </a:r>
            <a:r>
              <a:rPr sz="1000" dirty="0"/>
              <a:t>(</a:t>
            </a:r>
            <a:br>
              <a:rPr sz="1000" dirty="0"/>
            </a:br>
            <a:r>
              <a:rPr sz="1000" dirty="0"/>
              <a:t>    </a:t>
            </a:r>
            <a:r>
              <a:rPr sz="1000" dirty="0" err="1"/>
              <a:t>Total_Purchase</a:t>
            </a:r>
            <a:r>
              <a:rPr sz="1000" dirty="0"/>
              <a:t>=('Purchase', 'sum'),</a:t>
            </a:r>
            <a:br>
              <a:rPr sz="1000" dirty="0"/>
            </a:br>
            <a:r>
              <a:rPr sz="1000" dirty="0"/>
              <a:t>    </a:t>
            </a:r>
            <a:r>
              <a:rPr sz="1000" dirty="0" err="1"/>
              <a:t>Average_Purchase</a:t>
            </a:r>
            <a:r>
              <a:rPr sz="1000" dirty="0"/>
              <a:t>=('Purchase', 'mean'),</a:t>
            </a:r>
            <a:br>
              <a:rPr sz="1000" dirty="0"/>
            </a:br>
            <a:r>
              <a:rPr sz="1000" dirty="0"/>
              <a:t>    </a:t>
            </a:r>
            <a:r>
              <a:rPr sz="1000" dirty="0" err="1"/>
              <a:t>Number_of_Transactions</a:t>
            </a:r>
            <a:r>
              <a:rPr sz="1000" dirty="0"/>
              <a:t>=('Purchase', 'count')</a:t>
            </a:r>
            <a:br>
              <a:rPr sz="1000" dirty="0"/>
            </a:br>
            <a:r>
              <a:rPr sz="1000" dirty="0"/>
              <a:t>).</a:t>
            </a:r>
            <a:r>
              <a:rPr sz="1000" dirty="0" err="1"/>
              <a:t>reset_index</a:t>
            </a:r>
            <a:r>
              <a:rPr sz="1000" dirty="0"/>
              <a:t>()</a:t>
            </a:r>
            <a:br>
              <a:rPr sz="1000" dirty="0"/>
            </a:br>
            <a:br>
              <a:rPr sz="1000" dirty="0"/>
            </a:br>
            <a:r>
              <a:rPr sz="1000" dirty="0" err="1"/>
              <a:t>product_summary.head</a:t>
            </a:r>
            <a:r>
              <a:rPr sz="1000" dirty="0"/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7D6573-6BD4-9583-791F-DDEC098550B2}"/>
              </a:ext>
            </a:extLst>
          </p:cNvPr>
          <p:cNvSpPr txBox="1"/>
          <p:nvPr/>
        </p:nvSpPr>
        <p:spPr>
          <a:xfrm>
            <a:off x="6195061" y="2656481"/>
            <a:ext cx="5760722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5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lang="en-IN" sz="1050" dirty="0"/>
              <a:t>   </a:t>
            </a:r>
            <a:r>
              <a:rPr sz="1050" dirty="0" err="1"/>
              <a:t>Product_ID</a:t>
            </a:r>
            <a:r>
              <a:rPr sz="1050" dirty="0"/>
              <a:t>  </a:t>
            </a:r>
            <a:r>
              <a:rPr sz="1050" dirty="0" err="1"/>
              <a:t>Total_Purchase</a:t>
            </a:r>
            <a:r>
              <a:rPr sz="1050" dirty="0"/>
              <a:t>  </a:t>
            </a:r>
            <a:r>
              <a:rPr sz="1050" dirty="0" err="1"/>
              <a:t>Average_Purchase</a:t>
            </a:r>
            <a:r>
              <a:rPr sz="1050" dirty="0"/>
              <a:t>  </a:t>
            </a:r>
            <a:r>
              <a:rPr sz="1050" dirty="0" err="1"/>
              <a:t>Number_of_Transactions</a:t>
            </a:r>
            <a:br>
              <a:rPr sz="1050" dirty="0"/>
            </a:br>
            <a:r>
              <a:rPr sz="1050" dirty="0"/>
              <a:t>0  P00000142        12837476      11143.642361                    1152</a:t>
            </a:r>
            <a:br>
              <a:rPr sz="1050" dirty="0"/>
            </a:br>
            <a:r>
              <a:rPr sz="1050" dirty="0"/>
              <a:t>1  P00000242         3967496      10551.851064                     376</a:t>
            </a:r>
            <a:br>
              <a:rPr sz="1050" dirty="0"/>
            </a:br>
            <a:r>
              <a:rPr sz="1050" dirty="0"/>
              <a:t>2  P00000342         1296475       5313.422131                     244</a:t>
            </a:r>
            <a:br>
              <a:rPr sz="1050" dirty="0"/>
            </a:br>
            <a:r>
              <a:rPr sz="1050" dirty="0"/>
              <a:t>3  P00000442          441173       4795.358696                      92</a:t>
            </a:r>
            <a:br>
              <a:rPr sz="1050" dirty="0"/>
            </a:br>
            <a:r>
              <a:rPr sz="1050" dirty="0"/>
              <a:t>4  P00000542          807212       5417.530201                     149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00FB06-F3BA-E62A-337B-67CE99A0F825}"/>
              </a:ext>
            </a:extLst>
          </p:cNvPr>
          <p:cNvSpPr txBox="1"/>
          <p:nvPr/>
        </p:nvSpPr>
        <p:spPr>
          <a:xfrm>
            <a:off x="5919602" y="4961298"/>
            <a:ext cx="5916797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r>
              <a:rPr sz="1300" b="1" dirty="0">
                <a:latin typeface="Arial" panose="020B0604020202020204" pitchFamily="34" charset="0"/>
                <a:cs typeface="Arial" panose="020B0604020202020204" pitchFamily="34" charset="0"/>
              </a:rPr>
              <a:t>A product-level summary combines total Purchase, average Purchase and transaction count for each product. The first rows illustrate the metrics for individual </a:t>
            </a:r>
            <a:r>
              <a:rPr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Product_ID</a:t>
            </a:r>
            <a:r>
              <a:rPr sz="1300" b="1" dirty="0">
                <a:latin typeface="Arial" panose="020B0604020202020204" pitchFamily="34" charset="0"/>
                <a:cs typeface="Arial" panose="020B0604020202020204" pitchFamily="34" charset="0"/>
              </a:rPr>
              <a:t> values.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4AD2D6-4652-846A-9474-231160DC8C88}"/>
              </a:ext>
            </a:extLst>
          </p:cNvPr>
          <p:cNvSpPr/>
          <p:nvPr/>
        </p:nvSpPr>
        <p:spPr>
          <a:xfrm>
            <a:off x="46858" y="2656480"/>
            <a:ext cx="5541137" cy="147732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C2B2AF-11A9-85DE-C226-2EA9D17C1302}"/>
              </a:ext>
            </a:extLst>
          </p:cNvPr>
          <p:cNvSpPr/>
          <p:nvPr/>
        </p:nvSpPr>
        <p:spPr>
          <a:xfrm>
            <a:off x="6096000" y="2656481"/>
            <a:ext cx="5760721" cy="147732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0139" y="182525"/>
            <a:ext cx="43535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Step 60: Filter High Purchases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38011"/>
            <a:ext cx="39878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100" dirty="0"/>
              <a:t>CODE</a:t>
            </a:r>
            <a:endParaRPr lang="en-IN" sz="1100" dirty="0"/>
          </a:p>
          <a:p>
            <a:pPr>
              <a:defRPr sz="1200" b="1"/>
            </a:pPr>
            <a:endParaRPr sz="1100" dirty="0"/>
          </a:p>
          <a:p>
            <a:pPr>
              <a:defRPr sz="919">
                <a:latin typeface="Consolas"/>
              </a:defRPr>
            </a:pPr>
            <a:r>
              <a:rPr sz="1100" dirty="0" err="1"/>
              <a:t>high_purchase</a:t>
            </a:r>
            <a:r>
              <a:rPr sz="1100" dirty="0"/>
              <a:t> = </a:t>
            </a:r>
            <a:r>
              <a:rPr sz="1100" dirty="0" err="1"/>
              <a:t>df</a:t>
            </a:r>
            <a:r>
              <a:rPr sz="1100" dirty="0"/>
              <a:t>[</a:t>
            </a:r>
            <a:r>
              <a:rPr sz="1100" dirty="0" err="1"/>
              <a:t>df</a:t>
            </a:r>
            <a:r>
              <a:rPr sz="1100" dirty="0"/>
              <a:t>['Purchase'] &gt;= 10000]</a:t>
            </a:r>
            <a:br>
              <a:rPr sz="1100" dirty="0"/>
            </a:br>
            <a:br>
              <a:rPr sz="1100" dirty="0"/>
            </a:br>
            <a:r>
              <a:rPr sz="1100" dirty="0" err="1"/>
              <a:t>high_purchase.head</a:t>
            </a:r>
            <a:r>
              <a:rPr sz="1100"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7460" y="876568"/>
            <a:ext cx="642366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lang="en-IN" sz="1200" dirty="0"/>
              <a:t>   </a:t>
            </a:r>
            <a:r>
              <a:rPr sz="1200" dirty="0" err="1"/>
              <a:t>User_ID</a:t>
            </a:r>
            <a:r>
              <a:rPr sz="1200" dirty="0"/>
              <a:t> </a:t>
            </a:r>
            <a:r>
              <a:rPr lang="en-IN" sz="1200" dirty="0"/>
              <a:t> </a:t>
            </a:r>
            <a:r>
              <a:rPr sz="1200" dirty="0" err="1"/>
              <a:t>Product_ID</a:t>
            </a:r>
            <a:r>
              <a:rPr sz="1200" dirty="0"/>
              <a:t> </a:t>
            </a:r>
            <a:r>
              <a:rPr lang="en-IN" sz="1200" dirty="0"/>
              <a:t> </a:t>
            </a:r>
            <a:r>
              <a:rPr sz="1200" dirty="0"/>
              <a:t>Gender    Age  Occupation </a:t>
            </a:r>
            <a:r>
              <a:rPr lang="en-IN" sz="1200" dirty="0"/>
              <a:t>    </a:t>
            </a:r>
            <a:r>
              <a:rPr sz="1200" dirty="0" err="1"/>
              <a:t>City_Category</a:t>
            </a:r>
            <a:r>
              <a:rPr sz="1200" dirty="0"/>
              <a:t>  \</a:t>
            </a:r>
            <a:br>
              <a:rPr sz="1200" dirty="0"/>
            </a:br>
            <a:r>
              <a:rPr sz="1200" dirty="0"/>
              <a:t>1  1000001  P00248942      F   </a:t>
            </a:r>
            <a:r>
              <a:rPr lang="en-IN" sz="1200" dirty="0"/>
              <a:t>	  </a:t>
            </a:r>
            <a:r>
              <a:rPr sz="1200" dirty="0"/>
              <a:t>0-17          10             A   </a:t>
            </a:r>
            <a:br>
              <a:rPr sz="1200" dirty="0"/>
            </a:br>
            <a:r>
              <a:rPr sz="1200" dirty="0"/>
              <a:t>5  1000003  P00193542      M  </a:t>
            </a:r>
            <a:r>
              <a:rPr lang="en-IN" sz="1200" dirty="0"/>
              <a:t>  </a:t>
            </a:r>
            <a:r>
              <a:rPr sz="1200" dirty="0"/>
              <a:t>26-35          15             A   </a:t>
            </a:r>
            <a:br>
              <a:rPr sz="1200" dirty="0"/>
            </a:br>
            <a:r>
              <a:rPr sz="1200" dirty="0"/>
              <a:t>6  1000004  P00184942      M  </a:t>
            </a:r>
            <a:r>
              <a:rPr lang="en-IN" sz="1200" dirty="0"/>
              <a:t>  </a:t>
            </a:r>
            <a:r>
              <a:rPr sz="1200" dirty="0"/>
              <a:t>46-50           7             B   </a:t>
            </a:r>
            <a:br>
              <a:rPr sz="1200" dirty="0"/>
            </a:br>
            <a:r>
              <a:rPr sz="1200" dirty="0"/>
              <a:t>7  1000004  P00346142      M  </a:t>
            </a:r>
            <a:r>
              <a:rPr lang="en-IN" sz="1200" dirty="0"/>
              <a:t>  </a:t>
            </a:r>
            <a:r>
              <a:rPr sz="1200" dirty="0"/>
              <a:t>46-50           7             B   </a:t>
            </a:r>
            <a:br>
              <a:rPr sz="1200" dirty="0"/>
            </a:br>
            <a:r>
              <a:rPr sz="1200" dirty="0"/>
              <a:t>8  1000004   P0097242      M </a:t>
            </a:r>
            <a:r>
              <a:rPr lang="en-IN" sz="1200" dirty="0"/>
              <a:t>  </a:t>
            </a:r>
            <a:r>
              <a:rPr sz="1200" dirty="0"/>
              <a:t> 46-50           7             B   </a:t>
            </a:r>
            <a:br>
              <a:rPr sz="1200" dirty="0"/>
            </a:br>
            <a:endParaRPr lang="en-IN" sz="1200" dirty="0"/>
          </a:p>
          <a:p>
            <a:pPr>
              <a:defRPr sz="830">
                <a:latin typeface="Consolas"/>
              </a:defRPr>
            </a:pPr>
            <a:r>
              <a:rPr lang="en-IN" sz="1200" dirty="0"/>
              <a:t>	</a:t>
            </a:r>
            <a:r>
              <a:rPr sz="1200" dirty="0" err="1"/>
              <a:t>Stay_In_Current_City_Years</a:t>
            </a:r>
            <a:r>
              <a:rPr sz="1200" dirty="0"/>
              <a:t>  </a:t>
            </a:r>
            <a:r>
              <a:rPr sz="1200" dirty="0" err="1"/>
              <a:t>Marital_Status</a:t>
            </a:r>
            <a:r>
              <a:rPr sz="1200" dirty="0"/>
              <a:t>  </a:t>
            </a:r>
            <a:r>
              <a:rPr lang="en-IN" sz="1200" dirty="0"/>
              <a:t>	</a:t>
            </a:r>
            <a:r>
              <a:rPr sz="1200" dirty="0"/>
              <a:t>Product_Category_1  \</a:t>
            </a:r>
            <a:br>
              <a:rPr sz="1200" dirty="0"/>
            </a:br>
            <a:r>
              <a:rPr sz="1200" dirty="0"/>
              <a:t>1                          2               0                   1   </a:t>
            </a:r>
            <a:br>
              <a:rPr sz="1200" dirty="0"/>
            </a:br>
            <a:r>
              <a:rPr sz="1200" dirty="0"/>
              <a:t>5                          3               0                   1   </a:t>
            </a:r>
            <a:br>
              <a:rPr sz="1200" dirty="0"/>
            </a:br>
            <a:r>
              <a:rPr sz="1200" dirty="0"/>
              <a:t>6                          2               1                   1  </a:t>
            </a:r>
            <a:r>
              <a:rPr lang="en-IN" sz="1200" dirty="0"/>
              <a:t>   </a:t>
            </a:r>
            <a:r>
              <a:rPr sz="1200" dirty="0"/>
              <a:t> </a:t>
            </a:r>
            <a:endParaRPr lang="en-IN" sz="1200" dirty="0"/>
          </a:p>
          <a:p>
            <a:pPr>
              <a:defRPr sz="830">
                <a:latin typeface="Consolas"/>
              </a:defRPr>
            </a:pPr>
            <a:r>
              <a:rPr sz="1200" dirty="0"/>
              <a:t>7                          2               1               </a:t>
            </a:r>
            <a:r>
              <a:rPr lang="en-IN" sz="1200" dirty="0"/>
              <a:t>    </a:t>
            </a:r>
            <a:r>
              <a:rPr sz="1200" dirty="0"/>
              <a:t>1   </a:t>
            </a:r>
            <a:br>
              <a:rPr sz="1200" dirty="0"/>
            </a:br>
            <a:r>
              <a:rPr sz="1200" dirty="0"/>
              <a:t>8                          2               1                   1   </a:t>
            </a:r>
            <a:br>
              <a:rPr sz="1200" dirty="0"/>
            </a:br>
            <a:br>
              <a:rPr sz="1200" dirty="0"/>
            </a:br>
            <a:r>
              <a:rPr sz="1200" dirty="0"/>
              <a:t>   </a:t>
            </a:r>
            <a:r>
              <a:rPr lang="en-IN" sz="1200" dirty="0"/>
              <a:t>	</a:t>
            </a:r>
            <a:r>
              <a:rPr sz="1200" dirty="0"/>
              <a:t>Product_Category_2  Product_Category_3  Purchase </a:t>
            </a:r>
            <a:r>
              <a:rPr lang="en-IN" sz="1200" dirty="0"/>
              <a:t>	</a:t>
            </a:r>
            <a:r>
              <a:rPr sz="1200" dirty="0" err="1"/>
              <a:t>Purchase_Level</a:t>
            </a:r>
            <a:r>
              <a:rPr sz="1200" dirty="0"/>
              <a:t>  </a:t>
            </a:r>
            <a:br>
              <a:rPr sz="1200" dirty="0"/>
            </a:br>
            <a:r>
              <a:rPr sz="1200" dirty="0"/>
              <a:t>1                 6.0                14.0     15200           High  </a:t>
            </a:r>
            <a:br>
              <a:rPr sz="1200" dirty="0"/>
            </a:br>
            <a:r>
              <a:rPr sz="1200" dirty="0"/>
              <a:t>5                 2.0                 0.0     15227           High  </a:t>
            </a:r>
            <a:br>
              <a:rPr sz="1200" dirty="0"/>
            </a:br>
            <a:r>
              <a:rPr sz="1200" dirty="0"/>
              <a:t>6                 8.0                17.0     19215           High  </a:t>
            </a:r>
            <a:br>
              <a:rPr sz="1200" dirty="0"/>
            </a:br>
            <a:r>
              <a:rPr sz="1200" dirty="0"/>
              <a:t>7                15.0                 0.0     15854           High  </a:t>
            </a:r>
            <a:br>
              <a:rPr sz="1200" dirty="0"/>
            </a:br>
            <a:r>
              <a:rPr sz="1200" dirty="0"/>
              <a:t>8                16.0                 0.0     15686          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60848"/>
            <a:ext cx="1153668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code filters transactions with Purchase &gt;= 10,000 and displays the first matching records. The displayed rows are labeled High because they meet the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Purchase_Level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rule.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29C76A-91E6-F40A-AE73-BDBB7A91F075}"/>
              </a:ext>
            </a:extLst>
          </p:cNvPr>
          <p:cNvSpPr/>
          <p:nvPr/>
        </p:nvSpPr>
        <p:spPr>
          <a:xfrm>
            <a:off x="4958080" y="876568"/>
            <a:ext cx="6822440" cy="438428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686AE4-97BE-6608-0BF1-22C4F0396869}"/>
              </a:ext>
            </a:extLst>
          </p:cNvPr>
          <p:cNvSpPr txBox="1"/>
          <p:nvPr/>
        </p:nvSpPr>
        <p:spPr>
          <a:xfrm>
            <a:off x="3883743" y="2094271"/>
            <a:ext cx="487716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0" dirty="0">
                <a:latin typeface="Arial" panose="020B0604020202020204" pitchFamily="34" charset="0"/>
                <a:cs typeface="Arial" panose="020B0604020202020204" pitchFamily="34" charset="0"/>
              </a:rPr>
              <a:t>IV. </a:t>
            </a:r>
          </a:p>
          <a:p>
            <a:pPr algn="ctr"/>
            <a:endParaRPr lang="en-IN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6000" dirty="0">
                <a:latin typeface="Arial" panose="020B0604020202020204" pitchFamily="34" charset="0"/>
                <a:cs typeface="Arial" panose="020B0604020202020204" pitchFamily="34" charset="0"/>
              </a:rPr>
              <a:t>Visualizations</a:t>
            </a:r>
          </a:p>
        </p:txBody>
      </p:sp>
    </p:spTree>
    <p:extLst>
      <p:ext uri="{BB962C8B-B14F-4D97-AF65-F5344CB8AC3E}">
        <p14:creationId xmlns:p14="http://schemas.microsoft.com/office/powerpoint/2010/main" val="42288262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135" y="201168"/>
            <a:ext cx="114649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61: 1. Customer Distribution by Age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1959" y="1310266"/>
            <a:ext cx="3795743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100" dirty="0"/>
              <a:t>CODE</a:t>
            </a:r>
            <a:endParaRPr lang="en-IN" sz="1100" dirty="0"/>
          </a:p>
          <a:p>
            <a:pPr>
              <a:defRPr sz="1200" b="1"/>
            </a:pPr>
            <a:endParaRPr sz="1100" dirty="0"/>
          </a:p>
          <a:p>
            <a:pPr>
              <a:defRPr sz="919">
                <a:latin typeface="Consolas"/>
              </a:defRPr>
            </a:pPr>
            <a:r>
              <a:rPr sz="1100" dirty="0" err="1"/>
              <a:t>plt.figure</a:t>
            </a:r>
            <a:r>
              <a:rPr sz="1100" dirty="0"/>
              <a:t>(</a:t>
            </a:r>
            <a:r>
              <a:rPr sz="1100" dirty="0" err="1"/>
              <a:t>figsize</a:t>
            </a:r>
            <a:r>
              <a:rPr sz="1100" dirty="0"/>
              <a:t>=(8,5))</a:t>
            </a:r>
            <a:br>
              <a:rPr sz="1100" dirty="0"/>
            </a:br>
            <a:br>
              <a:rPr sz="1100" dirty="0"/>
            </a:br>
            <a:r>
              <a:rPr sz="1100" dirty="0" err="1"/>
              <a:t>sns.countplot</a:t>
            </a:r>
            <a:r>
              <a:rPr sz="1100" dirty="0"/>
              <a:t>(data=</a:t>
            </a:r>
            <a:r>
              <a:rPr sz="1100" dirty="0" err="1"/>
              <a:t>df</a:t>
            </a:r>
            <a:r>
              <a:rPr sz="1100" dirty="0"/>
              <a:t>, x='Age')</a:t>
            </a:r>
            <a:br>
              <a:rPr sz="1100" dirty="0"/>
            </a:br>
            <a:br>
              <a:rPr sz="1100" dirty="0"/>
            </a:br>
            <a:r>
              <a:rPr sz="1100" dirty="0" err="1"/>
              <a:t>plt.title</a:t>
            </a:r>
            <a:r>
              <a:rPr sz="1100" dirty="0"/>
              <a:t>("Customer Distribution by Age Group")</a:t>
            </a:r>
            <a:br>
              <a:rPr sz="1100" dirty="0"/>
            </a:br>
            <a:r>
              <a:rPr sz="1100" dirty="0" err="1"/>
              <a:t>plt.xlabel</a:t>
            </a:r>
            <a:r>
              <a:rPr sz="1100" dirty="0"/>
              <a:t>("Age Group")</a:t>
            </a:r>
            <a:br>
              <a:rPr sz="1100" dirty="0"/>
            </a:br>
            <a:r>
              <a:rPr sz="1100" dirty="0" err="1"/>
              <a:t>plt.ylabel</a:t>
            </a:r>
            <a:r>
              <a:rPr sz="1100" dirty="0"/>
              <a:t>("Number of Customers")</a:t>
            </a:r>
            <a:br>
              <a:rPr sz="1100" dirty="0"/>
            </a:br>
            <a:br>
              <a:rPr sz="1100" dirty="0"/>
            </a:br>
            <a:r>
              <a:rPr sz="1100" dirty="0" err="1"/>
              <a:t>plt.xticks</a:t>
            </a:r>
            <a:r>
              <a:rPr sz="1100" dirty="0"/>
              <a:t>(rotation=45)</a:t>
            </a:r>
            <a:br>
              <a:rPr sz="1100" dirty="0"/>
            </a:br>
            <a:br>
              <a:rPr sz="1100" dirty="0"/>
            </a:br>
            <a:r>
              <a:rPr sz="1100" dirty="0" err="1"/>
              <a:t>plt.show</a:t>
            </a:r>
            <a:r>
              <a:rPr sz="1100"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3792" y="882278"/>
            <a:ext cx="2067560" cy="404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  <a:p>
            <a:pPr>
              <a:defRPr sz="830">
                <a:latin typeface="Consola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12462" y="5620846"/>
            <a:ext cx="1159223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count plot visualizes the number of transaction records in each age group. The chart shows the age group 26-35 contribute the most, the age group 0-17 contribute the least records.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465579-A622-6344-A10A-0803A56E0D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04" t="34155" r="30990" b="4982"/>
          <a:stretch>
            <a:fillRect/>
          </a:stretch>
        </p:blipFill>
        <p:spPr>
          <a:xfrm>
            <a:off x="5392256" y="1457956"/>
            <a:ext cx="6105832" cy="39420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80998" y="45040"/>
            <a:ext cx="56300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Step 62: 2. Gender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5577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CODE</a:t>
            </a:r>
          </a:p>
          <a:p>
            <a:pPr>
              <a:defRPr sz="919">
                <a:latin typeface="Consolas"/>
              </a:defRPr>
            </a:pPr>
            <a:r>
              <a:t>plt.figure(figsize=(7,5))</a:t>
            </a:r>
            <a:br/>
            <a:br/>
            <a:r>
              <a:t>sns.countplot(data=df, x='Gender')</a:t>
            </a:r>
            <a:br/>
            <a:br/>
            <a:r>
              <a:t>plt.title("Customer Distribution by Gender")</a:t>
            </a:r>
            <a:br/>
            <a:r>
              <a:t>plt.xlabel("Gender")</a:t>
            </a:r>
            <a:br/>
            <a:r>
              <a:t>plt.ylabel("Number of Customers")</a:t>
            </a:r>
            <a:br/>
            <a:br/>
            <a:r>
              <a:t>plt.show()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841248"/>
            <a:ext cx="3148781" cy="404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  <a:p>
            <a:pPr>
              <a:defRPr sz="830">
                <a:latin typeface="Consola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5073444"/>
            <a:ext cx="108926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 count plot visualizes transaction-record counts by gender. It provides a direct visual comparison of male and female transaction frequencies.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10A713-8B0F-FB66-4364-70A86A9CFA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65" t="27972" r="37376" b="13756"/>
          <a:stretch>
            <a:fillRect/>
          </a:stretch>
        </p:blipFill>
        <p:spPr>
          <a:xfrm>
            <a:off x="4957670" y="1245974"/>
            <a:ext cx="5577840" cy="364601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0044" y="201168"/>
            <a:ext cx="50048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63: 3. Purchase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39212"/>
            <a:ext cx="3423101" cy="155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=(8,5))</a:t>
            </a:r>
            <a:br>
              <a:rPr dirty="0"/>
            </a:br>
            <a:br>
              <a:rPr dirty="0"/>
            </a:br>
            <a:r>
              <a:rPr dirty="0" err="1"/>
              <a:t>sns.histplot</a:t>
            </a:r>
            <a:r>
              <a:rPr dirty="0"/>
              <a:t>(</a:t>
            </a:r>
            <a:r>
              <a:rPr dirty="0" err="1"/>
              <a:t>df</a:t>
            </a:r>
            <a:r>
              <a:rPr dirty="0"/>
              <a:t>['Purchase'], bins=30, </a:t>
            </a:r>
            <a:r>
              <a:rPr dirty="0" err="1"/>
              <a:t>kde</a:t>
            </a:r>
            <a:r>
              <a:rPr dirty="0"/>
              <a:t>=True)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("Distribution of Purchase Amount")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("Purchase Amount")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("Frequency")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89490" y="722352"/>
            <a:ext cx="2224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778" y="4427846"/>
            <a:ext cx="1109914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 histogram shows how Purchase amounts are distributed across 30 bins, with a KDE curve to indicate the smoothed distribution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curve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 It helps inspect concentration and spread of transaction values.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Highest Frequency Peak : The most prominent peak occurs around a purchase amount of 8,000 to 9,000, where the frequency approaches nearly 60,000 occurrences.</a:t>
            </a:r>
          </a:p>
          <a:p>
            <a:pPr>
              <a:defRPr sz="1600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Sharp Drop-Off : The frequency falls off drastically after 21,000.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65FCBC-025B-7008-51DA-C5B2A8329F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78" t="23941" r="33287" b="18829"/>
          <a:stretch>
            <a:fillRect/>
          </a:stretch>
        </p:blipFill>
        <p:spPr>
          <a:xfrm>
            <a:off x="5938684" y="1106715"/>
            <a:ext cx="5889768" cy="344789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1" y="201168"/>
            <a:ext cx="4622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Step 64: 4. Gender Sales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62644"/>
            <a:ext cx="35214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200" dirty="0" err="1"/>
              <a:t>gender_sales</a:t>
            </a:r>
            <a:r>
              <a:rPr sz="1200" dirty="0"/>
              <a:t> = </a:t>
            </a:r>
            <a:r>
              <a:rPr sz="1200" dirty="0" err="1"/>
              <a:t>df.groupby</a:t>
            </a:r>
            <a:r>
              <a:rPr sz="1200" dirty="0"/>
              <a:t>('Gender')['Purchase'].sum()</a:t>
            </a:r>
            <a:br>
              <a:rPr sz="1200" dirty="0"/>
            </a:br>
            <a:br>
              <a:rPr sz="1200" dirty="0"/>
            </a:br>
            <a:r>
              <a:rPr sz="1200" dirty="0" err="1"/>
              <a:t>gender_sales</a:t>
            </a:r>
            <a:endParaRPr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938980" y="2844224"/>
            <a:ext cx="32362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400" dirty="0"/>
              <a:t>Gender</a:t>
            </a:r>
            <a:br>
              <a:rPr sz="1400" dirty="0"/>
            </a:br>
            <a:r>
              <a:rPr sz="1400" dirty="0"/>
              <a:t>F    1186232642</a:t>
            </a:r>
            <a:br>
              <a:rPr sz="1400" dirty="0"/>
            </a:br>
            <a:r>
              <a:rPr sz="1400" dirty="0"/>
              <a:t>M    3909580100</a:t>
            </a:r>
            <a:br>
              <a:rPr sz="1400" dirty="0"/>
            </a:br>
            <a:r>
              <a:rPr sz="1400" dirty="0"/>
              <a:t>Name: Purchase, </a:t>
            </a:r>
            <a:r>
              <a:rPr sz="1400" dirty="0" err="1"/>
              <a:t>dtype</a:t>
            </a:r>
            <a:r>
              <a:rPr sz="1400" dirty="0"/>
              <a:t>: int64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" y="4885488"/>
            <a:ext cx="471800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The grouped Series contains total Purchase by gender: F = 1,186,232,642 and M = 3,909,580,100. These values are then used for the following bar chart.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69C16C-1C1A-D58E-5E2E-E4288F574A37}"/>
              </a:ext>
            </a:extLst>
          </p:cNvPr>
          <p:cNvCxnSpPr>
            <a:cxnSpLocks/>
          </p:cNvCxnSpPr>
          <p:nvPr/>
        </p:nvCxnSpPr>
        <p:spPr>
          <a:xfrm>
            <a:off x="5447071" y="0"/>
            <a:ext cx="0" cy="6931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F7E4F30-F519-13A3-4AEA-5DDA03301DF7}"/>
              </a:ext>
            </a:extLst>
          </p:cNvPr>
          <p:cNvSpPr txBox="1"/>
          <p:nvPr/>
        </p:nvSpPr>
        <p:spPr>
          <a:xfrm>
            <a:off x="6305920" y="155448"/>
            <a:ext cx="5039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Step 65: 4. Gender Sales Visualization (Total Purchase by Gender)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661EFA-19FF-9080-4152-2508AB6ED51F}"/>
              </a:ext>
            </a:extLst>
          </p:cNvPr>
          <p:cNvSpPr txBox="1"/>
          <p:nvPr/>
        </p:nvSpPr>
        <p:spPr>
          <a:xfrm>
            <a:off x="5589643" y="1022475"/>
            <a:ext cx="1843538" cy="2257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=(7,5))</a:t>
            </a:r>
            <a:br>
              <a:rPr dirty="0"/>
            </a:br>
            <a:br>
              <a:rPr dirty="0"/>
            </a:br>
            <a:r>
              <a:rPr dirty="0" err="1"/>
              <a:t>gender_sales.plot</a:t>
            </a:r>
            <a:r>
              <a:rPr dirty="0"/>
              <a:t>(kind='bar')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("Total Purchase by Gender")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("Gender")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("Total Purchase")</a:t>
            </a:r>
            <a:br>
              <a:rPr dirty="0"/>
            </a:br>
            <a:br>
              <a:rPr dirty="0"/>
            </a:br>
            <a:r>
              <a:rPr dirty="0" err="1"/>
              <a:t>plt.xticks</a:t>
            </a:r>
            <a:r>
              <a:rPr dirty="0"/>
              <a:t>(rotation=0)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CCCE6A-5163-C4A0-9FDB-AE6A640619F4}"/>
              </a:ext>
            </a:extLst>
          </p:cNvPr>
          <p:cNvSpPr txBox="1"/>
          <p:nvPr/>
        </p:nvSpPr>
        <p:spPr>
          <a:xfrm>
            <a:off x="9119419" y="1060281"/>
            <a:ext cx="1553988" cy="404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  <a:p>
            <a:pPr>
              <a:defRPr sz="830">
                <a:latin typeface="Consolas"/>
              </a:defRPr>
            </a:pP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BD97CC-20E1-4B76-9E07-FA90B25C102D}"/>
              </a:ext>
            </a:extLst>
          </p:cNvPr>
          <p:cNvSpPr txBox="1"/>
          <p:nvPr/>
        </p:nvSpPr>
        <p:spPr>
          <a:xfrm>
            <a:off x="5589643" y="5250749"/>
            <a:ext cx="62567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The bar chart visualizes total Purchase by gender. The underlying totals show a much larger total for M than F in this dataset.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211CDEE-A4FE-6E8E-08AA-C010AC6B0C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53" t="25750" r="40322" b="16553"/>
          <a:stretch>
            <a:fillRect/>
          </a:stretch>
        </p:blipFill>
        <p:spPr>
          <a:xfrm>
            <a:off x="7575752" y="1465007"/>
            <a:ext cx="4270631" cy="302833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DF9E1BD-3B6A-F470-32DB-E9ECACE2B645}"/>
              </a:ext>
            </a:extLst>
          </p:cNvPr>
          <p:cNvSpPr txBox="1"/>
          <p:nvPr/>
        </p:nvSpPr>
        <p:spPr>
          <a:xfrm>
            <a:off x="7575752" y="4567894"/>
            <a:ext cx="449038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err="1">
                <a:latin typeface="Arial" panose="020B0604020202020204" pitchFamily="34" charset="0"/>
                <a:cs typeface="Arial" panose="020B0604020202020204" pitchFamily="34" charset="0"/>
              </a:rPr>
              <a:t>groupby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() groups the dataset according to gender.</a:t>
            </a:r>
          </a:p>
          <a:p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['Purchase'].sum() calculates total purchases for each gender.</a:t>
            </a:r>
          </a:p>
          <a:p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43CFFA-7D4A-B5E0-D240-1573F20E4CAC}"/>
              </a:ext>
            </a:extLst>
          </p:cNvPr>
          <p:cNvSpPr/>
          <p:nvPr/>
        </p:nvSpPr>
        <p:spPr>
          <a:xfrm>
            <a:off x="747252" y="2694039"/>
            <a:ext cx="3521418" cy="170098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1020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Step 66: 5. City Sales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3196959" cy="183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CODE</a:t>
            </a:r>
          </a:p>
          <a:p>
            <a:pPr>
              <a:defRPr sz="919">
                <a:latin typeface="Consolas"/>
              </a:defRPr>
            </a:pPr>
            <a:r>
              <a:t>plt.figure(figsize=(7,5))</a:t>
            </a:r>
            <a:br/>
            <a:br/>
            <a:r>
              <a:t>city_sales.plot(kind='bar')</a:t>
            </a:r>
            <a:br/>
            <a:br/>
            <a:r>
              <a:t>plt.title("Total Purchase by City Category")</a:t>
            </a:r>
            <a:br/>
            <a:r>
              <a:t>plt.xlabel("City Category")</a:t>
            </a:r>
            <a:br/>
            <a:r>
              <a:t>plt.ylabel("Total Purchase")</a:t>
            </a:r>
            <a:br/>
            <a:br/>
            <a:r>
              <a:t>plt.xticks(rotation=0)</a:t>
            </a:r>
            <a:br/>
            <a:br/>
            <a:r>
              <a:t>plt.show()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34632" y="841248"/>
            <a:ext cx="2281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303" y="5270090"/>
            <a:ext cx="1123827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bar chart visualizes total Purchase by city category. The underlying totals are B = 2,115,533,605, C = 1,663,807,476 and A = 1,316,471,661.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D55645-5679-ED74-ADBE-1D3CDB5F02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13" t="31366" r="40081" b="10047"/>
          <a:stretch>
            <a:fillRect/>
          </a:stretch>
        </p:blipFill>
        <p:spPr>
          <a:xfrm>
            <a:off x="5574890" y="1235107"/>
            <a:ext cx="5279924" cy="379466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475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67: 6. Product Category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3187126" cy="1974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=(10,6))</a:t>
            </a:r>
            <a:br>
              <a:rPr dirty="0"/>
            </a:br>
            <a:br>
              <a:rPr dirty="0"/>
            </a:br>
            <a:r>
              <a:rPr dirty="0"/>
              <a:t>category1_sales.head(10).plot(kind='bar')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("Top 10 Product Categories by Total Purchase")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("Product Category 1")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("Total Purchase")</a:t>
            </a:r>
            <a:br>
              <a:rPr dirty="0"/>
            </a:br>
            <a:br>
              <a:rPr dirty="0"/>
            </a:br>
            <a:r>
              <a:rPr dirty="0" err="1"/>
              <a:t>plt.xticks</a:t>
            </a:r>
            <a:r>
              <a:rPr dirty="0"/>
              <a:t>(rotation=45)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1838" y="1043611"/>
            <a:ext cx="2293374" cy="404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  <a:p>
            <a:pPr>
              <a:defRPr sz="830">
                <a:latin typeface="Consola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76981" y="5338916"/>
            <a:ext cx="1183803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bar chart displays the top 10 Product_Category_1 values by total Purchase. The underlying ranking places category 1 first, followed by 5 and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67/85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BF6489-B39A-8CC4-9D7A-A7DC3197F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97" t="26964" r="24919" b="5307"/>
          <a:stretch>
            <a:fillRect/>
          </a:stretch>
        </p:blipFill>
        <p:spPr>
          <a:xfrm>
            <a:off x="5535562" y="1598488"/>
            <a:ext cx="5466223" cy="325181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84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68: 7. Product Category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970" y="1519674"/>
            <a:ext cx="3777062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=(10,6))</a:t>
            </a:r>
            <a:br>
              <a:rPr dirty="0"/>
            </a:br>
            <a:br>
              <a:rPr dirty="0"/>
            </a:br>
            <a:r>
              <a:rPr dirty="0" err="1"/>
              <a:t>sns.countplot</a:t>
            </a:r>
            <a:r>
              <a:rPr dirty="0"/>
              <a:t>(</a:t>
            </a:r>
            <a:br>
              <a:rPr dirty="0"/>
            </a:br>
            <a:r>
              <a:rPr dirty="0"/>
              <a:t>    data=</a:t>
            </a:r>
            <a:r>
              <a:rPr dirty="0" err="1"/>
              <a:t>df</a:t>
            </a:r>
            <a:r>
              <a:rPr dirty="0"/>
              <a:t>,</a:t>
            </a:r>
            <a:br>
              <a:rPr dirty="0"/>
            </a:br>
            <a:r>
              <a:rPr dirty="0"/>
              <a:t>    x='Product_Category_1',</a:t>
            </a:r>
            <a:br>
              <a:rPr dirty="0"/>
            </a:br>
            <a:r>
              <a:rPr dirty="0"/>
              <a:t>    order=</a:t>
            </a:r>
            <a:r>
              <a:rPr dirty="0" err="1"/>
              <a:t>df</a:t>
            </a:r>
            <a:r>
              <a:rPr dirty="0"/>
              <a:t>['Product_Category_1'].</a:t>
            </a:r>
            <a:r>
              <a:rPr dirty="0" err="1"/>
              <a:t>value_counts</a:t>
            </a:r>
            <a:r>
              <a:rPr dirty="0"/>
              <a:t>().index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("Number of Transactions by Product Category")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("Product Category")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("Number of Transactions")</a:t>
            </a:r>
            <a:br>
              <a:rPr dirty="0"/>
            </a:br>
            <a:br>
              <a:rPr dirty="0"/>
            </a:br>
            <a:r>
              <a:rPr dirty="0" err="1"/>
              <a:t>plt.xticks</a:t>
            </a:r>
            <a:r>
              <a:rPr dirty="0"/>
              <a:t>(rotation=45)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08489" y="867485"/>
            <a:ext cx="25863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161934"/>
            <a:ext cx="1138428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count plot displays transaction frequency for Product_Category_1 and orders the bars from most frequent to least frequent. It is intended to identify categories with the most transaction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68/85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9F1637-CD7A-F545-835F-85DE7E6B95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06" t="27723" r="22580" b="2988"/>
          <a:stretch>
            <a:fillRect/>
          </a:stretch>
        </p:blipFill>
        <p:spPr>
          <a:xfrm>
            <a:off x="5742039" y="1207712"/>
            <a:ext cx="6190779" cy="369858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7160" y="201168"/>
            <a:ext cx="45272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69: 8. Purchase Box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96662"/>
            <a:ext cx="2911823" cy="1408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=(8,5))</a:t>
            </a:r>
            <a:br>
              <a:rPr dirty="0"/>
            </a:br>
            <a:br>
              <a:rPr dirty="0"/>
            </a:br>
            <a:r>
              <a:rPr dirty="0" err="1"/>
              <a:t>sns.boxplot</a:t>
            </a:r>
            <a:r>
              <a:rPr dirty="0"/>
              <a:t>(x=</a:t>
            </a:r>
            <a:r>
              <a:rPr dirty="0" err="1"/>
              <a:t>df</a:t>
            </a:r>
            <a:r>
              <a:rPr dirty="0"/>
              <a:t>['Purchase'])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("Box Plot of Purchase Amount")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("Purchase Amount")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3387" y="658507"/>
            <a:ext cx="22737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3493" y="4350947"/>
            <a:ext cx="1129284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box plot summarizes the distribution of Purchase amounts using the median, quartiles and possible outliers. It helps assess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median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spread and unusually low or high transactions.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Typical purchases are moderately low : between 5000 and 13,000.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data is symmetrically distributed. (extend out to roughly 0 to 21,000 equally). This indicates a very balanced, symmetrical distribution of standard purchase amounts.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High-value outliers are present. There is an isolated data point near 22,000, showing that while rare, some individual purchases significantly exceed the standard customer spending range.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F87C5A-CACC-E7FB-1F5A-67523D3358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77" t="31795" r="38307" b="10047"/>
          <a:stretch>
            <a:fillRect/>
          </a:stretch>
        </p:blipFill>
        <p:spPr>
          <a:xfrm>
            <a:off x="7138219" y="1285634"/>
            <a:ext cx="4655084" cy="305908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70971" y="201168"/>
            <a:ext cx="6419578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Step 70: 9. Puchase Analysis by Age and Gender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57" y="848727"/>
            <a:ext cx="3157630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=(10,6))</a:t>
            </a:r>
            <a:br>
              <a:rPr dirty="0"/>
            </a:br>
            <a:br>
              <a:rPr dirty="0"/>
            </a:br>
            <a:r>
              <a:rPr dirty="0" err="1"/>
              <a:t>sns.barplot</a:t>
            </a:r>
            <a:r>
              <a:rPr dirty="0"/>
              <a:t>(</a:t>
            </a:r>
            <a:br>
              <a:rPr dirty="0"/>
            </a:br>
            <a:r>
              <a:rPr dirty="0"/>
              <a:t>    data=</a:t>
            </a:r>
            <a:r>
              <a:rPr dirty="0" err="1"/>
              <a:t>gender_age_sales</a:t>
            </a:r>
            <a:r>
              <a:rPr dirty="0"/>
              <a:t>,</a:t>
            </a:r>
            <a:br>
              <a:rPr dirty="0"/>
            </a:br>
            <a:r>
              <a:rPr dirty="0"/>
              <a:t>    x='Age',</a:t>
            </a:r>
            <a:br>
              <a:rPr dirty="0"/>
            </a:br>
            <a:r>
              <a:rPr dirty="0"/>
              <a:t>    y='Purchase',</a:t>
            </a:r>
            <a:br>
              <a:rPr dirty="0"/>
            </a:br>
            <a:r>
              <a:rPr dirty="0"/>
              <a:t>    hue='Gender'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("Purchase by Age Group and Gender")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("Age Group")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("Total Purchase")</a:t>
            </a:r>
            <a:br>
              <a:rPr dirty="0"/>
            </a:br>
            <a:br>
              <a:rPr dirty="0"/>
            </a:br>
            <a:r>
              <a:rPr dirty="0" err="1"/>
              <a:t>plt.xticks</a:t>
            </a:r>
            <a:r>
              <a:rPr dirty="0"/>
              <a:t>(rotation=45)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48483" y="979747"/>
            <a:ext cx="24506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87" y="5406740"/>
            <a:ext cx="1158633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grouped bar chart compares total Purchase across age groups, separated by gender. The underlying table shows male totals above female totals in every age group shown.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821C0B-C796-37EC-56F8-FCB69D0BAD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80" t="27723" r="23798" b="1538"/>
          <a:stretch>
            <a:fillRect/>
          </a:stretch>
        </p:blipFill>
        <p:spPr>
          <a:xfrm>
            <a:off x="4896465" y="1451260"/>
            <a:ext cx="5702710" cy="35063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C8CD2C-D149-6D34-D255-BAC3F5DCDB4F}"/>
              </a:ext>
            </a:extLst>
          </p:cNvPr>
          <p:cNvSpPr txBox="1"/>
          <p:nvPr/>
        </p:nvSpPr>
        <p:spPr>
          <a:xfrm>
            <a:off x="117987" y="3566986"/>
            <a:ext cx="37165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hue='Gender' creates separate bars for genders.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allows us to compare purchasing patterns across age groups and gender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05750" y="201168"/>
            <a:ext cx="47500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71: 10. City - gender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0138" y="1296662"/>
            <a:ext cx="3364107" cy="2257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=(8,5))</a:t>
            </a:r>
            <a:br>
              <a:rPr dirty="0"/>
            </a:br>
            <a:br>
              <a:rPr dirty="0"/>
            </a:br>
            <a:r>
              <a:rPr dirty="0" err="1"/>
              <a:t>sns.barplot</a:t>
            </a:r>
            <a:r>
              <a:rPr dirty="0"/>
              <a:t>(</a:t>
            </a:r>
            <a:br>
              <a:rPr dirty="0"/>
            </a:br>
            <a:r>
              <a:rPr dirty="0"/>
              <a:t>    data=</a:t>
            </a:r>
            <a:r>
              <a:rPr dirty="0" err="1"/>
              <a:t>city_gender_sales</a:t>
            </a:r>
            <a:r>
              <a:rPr dirty="0"/>
              <a:t>,</a:t>
            </a:r>
            <a:br>
              <a:rPr dirty="0"/>
            </a:br>
            <a:r>
              <a:rPr dirty="0"/>
              <a:t>    x='</a:t>
            </a:r>
            <a:r>
              <a:rPr dirty="0" err="1"/>
              <a:t>City_Category</a:t>
            </a:r>
            <a:r>
              <a:rPr dirty="0"/>
              <a:t>',</a:t>
            </a:r>
            <a:br>
              <a:rPr dirty="0"/>
            </a:br>
            <a:r>
              <a:rPr dirty="0"/>
              <a:t>    y='Purchase',</a:t>
            </a:r>
            <a:br>
              <a:rPr dirty="0"/>
            </a:br>
            <a:r>
              <a:rPr dirty="0"/>
              <a:t>    hue='Gender'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("Purchase by City Category and Gender")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("City Category")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("Total Purchase")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7206" y="841248"/>
            <a:ext cx="22442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148" y="5201264"/>
            <a:ext cx="1153717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grouped bar chart compares total Purchase across city categories, separated by gender. The underlying values show male totals above female totals for A, B and 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31F840-81F5-4DFD-7318-42DCB1AE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06" t="27723" r="34355" b="15655"/>
          <a:stretch>
            <a:fillRect/>
          </a:stretch>
        </p:blipFill>
        <p:spPr>
          <a:xfrm>
            <a:off x="5535562" y="1296662"/>
            <a:ext cx="5833961" cy="352114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66065" y="201168"/>
            <a:ext cx="50293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72: 11.  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36885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200" dirty="0" err="1"/>
              <a:t>numeric_columns</a:t>
            </a:r>
            <a:r>
              <a:rPr sz="1200" dirty="0"/>
              <a:t> = </a:t>
            </a:r>
            <a:r>
              <a:rPr sz="1200" dirty="0" err="1"/>
              <a:t>df.select_dtypes</a:t>
            </a:r>
            <a:r>
              <a:rPr sz="1200" dirty="0"/>
              <a:t>(include=</a:t>
            </a:r>
            <a:r>
              <a:rPr sz="1200" dirty="0" err="1"/>
              <a:t>np.number</a:t>
            </a:r>
            <a:r>
              <a:rPr sz="1200" dirty="0"/>
              <a:t>)</a:t>
            </a:r>
            <a:br>
              <a:rPr sz="1200" dirty="0"/>
            </a:br>
            <a:br>
              <a:rPr sz="1200" dirty="0"/>
            </a:br>
            <a:r>
              <a:rPr sz="1200" dirty="0"/>
              <a:t>correlation = </a:t>
            </a:r>
            <a:r>
              <a:rPr sz="1200" dirty="0" err="1"/>
              <a:t>numeric_columns.corr</a:t>
            </a:r>
            <a:r>
              <a:rPr sz="1200" dirty="0"/>
              <a:t>()</a:t>
            </a:r>
            <a:br>
              <a:rPr sz="1200" dirty="0"/>
            </a:br>
            <a:br>
              <a:rPr sz="1200" dirty="0"/>
            </a:br>
            <a:r>
              <a:rPr sz="1200" dirty="0"/>
              <a:t>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981" y="5032508"/>
            <a:ext cx="115273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This repeats the numeric correlation calculation and stores the matrix in correlation. It prepares the data for the heatmap in the next step.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171631-7891-0B83-CE55-C6A4EC366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45" t="41537" r="23710" b="25243"/>
          <a:stretch>
            <a:fillRect/>
          </a:stretch>
        </p:blipFill>
        <p:spPr>
          <a:xfrm>
            <a:off x="3018289" y="2226243"/>
            <a:ext cx="8939325" cy="26013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E0AB6C-0059-219A-2EF1-0D9A1C7568E3}"/>
              </a:ext>
            </a:extLst>
          </p:cNvPr>
          <p:cNvSpPr txBox="1"/>
          <p:nvPr/>
        </p:nvSpPr>
        <p:spPr>
          <a:xfrm>
            <a:off x="7020232" y="1533832"/>
            <a:ext cx="186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 / Result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335" y="201168"/>
            <a:ext cx="1120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Step 73: 12. Correlation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79" y="841248"/>
            <a:ext cx="2685681" cy="1974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=(12,8))</a:t>
            </a:r>
            <a:br>
              <a:rPr dirty="0"/>
            </a:br>
            <a:br>
              <a:rPr dirty="0"/>
            </a:br>
            <a:r>
              <a:rPr dirty="0" err="1"/>
              <a:t>sns.heatmap</a:t>
            </a:r>
            <a:r>
              <a:rPr dirty="0"/>
              <a:t>(</a:t>
            </a:r>
            <a:br>
              <a:rPr dirty="0"/>
            </a:br>
            <a:r>
              <a:rPr dirty="0"/>
              <a:t>    correlation,</a:t>
            </a:r>
            <a:br>
              <a:rPr dirty="0"/>
            </a:br>
            <a:r>
              <a:rPr dirty="0"/>
              <a:t>    </a:t>
            </a:r>
            <a:r>
              <a:rPr dirty="0" err="1"/>
              <a:t>annot</a:t>
            </a:r>
            <a:r>
              <a:rPr dirty="0"/>
              <a:t>=True,</a:t>
            </a:r>
            <a:br>
              <a:rPr dirty="0"/>
            </a:br>
            <a:r>
              <a:rPr dirty="0"/>
              <a:t>    </a:t>
            </a:r>
            <a:r>
              <a:rPr dirty="0" err="1"/>
              <a:t>cmap</a:t>
            </a:r>
            <a:r>
              <a:rPr dirty="0"/>
              <a:t>='</a:t>
            </a:r>
            <a:r>
              <a:rPr dirty="0" err="1"/>
              <a:t>coolwarm</a:t>
            </a:r>
            <a:r>
              <a:rPr dirty="0"/>
              <a:t>',</a:t>
            </a:r>
            <a:br>
              <a:rPr dirty="0"/>
            </a:br>
            <a:r>
              <a:rPr dirty="0"/>
              <a:t>    </a:t>
            </a:r>
            <a:r>
              <a:rPr dirty="0" err="1"/>
              <a:t>fmt</a:t>
            </a:r>
            <a:r>
              <a:rPr dirty="0"/>
              <a:t>='.2f'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("Correlation Heatmap")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841248"/>
            <a:ext cx="2469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645" y="5378244"/>
            <a:ext cx="1150767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heatmap displays the correlation matrix with numeric annotations. Values near +1 indicate strong positive linear association, values near -1 indicate strong negative association, and values near 0 indicate weak linear association.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384CB3-ED90-F3F6-CE59-594FC105E7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82" t="31380" r="31028" b="7141"/>
          <a:stretch>
            <a:fillRect/>
          </a:stretch>
        </p:blipFill>
        <p:spPr>
          <a:xfrm>
            <a:off x="4235952" y="1342830"/>
            <a:ext cx="6095422" cy="37011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B9D593-F019-A4E5-FFA3-D098A11EB565}"/>
              </a:ext>
            </a:extLst>
          </p:cNvPr>
          <p:cNvSpPr txBox="1"/>
          <p:nvPr/>
        </p:nvSpPr>
        <p:spPr>
          <a:xfrm>
            <a:off x="196645" y="3059882"/>
            <a:ext cx="3628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'</a:t>
            </a:r>
            <a:r>
              <a:rPr lang="en-IN" dirty="0" err="1"/>
              <a:t>annot</a:t>
            </a:r>
            <a:r>
              <a:rPr lang="en-IN" dirty="0"/>
              <a:t>=True' displays the correlation numbers.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fmt</a:t>
            </a:r>
            <a:r>
              <a:rPr lang="en-IN" dirty="0"/>
              <a:t>='.2f' displays values to two decimal places.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81107" y="201168"/>
            <a:ext cx="799930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74: 13. Purchase vs Product Category (Box Plot)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7"/>
            <a:ext cx="2056417" cy="268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=(10,6))</a:t>
            </a:r>
            <a:br>
              <a:rPr dirty="0"/>
            </a:br>
            <a:br>
              <a:rPr dirty="0"/>
            </a:br>
            <a:r>
              <a:rPr dirty="0" err="1"/>
              <a:t>sns.boxplot</a:t>
            </a:r>
            <a:r>
              <a:rPr dirty="0"/>
              <a:t>(</a:t>
            </a:r>
            <a:br>
              <a:rPr dirty="0"/>
            </a:br>
            <a:r>
              <a:rPr dirty="0"/>
              <a:t>    data=</a:t>
            </a:r>
            <a:r>
              <a:rPr dirty="0" err="1"/>
              <a:t>df</a:t>
            </a:r>
            <a:r>
              <a:rPr dirty="0"/>
              <a:t>,</a:t>
            </a:r>
            <a:br>
              <a:rPr dirty="0"/>
            </a:br>
            <a:r>
              <a:rPr dirty="0"/>
              <a:t>    x='Product_Category_1',</a:t>
            </a:r>
            <a:br>
              <a:rPr dirty="0"/>
            </a:br>
            <a:r>
              <a:rPr dirty="0"/>
              <a:t>    y='Purchase'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("Purchase Amount by Product Category")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("Product Category 1")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("Purchase Amount")</a:t>
            </a:r>
            <a:br>
              <a:rPr dirty="0"/>
            </a:br>
            <a:br>
              <a:rPr dirty="0"/>
            </a:br>
            <a:r>
              <a:rPr dirty="0" err="1"/>
              <a:t>plt.xticks</a:t>
            </a:r>
            <a:r>
              <a:rPr dirty="0"/>
              <a:t>(rotation=45)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32722" y="613541"/>
            <a:ext cx="26552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478" y="3629264"/>
            <a:ext cx="1143491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1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 sz="1300" b="1"/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 sz="1600"/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The box plot compares Purchase distributions across Product_Category_1 categories. It helps examine median, spread and potential outliers for each category.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 sz="1600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High value product categories: Category 10 has the highest median purchase amount and highest overall spending values, followed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c;osely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by Categories 6,7, and 17.</a:t>
            </a:r>
          </a:p>
          <a:p>
            <a:pPr algn="just">
              <a:defRPr sz="1600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Low value product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ategories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Categpries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19, 20 show extremely low purchase amounts near zero with virtually no variation.. Categories 4,12 and 13 also consistently fall in the lower price / spending range(under 5000).Data spread and variability: </a:t>
            </a:r>
          </a:p>
          <a:p>
            <a:pPr algn="just">
              <a:defRPr sz="1600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Categories with tall boxes and long whiskers (categories 6,7,9,10,15) show high variability, meaning customer spending in these categories ranges widely.</a:t>
            </a:r>
          </a:p>
          <a:p>
            <a:pPr algn="just">
              <a:defRPr sz="1600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Categories with narrow boxes (categories 4,12,13,19,20) have very consistent purchase amounts.</a:t>
            </a:r>
          </a:p>
          <a:p>
            <a:pPr algn="just">
              <a:defRPr sz="1600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Presence of Outliers: Several categories (1,2,4,5,9,10,14,16) feature black dots below their lower whiskers. These indicate usually low individual transaction amounts compared to the bulk of purchases in those categories.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A5EBEB-C0E5-4499-55EF-A4B4491E0B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87" t="29848" r="22500" b="1841"/>
          <a:stretch>
            <a:fillRect/>
          </a:stretch>
        </p:blipFill>
        <p:spPr>
          <a:xfrm>
            <a:off x="6487816" y="962214"/>
            <a:ext cx="5153578" cy="30354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A05756-B112-399A-8606-529D77B2FACB}"/>
              </a:ext>
            </a:extLst>
          </p:cNvPr>
          <p:cNvSpPr txBox="1"/>
          <p:nvPr/>
        </p:nvSpPr>
        <p:spPr>
          <a:xfrm>
            <a:off x="2851355" y="1477141"/>
            <a:ext cx="31561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box plot compares Purchase distributions across Product_Category_1 categories. It helps examine median, spread and potential outliers for each category.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639" y="201168"/>
            <a:ext cx="1154012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dirty="0"/>
              <a:t>Step 75: 14.  Top Customers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572071"/>
            <a:ext cx="3354275" cy="183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=(10,6))</a:t>
            </a:r>
            <a:br>
              <a:rPr dirty="0"/>
            </a:br>
            <a:br>
              <a:rPr dirty="0"/>
            </a:br>
            <a:r>
              <a:rPr dirty="0" err="1"/>
              <a:t>top_customers.plot</a:t>
            </a:r>
            <a:r>
              <a:rPr dirty="0"/>
              <a:t>(kind='bar')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("Top 10 Customers by Total Purchase")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("Customer ID")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("Total Purchase")</a:t>
            </a:r>
            <a:br>
              <a:rPr dirty="0"/>
            </a:br>
            <a:br>
              <a:rPr dirty="0"/>
            </a:br>
            <a:r>
              <a:rPr dirty="0" err="1"/>
              <a:t>plt.xticks</a:t>
            </a:r>
            <a:r>
              <a:rPr dirty="0"/>
              <a:t>(rotation=45)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57884" y="771701"/>
            <a:ext cx="21537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42270"/>
            <a:ext cx="1129284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bar chart visualizes the ten customers with the highest total Purchase. The largest bar corresponds to customer 1004277 based on the underlying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top_customers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75/85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6BCDB0-C552-95BA-05A7-051CBD294F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8" t="25548" r="25066" b="1849"/>
          <a:stretch>
            <a:fillRect/>
          </a:stretch>
        </p:blipFill>
        <p:spPr>
          <a:xfrm>
            <a:off x="5053780" y="1268593"/>
            <a:ext cx="5643717" cy="365378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485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76: 15. Top Products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26383"/>
            <a:ext cx="3167462" cy="183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=(10,6))</a:t>
            </a:r>
            <a:br>
              <a:rPr dirty="0"/>
            </a:br>
            <a:br>
              <a:rPr dirty="0"/>
            </a:br>
            <a:r>
              <a:rPr dirty="0" err="1"/>
              <a:t>top_products.plot</a:t>
            </a:r>
            <a:r>
              <a:rPr dirty="0"/>
              <a:t>(kind='bar')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("Top 10 Products by Total Purchase")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("Product ID")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("Total Purchase")</a:t>
            </a:r>
            <a:br>
              <a:rPr dirty="0"/>
            </a:br>
            <a:br>
              <a:rPr dirty="0"/>
            </a:br>
            <a:r>
              <a:rPr dirty="0" err="1"/>
              <a:t>plt.xticks</a:t>
            </a:r>
            <a:r>
              <a:rPr dirty="0"/>
              <a:t>(rotation=45)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1568" y="987883"/>
            <a:ext cx="161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8768" y="5377674"/>
            <a:ext cx="1148555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bar chart visualizes the ten products with the highest total Purchase. The largest bar corresponds to product P00025442 based on the underlying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top_products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Series.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ED3CA4-8E1E-7097-24C4-2A6D27AC3A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23" t="24155" r="25242" b="165"/>
          <a:stretch>
            <a:fillRect/>
          </a:stretch>
        </p:blipFill>
        <p:spPr>
          <a:xfrm>
            <a:off x="4862052" y="1383279"/>
            <a:ext cx="5987846" cy="405044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84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77: 16. Average Purchase by Age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9635" y="1452556"/>
            <a:ext cx="3206791" cy="2300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  <a:endParaRPr lang="en-US" dirty="0"/>
          </a:p>
          <a:p>
            <a:pPr>
              <a:defRPr sz="1200" b="1"/>
            </a:pPr>
            <a:endParaRPr dirty="0"/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=(9,5))</a:t>
            </a:r>
            <a:br>
              <a:rPr dirty="0"/>
            </a:br>
            <a:br>
              <a:rPr dirty="0"/>
            </a:br>
            <a:r>
              <a:rPr dirty="0" err="1"/>
              <a:t>age_avg_purchase.plot</a:t>
            </a:r>
            <a:r>
              <a:rPr dirty="0"/>
              <a:t>(kind='line', marker='o')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("Average Purchase by Age Group")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("Age Group")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("Average Purchase")</a:t>
            </a:r>
            <a:br>
              <a:rPr dirty="0"/>
            </a:br>
            <a:br>
              <a:rPr dirty="0"/>
            </a:br>
            <a:r>
              <a:rPr dirty="0" err="1"/>
              <a:t>plt.xticks</a:t>
            </a:r>
            <a:r>
              <a:rPr dirty="0"/>
              <a:t>(rotation=45)</a:t>
            </a:r>
            <a:br>
              <a:rPr dirty="0"/>
            </a:br>
            <a:br>
              <a:rPr dirty="0"/>
            </a:br>
            <a:r>
              <a:rPr dirty="0" err="1"/>
              <a:t>plt.grid</a:t>
            </a:r>
            <a:r>
              <a:rPr dirty="0"/>
              <a:t>()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47039" y="815010"/>
            <a:ext cx="16542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83276"/>
            <a:ext cx="1138428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line chart shows average Purchase by age group. The underlying averages range from about 8,933.46 for 0-17 to about 9,534.81 for 51-55, allowing the pattern across age groups to be compared.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77/85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F6C403-69A2-2258-3CE6-CFDBEBF60C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16" t="28178" r="19355" b="9253"/>
          <a:stretch>
            <a:fillRect/>
          </a:stretch>
        </p:blipFill>
        <p:spPr>
          <a:xfrm>
            <a:off x="5562108" y="1380599"/>
            <a:ext cx="5319252" cy="329688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6822" y="201168"/>
            <a:ext cx="48878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78: 17. Marital Status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1490472"/>
            <a:ext cx="3069139" cy="215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  <a:endParaRPr lang="en-US" dirty="0"/>
          </a:p>
          <a:p>
            <a:pPr>
              <a:defRPr sz="1200" b="1"/>
            </a:pPr>
            <a:endParaRPr dirty="0"/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=(7,5))</a:t>
            </a:r>
            <a:br>
              <a:rPr dirty="0"/>
            </a:br>
            <a:br>
              <a:rPr dirty="0"/>
            </a:br>
            <a:r>
              <a:rPr dirty="0" err="1"/>
              <a:t>sns.barplot</a:t>
            </a:r>
            <a:r>
              <a:rPr dirty="0"/>
              <a:t>(</a:t>
            </a:r>
            <a:br>
              <a:rPr dirty="0"/>
            </a:br>
            <a:r>
              <a:rPr dirty="0"/>
              <a:t>    x=</a:t>
            </a:r>
            <a:r>
              <a:rPr dirty="0" err="1"/>
              <a:t>marital_sales.index</a:t>
            </a:r>
            <a:r>
              <a:rPr dirty="0"/>
              <a:t>,</a:t>
            </a:r>
            <a:br>
              <a:rPr dirty="0"/>
            </a:br>
            <a:r>
              <a:rPr dirty="0"/>
              <a:t>    y=</a:t>
            </a:r>
            <a:r>
              <a:rPr dirty="0" err="1"/>
              <a:t>marital_sales.values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("Total Purchase by Marital Status")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("Marital Status")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("Total Purchase")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4322" y="1098200"/>
            <a:ext cx="18607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490" y="5388076"/>
            <a:ext cx="116158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bar chart compares total Purchase for the two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Marital_Status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codes. Status 0 has the larger total in the underlying data.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447480-D1F4-F36A-176D-1EAF7C5D31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50" t="32918" r="30079" b="8349"/>
          <a:stretch>
            <a:fillRect/>
          </a:stretch>
        </p:blipFill>
        <p:spPr>
          <a:xfrm>
            <a:off x="6080761" y="1583912"/>
            <a:ext cx="5177996" cy="380416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9870" y="201168"/>
            <a:ext cx="3921779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dirty="0"/>
              <a:t>Step 79: 18. Stay Duration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1960" y="1256746"/>
            <a:ext cx="4133088" cy="1734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  <a:endParaRPr lang="en-US" dirty="0"/>
          </a:p>
          <a:p>
            <a:pPr>
              <a:defRPr sz="1200" b="1"/>
            </a:pPr>
            <a:endParaRPr dirty="0"/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=(8,5))</a:t>
            </a:r>
            <a:br>
              <a:rPr dirty="0"/>
            </a:br>
            <a:br>
              <a:rPr dirty="0"/>
            </a:br>
            <a:r>
              <a:rPr dirty="0" err="1"/>
              <a:t>stay_sales.plot</a:t>
            </a:r>
            <a:r>
              <a:rPr dirty="0"/>
              <a:t>(kind='bar')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("Total Purchase by Years Stayed in Current City")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("Years in Current City")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("Total Purchase")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6413" y="1212134"/>
            <a:ext cx="1490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" y="5303520"/>
            <a:ext cx="11466576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bar chart compares total Purchase by years stayed in the current city. The underlying totals are highest for 1 year and lowest for 0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79/85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B0AD9-A6E8-CCC9-BAF8-1C916D748F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50" t="32636" r="24625" b="7588"/>
          <a:stretch>
            <a:fillRect/>
          </a:stretch>
        </p:blipFill>
        <p:spPr>
          <a:xfrm>
            <a:off x="5861338" y="1977153"/>
            <a:ext cx="5020022" cy="332636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03173" y="201168"/>
            <a:ext cx="55551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80: 19. Pivot Table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" y="1900234"/>
            <a:ext cx="3200400" cy="2017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  <a:endParaRPr lang="en-US" dirty="0"/>
          </a:p>
          <a:p>
            <a:pPr>
              <a:defRPr sz="1200" b="1"/>
            </a:pPr>
            <a:endParaRPr dirty="0"/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=(10,6))</a:t>
            </a:r>
            <a:br>
              <a:rPr dirty="0"/>
            </a:br>
            <a:br>
              <a:rPr dirty="0"/>
            </a:br>
            <a:r>
              <a:rPr dirty="0" err="1"/>
              <a:t>sns.heatmap</a:t>
            </a:r>
            <a:r>
              <a:rPr dirty="0"/>
              <a:t>(</a:t>
            </a:r>
            <a:br>
              <a:rPr dirty="0"/>
            </a:br>
            <a:r>
              <a:rPr dirty="0"/>
              <a:t>    </a:t>
            </a:r>
            <a:r>
              <a:rPr dirty="0" err="1"/>
              <a:t>pivot_table</a:t>
            </a:r>
            <a:r>
              <a:rPr dirty="0"/>
              <a:t>,</a:t>
            </a:r>
            <a:br>
              <a:rPr dirty="0"/>
            </a:br>
            <a:r>
              <a:rPr dirty="0"/>
              <a:t>    </a:t>
            </a:r>
            <a:r>
              <a:rPr dirty="0" err="1"/>
              <a:t>annot</a:t>
            </a:r>
            <a:r>
              <a:rPr dirty="0"/>
              <a:t>=True,</a:t>
            </a:r>
            <a:br>
              <a:rPr dirty="0"/>
            </a:br>
            <a:r>
              <a:rPr dirty="0"/>
              <a:t>    </a:t>
            </a:r>
            <a:r>
              <a:rPr dirty="0" err="1"/>
              <a:t>fmt</a:t>
            </a:r>
            <a:r>
              <a:rPr dirty="0"/>
              <a:t>='.0f'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("Purchase by Age and Gender")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44384" y="891432"/>
            <a:ext cx="1472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" y="5239512"/>
            <a:ext cx="115945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heatmap displays the Age × Gender total-Purchase pivot table with numeric annotations. It makes the combined demographic totals easier to compare.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Males under the age group 26-35 indicates the highest total purchase, while females under the age group 0-17 indicates the lowest.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3C401E-F2AE-6361-8660-572129D61B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93" t="23458" r="18774" b="8353"/>
          <a:stretch>
            <a:fillRect/>
          </a:stretch>
        </p:blipFill>
        <p:spPr>
          <a:xfrm>
            <a:off x="5452903" y="1320306"/>
            <a:ext cx="6061542" cy="405636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6597" y="201168"/>
            <a:ext cx="512832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81: 20. Purchase Level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745435"/>
            <a:ext cx="3026664" cy="215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  <a:endParaRPr lang="en-US" dirty="0"/>
          </a:p>
          <a:p>
            <a:pPr>
              <a:defRPr sz="1200" b="1"/>
            </a:pPr>
            <a:endParaRPr dirty="0"/>
          </a:p>
          <a:p>
            <a:pPr>
              <a:defRPr sz="919">
                <a:latin typeface="Consolas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=(7,5))</a:t>
            </a:r>
            <a:br>
              <a:rPr dirty="0"/>
            </a:br>
            <a:br>
              <a:rPr dirty="0"/>
            </a:br>
            <a:r>
              <a:rPr dirty="0" err="1"/>
              <a:t>sns.countplot</a:t>
            </a:r>
            <a:r>
              <a:rPr dirty="0"/>
              <a:t>(</a:t>
            </a:r>
            <a:br>
              <a:rPr dirty="0"/>
            </a:br>
            <a:r>
              <a:rPr dirty="0"/>
              <a:t>    data=</a:t>
            </a:r>
            <a:r>
              <a:rPr dirty="0" err="1"/>
              <a:t>df</a:t>
            </a:r>
            <a:r>
              <a:rPr dirty="0"/>
              <a:t>,</a:t>
            </a:r>
            <a:br>
              <a:rPr dirty="0"/>
            </a:br>
            <a:r>
              <a:rPr dirty="0"/>
              <a:t>    x='</a:t>
            </a:r>
            <a:r>
              <a:rPr dirty="0" err="1"/>
              <a:t>Purchase_Level</a:t>
            </a:r>
            <a:r>
              <a:rPr dirty="0"/>
              <a:t>'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plt.title</a:t>
            </a:r>
            <a:r>
              <a:rPr dirty="0"/>
              <a:t>("Distribution of Purchase Levels")</a:t>
            </a:r>
            <a:br>
              <a:rPr dirty="0"/>
            </a:br>
            <a:r>
              <a:rPr dirty="0" err="1"/>
              <a:t>plt.xlabel</a:t>
            </a:r>
            <a:r>
              <a:rPr dirty="0"/>
              <a:t>("Purchase Level")</a:t>
            </a:r>
            <a:br>
              <a:rPr dirty="0"/>
            </a:br>
            <a:r>
              <a:rPr dirty="0" err="1"/>
              <a:t>plt.ylabel</a:t>
            </a:r>
            <a:r>
              <a:rPr dirty="0"/>
              <a:t>("Number of Transactions")</a:t>
            </a:r>
            <a:br>
              <a:rPr dirty="0"/>
            </a:b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896829"/>
            <a:ext cx="1700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OUTPUT /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5166360"/>
            <a:ext cx="1141171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count plot shows the number of transactions in each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Purchase_Level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category: Low, Medium and High. The categories come from the thresholds defined earlier.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81/85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2A04C4-2E80-5506-7C5C-9ED14CD7B5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71" t="34896" r="27855" b="6007"/>
          <a:stretch>
            <a:fillRect/>
          </a:stretch>
        </p:blipFill>
        <p:spPr>
          <a:xfrm>
            <a:off x="5806440" y="1318434"/>
            <a:ext cx="525780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8759BB-0A1C-E893-AD6F-8CFE2A0E7D3E}"/>
              </a:ext>
            </a:extLst>
          </p:cNvPr>
          <p:cNvSpPr txBox="1"/>
          <p:nvPr/>
        </p:nvSpPr>
        <p:spPr>
          <a:xfrm>
            <a:off x="692874" y="1730478"/>
            <a:ext cx="1053448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  <a:p>
            <a:pPr algn="ctr"/>
            <a:endParaRPr lang="en-IN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6000" dirty="0">
                <a:latin typeface="Arial" panose="020B0604020202020204" pitchFamily="34" charset="0"/>
                <a:cs typeface="Arial" panose="020B0604020202020204" pitchFamily="34" charset="0"/>
              </a:rPr>
              <a:t>Insight Generation And Report</a:t>
            </a:r>
          </a:p>
        </p:txBody>
      </p:sp>
    </p:spTree>
    <p:extLst>
      <p:ext uri="{BB962C8B-B14F-4D97-AF65-F5344CB8AC3E}">
        <p14:creationId xmlns:p14="http://schemas.microsoft.com/office/powerpoint/2010/main" val="20375930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3933" y="365760"/>
            <a:ext cx="46682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82: Save Cleaned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3933" y="1106840"/>
            <a:ext cx="3364992" cy="98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df.to_csv</a:t>
            </a:r>
            <a:r>
              <a:rPr dirty="0"/>
              <a:t>(</a:t>
            </a:r>
            <a:br>
              <a:rPr dirty="0"/>
            </a:br>
            <a:r>
              <a:rPr dirty="0"/>
              <a:t>    "Black-Friday-Cleaned-Dataset.csv",</a:t>
            </a:r>
            <a:br>
              <a:rPr dirty="0"/>
            </a:br>
            <a:r>
              <a:rPr dirty="0"/>
              <a:t>    index=False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r>
              <a:rPr dirty="0"/>
              <a:t>print("Cleaned dataset saved successfully")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898" y="2752544"/>
            <a:ext cx="51846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6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600" dirty="0"/>
              <a:t>Cleaned dataset saved successfully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159" y="4581036"/>
            <a:ext cx="4892040" cy="1554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 cleaned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is exported to Black-Friday-Cleaned-Dataset.csv without the pandas index. The printed message confirms the save operation completed.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C6E8E9-3737-F85F-7F75-7A16F57CF69A}"/>
              </a:ext>
            </a:extLst>
          </p:cNvPr>
          <p:cNvCxnSpPr>
            <a:cxnSpLocks/>
          </p:cNvCxnSpPr>
          <p:nvPr/>
        </p:nvCxnSpPr>
        <p:spPr>
          <a:xfrm>
            <a:off x="5765546" y="219456"/>
            <a:ext cx="0" cy="6638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6D833C6-A997-26EB-8DB0-5620B9A0DAAE}"/>
              </a:ext>
            </a:extLst>
          </p:cNvPr>
          <p:cNvSpPr txBox="1"/>
          <p:nvPr/>
        </p:nvSpPr>
        <p:spPr>
          <a:xfrm>
            <a:off x="6095999" y="385055"/>
            <a:ext cx="59192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83: Save Analysis Tables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85AAAC-BE5B-C83A-78B7-8A30E18DC40E}"/>
              </a:ext>
            </a:extLst>
          </p:cNvPr>
          <p:cNvSpPr txBox="1"/>
          <p:nvPr/>
        </p:nvSpPr>
        <p:spPr>
          <a:xfrm>
            <a:off x="5998463" y="991169"/>
            <a:ext cx="2496311" cy="305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dirty="0" err="1"/>
              <a:t>age_summary.to_csv</a:t>
            </a:r>
            <a:r>
              <a:rPr dirty="0"/>
              <a:t>(</a:t>
            </a:r>
            <a:br>
              <a:rPr dirty="0"/>
            </a:br>
            <a:r>
              <a:rPr dirty="0"/>
              <a:t>    "Age_Summary.csv",</a:t>
            </a:r>
            <a:br>
              <a:rPr dirty="0"/>
            </a:br>
            <a:r>
              <a:rPr dirty="0"/>
              <a:t>    index=False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city_summary.to_csv</a:t>
            </a:r>
            <a:r>
              <a:rPr dirty="0"/>
              <a:t>(</a:t>
            </a:r>
            <a:br>
              <a:rPr dirty="0"/>
            </a:br>
            <a:r>
              <a:rPr dirty="0"/>
              <a:t>    "City_Summary.csv",</a:t>
            </a:r>
            <a:br>
              <a:rPr dirty="0"/>
            </a:br>
            <a:r>
              <a:rPr dirty="0"/>
              <a:t>    index=False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gender_summary.to_csv</a:t>
            </a:r>
            <a:r>
              <a:rPr dirty="0"/>
              <a:t>(</a:t>
            </a:r>
            <a:br>
              <a:rPr dirty="0"/>
            </a:br>
            <a:r>
              <a:rPr dirty="0"/>
              <a:t>    "Gender_Summary.csv",</a:t>
            </a:r>
            <a:br>
              <a:rPr dirty="0"/>
            </a:br>
            <a:r>
              <a:rPr dirty="0"/>
              <a:t>    index=False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product_summary.to_csv</a:t>
            </a:r>
            <a:r>
              <a:rPr dirty="0"/>
              <a:t>(</a:t>
            </a:r>
            <a:br>
              <a:rPr dirty="0"/>
            </a:br>
            <a:r>
              <a:rPr dirty="0"/>
              <a:t>    "Product_Category_Summary.csv",</a:t>
            </a:r>
            <a:br>
              <a:rPr dirty="0"/>
            </a:br>
            <a:r>
              <a:rPr dirty="0"/>
              <a:t>    index=False</a:t>
            </a:r>
            <a:br>
              <a:rPr dirty="0"/>
            </a:br>
            <a:r>
              <a:rPr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EF5BC4-01C8-6634-8F0E-2DF045E733D2}"/>
              </a:ext>
            </a:extLst>
          </p:cNvPr>
          <p:cNvSpPr txBox="1"/>
          <p:nvPr/>
        </p:nvSpPr>
        <p:spPr>
          <a:xfrm>
            <a:off x="8472801" y="2183349"/>
            <a:ext cx="3255266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050" dirty="0"/>
              <a:t>OUTPUT </a:t>
            </a:r>
            <a:endParaRPr lang="en-IN" sz="1050" dirty="0"/>
          </a:p>
          <a:p>
            <a:pPr>
              <a:defRPr sz="1200" b="1"/>
            </a:pPr>
            <a:endParaRPr sz="1050" dirty="0"/>
          </a:p>
          <a:p>
            <a:pPr>
              <a:defRPr sz="830">
                <a:latin typeface="Consolas"/>
              </a:defRPr>
            </a:pPr>
            <a:r>
              <a:rPr sz="1050" dirty="0"/>
              <a:t>No printed/table output is stored for this cell. A successful run without an exception is the expected result.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084B42-F743-939D-47C8-19D7FBC95D58}"/>
              </a:ext>
            </a:extLst>
          </p:cNvPr>
          <p:cNvSpPr txBox="1"/>
          <p:nvPr/>
        </p:nvSpPr>
        <p:spPr>
          <a:xfrm>
            <a:off x="5897879" y="4504376"/>
            <a:ext cx="60539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Four summary tables are exported as separate CSV files: Age_Summary.csv, City_Summary.csv, Gender_Summary.csv and Product_Category_Summary.csv. These files make the aggregated analysis reusable outside the notebook.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8641D8-A70A-0C8E-DCB3-0C7985C76DE3}"/>
              </a:ext>
            </a:extLst>
          </p:cNvPr>
          <p:cNvSpPr/>
          <p:nvPr/>
        </p:nvSpPr>
        <p:spPr>
          <a:xfrm>
            <a:off x="463933" y="2633472"/>
            <a:ext cx="4226937" cy="11064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D804F0-B07F-61D4-EBA6-57CC09474D38}"/>
              </a:ext>
            </a:extLst>
          </p:cNvPr>
          <p:cNvSpPr/>
          <p:nvPr/>
        </p:nvSpPr>
        <p:spPr>
          <a:xfrm>
            <a:off x="8357616" y="2013880"/>
            <a:ext cx="3438144" cy="147732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2006" y="201168"/>
            <a:ext cx="44775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84: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Final Dataset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1960" y="1243584"/>
            <a:ext cx="301752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100" dirty="0"/>
              <a:t>CODE</a:t>
            </a:r>
          </a:p>
          <a:p>
            <a:pPr>
              <a:defRPr sz="919">
                <a:latin typeface="Consolas"/>
              </a:defRPr>
            </a:pPr>
            <a:r>
              <a:rPr sz="1100" dirty="0"/>
              <a:t>print("Final Dataset Shape:", </a:t>
            </a:r>
            <a:r>
              <a:rPr sz="1100" dirty="0" err="1"/>
              <a:t>df.shape</a:t>
            </a:r>
            <a:r>
              <a:rPr sz="1100" dirty="0"/>
              <a:t>)</a:t>
            </a:r>
            <a:br>
              <a:rPr sz="1100" dirty="0"/>
            </a:br>
            <a:br>
              <a:rPr sz="1100" dirty="0"/>
            </a:br>
            <a:r>
              <a:rPr sz="1100" dirty="0"/>
              <a:t>print("\</a:t>
            </a:r>
            <a:r>
              <a:rPr sz="1100" dirty="0" err="1"/>
              <a:t>nMissing</a:t>
            </a:r>
            <a:r>
              <a:rPr sz="1100" dirty="0"/>
              <a:t> Values:")</a:t>
            </a:r>
            <a:br>
              <a:rPr sz="1100" dirty="0"/>
            </a:br>
            <a:r>
              <a:rPr sz="1100" dirty="0"/>
              <a:t>print(</a:t>
            </a:r>
            <a:r>
              <a:rPr sz="1100" dirty="0" err="1"/>
              <a:t>df.isnull</a:t>
            </a:r>
            <a:r>
              <a:rPr sz="1100" dirty="0"/>
              <a:t>().sum())</a:t>
            </a:r>
            <a:br>
              <a:rPr sz="1100" dirty="0"/>
            </a:br>
            <a:br>
              <a:rPr sz="1100" dirty="0"/>
            </a:br>
            <a:r>
              <a:rPr sz="1100" dirty="0"/>
              <a:t>print("\</a:t>
            </a:r>
            <a:r>
              <a:rPr sz="1100" dirty="0" err="1"/>
              <a:t>nDuplicate</a:t>
            </a:r>
            <a:r>
              <a:rPr sz="1100" dirty="0"/>
              <a:t> Rows:")</a:t>
            </a:r>
            <a:br>
              <a:rPr sz="1100" dirty="0"/>
            </a:br>
            <a:r>
              <a:rPr sz="1100" dirty="0"/>
              <a:t>print(</a:t>
            </a:r>
            <a:r>
              <a:rPr sz="1100" dirty="0" err="1"/>
              <a:t>df.duplicated</a:t>
            </a:r>
            <a:r>
              <a:rPr sz="1100" dirty="0"/>
              <a:t>().sum())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53128" y="1182834"/>
            <a:ext cx="70957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dirty="0"/>
              <a:t>OUTPUT / RESULT</a:t>
            </a:r>
          </a:p>
          <a:p>
            <a:pPr>
              <a:defRPr sz="830">
                <a:latin typeface="Consolas"/>
              </a:defRPr>
            </a:pPr>
            <a:r>
              <a:rPr sz="1200" dirty="0"/>
              <a:t>Final Dataset Shape: (550068, 13)</a:t>
            </a:r>
            <a:br>
              <a:rPr sz="1200" dirty="0"/>
            </a:br>
            <a:br>
              <a:rPr sz="1200" dirty="0"/>
            </a:br>
            <a:r>
              <a:rPr sz="1200" dirty="0"/>
              <a:t>Missing Values:</a:t>
            </a:r>
            <a:br>
              <a:rPr sz="1200" dirty="0"/>
            </a:br>
            <a:r>
              <a:rPr sz="1200" dirty="0" err="1"/>
              <a:t>User_ID</a:t>
            </a:r>
            <a:r>
              <a:rPr sz="1200" dirty="0"/>
              <a:t>                       0</a:t>
            </a:r>
            <a:br>
              <a:rPr sz="1200" dirty="0"/>
            </a:br>
            <a:r>
              <a:rPr sz="1200" dirty="0" err="1"/>
              <a:t>Product_ID</a:t>
            </a:r>
            <a:r>
              <a:rPr sz="1200" dirty="0"/>
              <a:t>                    0</a:t>
            </a:r>
            <a:br>
              <a:rPr sz="1200" dirty="0"/>
            </a:br>
            <a:r>
              <a:rPr sz="1200" dirty="0"/>
              <a:t>Gender                        0</a:t>
            </a:r>
            <a:br>
              <a:rPr sz="1200" dirty="0"/>
            </a:br>
            <a:r>
              <a:rPr sz="1200" dirty="0"/>
              <a:t>Age                           0</a:t>
            </a:r>
            <a:br>
              <a:rPr sz="1200" dirty="0"/>
            </a:br>
            <a:r>
              <a:rPr sz="1200" dirty="0"/>
              <a:t>Occupation                    0</a:t>
            </a:r>
            <a:br>
              <a:rPr sz="1200" dirty="0"/>
            </a:br>
            <a:r>
              <a:rPr sz="1200" dirty="0" err="1"/>
              <a:t>City_Category</a:t>
            </a:r>
            <a:r>
              <a:rPr sz="1200" dirty="0"/>
              <a:t>                 0</a:t>
            </a:r>
            <a:br>
              <a:rPr sz="1200" dirty="0"/>
            </a:br>
            <a:r>
              <a:rPr sz="1200" dirty="0" err="1"/>
              <a:t>Stay_In_Current_City_Years</a:t>
            </a:r>
            <a:r>
              <a:rPr sz="1200" dirty="0"/>
              <a:t>    0</a:t>
            </a:r>
            <a:br>
              <a:rPr sz="1200" dirty="0"/>
            </a:br>
            <a:r>
              <a:rPr sz="1200" dirty="0" err="1"/>
              <a:t>Marital_Status</a:t>
            </a:r>
            <a:r>
              <a:rPr sz="1200" dirty="0"/>
              <a:t>                0</a:t>
            </a:r>
            <a:br>
              <a:rPr sz="1200" dirty="0"/>
            </a:br>
            <a:r>
              <a:rPr sz="1200" dirty="0"/>
              <a:t>Product_Category_1            0</a:t>
            </a:r>
            <a:br>
              <a:rPr sz="1200" dirty="0"/>
            </a:br>
            <a:r>
              <a:rPr sz="1200" dirty="0"/>
              <a:t>Product_Category_2            0</a:t>
            </a:r>
            <a:br>
              <a:rPr sz="1200" dirty="0"/>
            </a:br>
            <a:r>
              <a:rPr sz="1200" dirty="0"/>
              <a:t>Product_Category_3            0</a:t>
            </a:r>
            <a:br>
              <a:rPr sz="1200" dirty="0"/>
            </a:br>
            <a:r>
              <a:rPr sz="1200" dirty="0"/>
              <a:t>Purchase                      0</a:t>
            </a:r>
            <a:br>
              <a:rPr sz="1200" dirty="0"/>
            </a:br>
            <a:r>
              <a:rPr sz="1200" dirty="0" err="1"/>
              <a:t>Purchase_Level</a:t>
            </a:r>
            <a:r>
              <a:rPr sz="1200" dirty="0"/>
              <a:t>                0</a:t>
            </a:r>
            <a:br>
              <a:rPr sz="1200" dirty="0"/>
            </a:br>
            <a:r>
              <a:rPr sz="1200" dirty="0" err="1"/>
              <a:t>dtype</a:t>
            </a:r>
            <a:r>
              <a:rPr sz="1200" dirty="0"/>
              <a:t>: int64</a:t>
            </a:r>
            <a:br>
              <a:rPr sz="1200" dirty="0"/>
            </a:br>
            <a:br>
              <a:rPr sz="1200" dirty="0"/>
            </a:br>
            <a:r>
              <a:rPr sz="1200" dirty="0"/>
              <a:t>Duplicate Rows:</a:t>
            </a:r>
            <a:r>
              <a:rPr lang="en-IN" sz="1200" dirty="0"/>
              <a:t>			   </a:t>
            </a:r>
            <a:r>
              <a:rPr sz="1200" dirty="0"/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960" y="4969066"/>
            <a:ext cx="1126236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final dataset has 550,068 rows and 13 columns because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Purchase_Level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was added. All columns show 0 missing values and the duplicate-row count is 0, confirming the final cleaning checks passed.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956A0A-6DD7-DDEA-EBD2-CC9FCE42CD9E}"/>
              </a:ext>
            </a:extLst>
          </p:cNvPr>
          <p:cNvSpPr/>
          <p:nvPr/>
        </p:nvSpPr>
        <p:spPr>
          <a:xfrm>
            <a:off x="4343400" y="1069848"/>
            <a:ext cx="3200400" cy="399592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919" y="201168"/>
            <a:ext cx="521168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85: Final Statistical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042416"/>
            <a:ext cx="17190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400" dirty="0"/>
              <a:t>CODE</a:t>
            </a:r>
            <a:endParaRPr lang="en-IN" sz="1400" dirty="0"/>
          </a:p>
          <a:p>
            <a:pPr>
              <a:defRPr sz="1200" b="1"/>
            </a:pPr>
            <a:endParaRPr sz="1400" dirty="0"/>
          </a:p>
          <a:p>
            <a:pPr>
              <a:defRPr sz="919">
                <a:latin typeface="Consolas"/>
              </a:defRPr>
            </a:pPr>
            <a:r>
              <a:rPr sz="1400" dirty="0" err="1"/>
              <a:t>df.describe</a:t>
            </a:r>
            <a:r>
              <a:rPr sz="1400" dirty="0"/>
              <a:t>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" y="4584478"/>
            <a:ext cx="1157630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6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final descriptive statistics are shown after cleaning. Product_Category_2 and Product_Category_3 now include zeros, so their count is 550,068 and their means have changed from the original missing-data summary. Purchase statistics remain unchanged.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76C57E-84B9-9541-49DE-98EBEF4A37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43" t="38911" r="14351" b="23565"/>
          <a:stretch>
            <a:fillRect/>
          </a:stretch>
        </p:blipFill>
        <p:spPr>
          <a:xfrm>
            <a:off x="3228031" y="1781080"/>
            <a:ext cx="6985818" cy="2404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0B4B59-72D1-4417-7040-098BDB6E2D53}"/>
              </a:ext>
            </a:extLst>
          </p:cNvPr>
          <p:cNvSpPr txBox="1"/>
          <p:nvPr/>
        </p:nvSpPr>
        <p:spPr>
          <a:xfrm>
            <a:off x="6080760" y="1261872"/>
            <a:ext cx="989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F488B4-372B-37E5-6915-8E386ADEAF96}"/>
              </a:ext>
            </a:extLst>
          </p:cNvPr>
          <p:cNvSpPr txBox="1"/>
          <p:nvPr/>
        </p:nvSpPr>
        <p:spPr>
          <a:xfrm>
            <a:off x="5000195" y="207812"/>
            <a:ext cx="1333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A1FCC-4443-7279-5D3D-EBD0ED9AD05D}"/>
              </a:ext>
            </a:extLst>
          </p:cNvPr>
          <p:cNvSpPr txBox="1"/>
          <p:nvPr/>
        </p:nvSpPr>
        <p:spPr>
          <a:xfrm>
            <a:off x="1" y="877824"/>
            <a:ext cx="1212494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cs typeface="Arial" panose="020B0604020202020204" pitchFamily="34" charset="0"/>
              </a:rPr>
              <a:t>The analysis shows that customer demographics, purchasing behavior, product categories, city categories and sales patterns.</a:t>
            </a:r>
          </a:p>
          <a:p>
            <a:r>
              <a:rPr lang="en-US" dirty="0">
                <a:cs typeface="Arial" panose="020B0604020202020204" pitchFamily="34" charset="0"/>
              </a:rPr>
              <a:t>2.    The age group 26-35 generates the highest total purchase.</a:t>
            </a:r>
          </a:p>
          <a:p>
            <a:r>
              <a:rPr lang="en-US" dirty="0">
                <a:cs typeface="Arial" panose="020B0604020202020204" pitchFamily="34" charset="0"/>
              </a:rPr>
              <a:t>3.    The gender M generates the highest total purchase.</a:t>
            </a:r>
          </a:p>
          <a:p>
            <a:r>
              <a:rPr lang="en-US" dirty="0">
                <a:cs typeface="Arial" panose="020B0604020202020204" pitchFamily="34" charset="0"/>
              </a:rPr>
              <a:t>4.    City category B has the highest total purchase.</a:t>
            </a:r>
          </a:p>
          <a:p>
            <a:r>
              <a:rPr lang="en-US" dirty="0">
                <a:cs typeface="Arial" panose="020B0604020202020204" pitchFamily="34" charset="0"/>
              </a:rPr>
              <a:t>5.    Product category group1 generates the highest total purchase.</a:t>
            </a:r>
          </a:p>
          <a:p>
            <a:pPr marL="342900" indent="-342900">
              <a:buAutoNum type="arabicPeriod" startAt="6"/>
            </a:pPr>
            <a:r>
              <a:rPr lang="en-US" dirty="0">
                <a:cs typeface="Arial" panose="020B0604020202020204" pitchFamily="34" charset="0"/>
              </a:rPr>
              <a:t>The analysis of customer-level purchases shows that </a:t>
            </a:r>
          </a:p>
          <a:p>
            <a:r>
              <a:rPr lang="en-US" dirty="0">
                <a:cs typeface="Arial" panose="020B0604020202020204" pitchFamily="34" charset="0"/>
              </a:rPr>
              <a:t>	the customer 1004277 has the highest total purchase among the customers in the dataset.</a:t>
            </a:r>
          </a:p>
          <a:p>
            <a:pPr marL="342900" indent="-342900">
              <a:buAutoNum type="arabicPeriod" startAt="7"/>
            </a:pPr>
            <a:r>
              <a:rPr lang="en-US" dirty="0">
                <a:cs typeface="Arial" panose="020B0604020202020204" pitchFamily="34" charset="0"/>
              </a:rPr>
              <a:t>The correlation analysis indicates that most demographic variables have </a:t>
            </a:r>
          </a:p>
          <a:p>
            <a:r>
              <a:rPr lang="en-US" dirty="0">
                <a:cs typeface="Arial" panose="020B0604020202020204" pitchFamily="34" charset="0"/>
              </a:rPr>
              <a:t>	very weak or negligible relationships with purchase behavior. </a:t>
            </a:r>
          </a:p>
          <a:p>
            <a:r>
              <a:rPr lang="en-US" dirty="0">
                <a:cs typeface="Arial" panose="020B0604020202020204" pitchFamily="34" charset="0"/>
              </a:rPr>
              <a:t>	In particular, </a:t>
            </a:r>
            <a:r>
              <a:rPr lang="en-US" dirty="0" err="1">
                <a:cs typeface="Arial" panose="020B0604020202020204" pitchFamily="34" charset="0"/>
              </a:rPr>
              <a:t>User_ID</a:t>
            </a:r>
            <a:r>
              <a:rPr lang="en-US" dirty="0">
                <a:cs typeface="Arial" panose="020B0604020202020204" pitchFamily="34" charset="0"/>
              </a:rPr>
              <a:t> (r = 0.0047), Occupation (r = 0.0208), and </a:t>
            </a:r>
            <a:r>
              <a:rPr lang="en-US" dirty="0" err="1">
                <a:cs typeface="Arial" panose="020B0604020202020204" pitchFamily="34" charset="0"/>
              </a:rPr>
              <a:t>Marital_Status</a:t>
            </a:r>
            <a:r>
              <a:rPr lang="en-US" dirty="0">
                <a:cs typeface="Arial" panose="020B0604020202020204" pitchFamily="34" charset="0"/>
              </a:rPr>
              <a:t> (r = −0.0005) show </a:t>
            </a:r>
          </a:p>
          <a:p>
            <a:r>
              <a:rPr lang="en-US" dirty="0">
                <a:cs typeface="Arial" panose="020B0604020202020204" pitchFamily="34" charset="0"/>
              </a:rPr>
              <a:t>	almost no correlation with Purchase, suggesting that these variables have little linear association with purchasing 	behavior.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r>
              <a:rPr lang="en-US" dirty="0">
                <a:cs typeface="Arial" panose="020B0604020202020204" pitchFamily="34" charset="0"/>
              </a:rPr>
              <a:t>	Among the product categories, Product_Category_1 has a moderate negative correlation with Purchase (r = −0.3437), </a:t>
            </a:r>
          </a:p>
          <a:p>
            <a:r>
              <a:rPr lang="en-US" dirty="0">
                <a:cs typeface="Arial" panose="020B0604020202020204" pitchFamily="34" charset="0"/>
              </a:rPr>
              <a:t>	while Product_Category_3 has a moderate positive correlation (r = 0.2885). </a:t>
            </a:r>
          </a:p>
          <a:p>
            <a:r>
              <a:rPr lang="en-US" dirty="0">
                <a:cs typeface="Arial" panose="020B0604020202020204" pitchFamily="34" charset="0"/>
              </a:rPr>
              <a:t>	Product_Category_2 shows a very weak positive correlation (r = 0.0523) with Purchase. </a:t>
            </a:r>
          </a:p>
          <a:p>
            <a:r>
              <a:rPr lang="en-US" dirty="0">
                <a:cs typeface="Arial" panose="020B0604020202020204" pitchFamily="34" charset="0"/>
              </a:rPr>
              <a:t>	Overall, the results suggest that product category variables, particularly Product_Category_1 and Product_Category_3, </a:t>
            </a:r>
          </a:p>
          <a:p>
            <a:r>
              <a:rPr lang="en-US" dirty="0">
                <a:cs typeface="Arial" panose="020B0604020202020204" pitchFamily="34" charset="0"/>
              </a:rPr>
              <a:t>	have a stronger association with purchase behavior than the demographic variables. </a:t>
            </a:r>
          </a:p>
          <a:p>
            <a:r>
              <a:rPr lang="en-US" dirty="0">
                <a:cs typeface="Arial" panose="020B0604020202020204" pitchFamily="34" charset="0"/>
              </a:rPr>
              <a:t>	However, correlation does not imply causation, and these results only describe linear relationships..</a:t>
            </a:r>
          </a:p>
        </p:txBody>
      </p:sp>
    </p:spTree>
    <p:extLst>
      <p:ext uri="{BB962C8B-B14F-4D97-AF65-F5344CB8AC3E}">
        <p14:creationId xmlns:p14="http://schemas.microsoft.com/office/powerpoint/2010/main" val="8554542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4E4FD5-6CCE-C87A-A30A-CBF01C314BF1}"/>
              </a:ext>
            </a:extLst>
          </p:cNvPr>
          <p:cNvSpPr txBox="1"/>
          <p:nvPr/>
        </p:nvSpPr>
        <p:spPr>
          <a:xfrm>
            <a:off x="378730" y="1517904"/>
            <a:ext cx="1189620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 startAt="8"/>
            </a:pPr>
            <a:r>
              <a:rPr lang="en-US" dirty="0"/>
              <a:t>The final statistical summary indicates that the dataset contains 550,068 observations, </a:t>
            </a:r>
          </a:p>
          <a:p>
            <a:r>
              <a:rPr lang="en-US" dirty="0"/>
              <a:t>	with complete data across all variables. The Purchase variable has a mean of approximately 9,264 and </a:t>
            </a:r>
          </a:p>
          <a:p>
            <a:r>
              <a:rPr lang="en-US" dirty="0"/>
              <a:t>	a standard deviation of 5,023, indicating substantial variation in purchase amounts. </a:t>
            </a:r>
          </a:p>
          <a:p>
            <a:r>
              <a:rPr lang="en-US" dirty="0"/>
              <a:t>	Purchase values range from 12 to 23,961, with 50% of observations having purchase values below approximately 8,047.</a:t>
            </a:r>
          </a:p>
          <a:p>
            <a:r>
              <a:rPr lang="en-US" dirty="0"/>
              <a:t>	</a:t>
            </a:r>
          </a:p>
          <a:p>
            <a:endParaRPr lang="en-US" dirty="0"/>
          </a:p>
          <a:p>
            <a:r>
              <a:rPr lang="en-US" dirty="0"/>
              <a:t>	Among the categorical variables, Occupation has a mean of 8.08, while </a:t>
            </a:r>
            <a:r>
              <a:rPr lang="en-US" dirty="0" err="1"/>
              <a:t>Marital_Status</a:t>
            </a:r>
            <a:r>
              <a:rPr lang="en-US" dirty="0"/>
              <a:t> has a mean of 0.41, </a:t>
            </a:r>
          </a:p>
          <a:p>
            <a:r>
              <a:rPr lang="en-US" dirty="0"/>
              <a:t>	indicating that the majority of observations belong to the non-married category </a:t>
            </a:r>
          </a:p>
          <a:p>
            <a:r>
              <a:rPr lang="en-US" dirty="0"/>
              <a:t>	if the coding is 0 = unmarried and 1 = married. Product categories also show considerable variation, </a:t>
            </a:r>
          </a:p>
          <a:p>
            <a:r>
              <a:rPr lang="en-US" dirty="0"/>
              <a:t>	particularly Product_Category_2 and Product_Category_3, as reflected by their relatively large standard deviations.</a:t>
            </a: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7D903-8204-FC81-BE09-089F65540C99}"/>
              </a:ext>
            </a:extLst>
          </p:cNvPr>
          <p:cNvSpPr txBox="1"/>
          <p:nvPr/>
        </p:nvSpPr>
        <p:spPr>
          <a:xfrm>
            <a:off x="4562856" y="499794"/>
            <a:ext cx="2516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Key Insights(Continue…)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524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63A2DC-5EF6-9B8C-3851-0AADD02F6F67}"/>
              </a:ext>
            </a:extLst>
          </p:cNvPr>
          <p:cNvSpPr txBox="1"/>
          <p:nvPr/>
        </p:nvSpPr>
        <p:spPr>
          <a:xfrm>
            <a:off x="619432" y="589936"/>
            <a:ext cx="113759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major findings are: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26–35 age group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generated the highest total Purchase.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Male customers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generated higher total Purchase than female customers.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City Category B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had the highest total Purchase.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Product Category 1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had the highest total Purchase among Product_Category_1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categories.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Product Category 10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had the highest average Purchase among the displayed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categories.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6. Customer and product analysis helped identify the highest-value customers and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products.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7. The final dataset contained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 missing values and no duplicate rows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54304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B8AB50-7380-F458-D98B-3EDA0EF34B2C}"/>
              </a:ext>
            </a:extLst>
          </p:cNvPr>
          <p:cNvSpPr txBox="1"/>
          <p:nvPr/>
        </p:nvSpPr>
        <p:spPr>
          <a:xfrm>
            <a:off x="146304" y="512673"/>
            <a:ext cx="11899392" cy="6345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The Black Friday sales dataset was </a:t>
            </a:r>
            <a:r>
              <a:rPr lang="en-IN" dirty="0" err="1"/>
              <a:t>analyzed</a:t>
            </a:r>
            <a:r>
              <a:rPr lang="en-IN" dirty="0"/>
              <a:t> using Python and Pandas.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project included data loading, data cleaning, missing-value handling, duplicate checking, statistical analysis, exploratory data analysis, </a:t>
            </a:r>
            <a:r>
              <a:rPr lang="en-IN" dirty="0" err="1"/>
              <a:t>groupby</a:t>
            </a:r>
            <a:r>
              <a:rPr lang="en-IN" dirty="0"/>
              <a:t> analysis, pivot tables, correlation analysis, and data visualization.</a:t>
            </a:r>
          </a:p>
          <a:p>
            <a:pPr algn="just"/>
            <a:endParaRPr lang="en-IN" dirty="0"/>
          </a:p>
          <a:p>
            <a:pPr algn="just">
              <a:spcAft>
                <a:spcPts val="800"/>
              </a:spcAft>
              <a:defRPr sz="1700"/>
            </a:pPr>
            <a:r>
              <a:rPr lang="en-US" dirty="0"/>
              <a:t>Original data: 550,068 rows × 12 columns.</a:t>
            </a:r>
          </a:p>
          <a:p>
            <a:pPr algn="just">
              <a:spcAft>
                <a:spcPts val="800"/>
              </a:spcAft>
              <a:defRPr sz="1700"/>
            </a:pPr>
            <a:r>
              <a:rPr lang="en-US" dirty="0"/>
              <a:t>After adding </a:t>
            </a:r>
            <a:r>
              <a:rPr lang="en-US" dirty="0" err="1"/>
              <a:t>Purchase_Level</a:t>
            </a:r>
            <a:r>
              <a:rPr lang="en-US" dirty="0"/>
              <a:t>: 550,068 rows × 13 columns.</a:t>
            </a:r>
          </a:p>
          <a:p>
            <a:pPr algn="just">
              <a:spcAft>
                <a:spcPts val="800"/>
              </a:spcAft>
              <a:defRPr sz="1700"/>
            </a:pPr>
            <a:r>
              <a:rPr lang="en-US" dirty="0"/>
              <a:t>Missing values in Product_Category_2 and Product_Category_3 were replaced with 0.</a:t>
            </a:r>
          </a:p>
          <a:p>
            <a:pPr algn="just">
              <a:spcAft>
                <a:spcPts val="800"/>
              </a:spcAft>
              <a:defRPr sz="1700"/>
            </a:pPr>
            <a:r>
              <a:rPr lang="en-US" dirty="0"/>
              <a:t>No exact duplicate rows were found.</a:t>
            </a:r>
          </a:p>
          <a:p>
            <a:pPr algn="just">
              <a:spcAft>
                <a:spcPts val="800"/>
              </a:spcAft>
              <a:defRPr sz="1700"/>
            </a:pPr>
            <a:r>
              <a:rPr lang="en-US" dirty="0"/>
              <a:t>Total Purchase: 5,095,812,742; average transaction: about 9,263.97.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Different visualizations were used to understand customer demographics, purchasing </a:t>
            </a:r>
            <a:r>
              <a:rPr lang="en-IN" dirty="0" err="1"/>
              <a:t>behavior</a:t>
            </a:r>
            <a:r>
              <a:rPr lang="en-IN" dirty="0"/>
              <a:t>, product categories, city categories, and sales patterns.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analysis helped identify important patterns in customer purchasing </a:t>
            </a:r>
            <a:r>
              <a:rPr lang="en-IN" dirty="0" err="1"/>
              <a:t>behavior</a:t>
            </a:r>
            <a:r>
              <a:rPr lang="en-IN" dirty="0"/>
              <a:t> and product sales.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findings can be used to understand customer preferences and support future sales and marketing decisions.</a:t>
            </a:r>
          </a:p>
          <a:p>
            <a:pPr algn="just"/>
            <a:endParaRPr lang="en-IN" dirty="0"/>
          </a:p>
          <a:p>
            <a:pPr algn="just"/>
            <a:r>
              <a:rPr lang="en-US" dirty="0"/>
              <a:t>Cleaned and summary CSV files are exported for reuse.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ACD27-E8DD-66B2-D88F-7D75772A0EAC}"/>
              </a:ext>
            </a:extLst>
          </p:cNvPr>
          <p:cNvSpPr txBox="1"/>
          <p:nvPr/>
        </p:nvSpPr>
        <p:spPr>
          <a:xfrm>
            <a:off x="4553712" y="0"/>
            <a:ext cx="2464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Final Conclusion</a:t>
            </a:r>
          </a:p>
        </p:txBody>
      </p:sp>
    </p:spTree>
    <p:extLst>
      <p:ext uri="{BB962C8B-B14F-4D97-AF65-F5344CB8AC3E}">
        <p14:creationId xmlns:p14="http://schemas.microsoft.com/office/powerpoint/2010/main" val="20408400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7AFC12-E5D2-229C-F4F7-9222B850EA61}"/>
              </a:ext>
            </a:extLst>
          </p:cNvPr>
          <p:cNvSpPr txBox="1"/>
          <p:nvPr/>
        </p:nvSpPr>
        <p:spPr>
          <a:xfrm>
            <a:off x="129540" y="1133856"/>
            <a:ext cx="11932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1CE87-0125-7475-443F-BC3DE452325D}"/>
              </a:ext>
            </a:extLst>
          </p:cNvPr>
          <p:cNvSpPr txBox="1"/>
          <p:nvPr/>
        </p:nvSpPr>
        <p:spPr>
          <a:xfrm>
            <a:off x="240506" y="2136124"/>
            <a:ext cx="99600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Ms. Anusha Haridas  (Faculty)</a:t>
            </a:r>
          </a:p>
          <a:p>
            <a:r>
              <a:rPr lang="en-IN" dirty="0"/>
              <a:t>	Madam, Thank you so much for your kind support and guidance for the completion of this project 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Sona Raj (Co-Ordinator)</a:t>
            </a:r>
          </a:p>
          <a:p>
            <a:r>
              <a:rPr lang="en-IN" dirty="0"/>
              <a:t>	 Madam, Thank you so much for your kind support and co-ordination.</a:t>
            </a:r>
          </a:p>
        </p:txBody>
      </p:sp>
    </p:spTree>
    <p:extLst>
      <p:ext uri="{BB962C8B-B14F-4D97-AF65-F5344CB8AC3E}">
        <p14:creationId xmlns:p14="http://schemas.microsoft.com/office/powerpoint/2010/main" val="1641694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B0B24D-F3C9-1D5D-1946-B285B602EF69}"/>
              </a:ext>
            </a:extLst>
          </p:cNvPr>
          <p:cNvSpPr txBox="1"/>
          <p:nvPr/>
        </p:nvSpPr>
        <p:spPr>
          <a:xfrm>
            <a:off x="3855747" y="2391495"/>
            <a:ext cx="4659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63653100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7325</TotalTime>
  <Words>11389</Words>
  <Application>Microsoft Office PowerPoint</Application>
  <PresentationFormat>Widescreen</PresentationFormat>
  <Paragraphs>870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9" baseType="lpstr">
      <vt:lpstr>Arial</vt:lpstr>
      <vt:lpstr>Consolas</vt:lpstr>
      <vt:lpstr>Corbel</vt:lpstr>
      <vt:lpstr>Wingdings 2</vt:lpstr>
      <vt:lpstr>Frame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Sanjay S</cp:lastModifiedBy>
  <cp:revision>91</cp:revision>
  <dcterms:created xsi:type="dcterms:W3CDTF">2013-01-27T09:14:16Z</dcterms:created>
  <dcterms:modified xsi:type="dcterms:W3CDTF">2026-10-08T16:41:16Z</dcterms:modified>
  <cp:category/>
</cp:coreProperties>
</file>